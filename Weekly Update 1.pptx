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establishes the problem statement and the academic background. In Malaysia, total solid waste generation reached 15.2 million tonnes in 2024 and is projected to rise to 17.03 million tonnes by 2035. SWCorp (2024) statistics show we missed the 12th Malaysia Plan target of 40% recycling rate, landing at 37.9% due to contamination. An estimated 6.96% of all waste that could have been recycled is rejected from the recycling stream annually.</a:t>
            </a:r>
          </a:p>
          <a:p>
            <a:r>
              <a:t>Dr. Narishah will ask about the 30% baseline. Ground it in Moh &amp; Abd Manaf (2017), a peer-reviewed study of source separation and recycling practices in Malaysia. Be ready to quote the three failures of manual sorting (Islam &amp; Chowdhury, 2024): error rate, lack of audit trail, and worker safety.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project solution. Ground this in the Pongboonchai-Empl (2023) framework, which integrates Industry 4.0 technologies into Lean Six Sigma DMAIC. PurityLoop AI is not just a computer vision model — it is a complete integration of CV, RPA, BI, and gamified apps. It has five layers: Data Acquisition, CV Inference, Routing Logic, Business Output, and the Active Learning Loop. Dr. Narishah will look for the connection between the technical layers and the target KPI. The target is a purity rate of ≥90% post-deployment, compared to the ~70% baseline under manual sorting.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commercial pitch for PurityLoop AI. In the waste management sector, MRFs operate on tight margins where bale rejection due to contamination represents a massive financial loss. By automating the quality gate and calculating material-level carbon offset data, we address both operational revenue and corporate sustainability demand. Dr. Narishah will ask about local tipping fees — in Malaysia, these range from RM 40 to RM 250 per tonne depending on the state and landfill class, making diversion highly profitable.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goal contains two parts — an operational target (contamination rate) and a business reporting target (carbon data). Dr. Narishah will ask about the 30% baseline. The source is Moh &amp; Abd Manaf (2017), a peer-reviewed paper on Malaysian solid waste management. Be ready to quote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completion means the dataset is clean and ready. 227,490 images were collected, duplicate photos were removed using a similarity check, and a sharpness filter removed blurry images. The data has been split into training (80%) and testing (20%) sets with a hard cap of 5,000 images per category to prevent any one category from dominating.</a:t>
            </a:r>
          </a:p>
          <a:p/>
          <a:p>
            <a:r>
              <a:t>Phase 3 is currently active — each team member is running their own training test on their own image slice to catch labelling errors before everything is merged.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our actual schedule vs. planned timeline, demonstrating strict adherence to milestones. Dr. Narishah will look for resource scheduling and task dependencies. Chris coordinated the parallel workflow so that Talvin's model training, Kong's RPA pipeline, and Georgene's Streamlit frontend could proceed simultaneously in Sprints. Phase 3 diagnostic training has been launched in parallel with database integration, maintaining zero schedule slippage.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battery challenge is the most important one to articulate. Dr. Narishah may probe this because battery misclassification is the only error type with zero tolerance in the system. One battery allowed into a plastic bale creates a fire risk. The mitigation is not just more data — it is a system-level design choice: the battery confidence gate is set at 90% certainty (vs 85% for all other categories). Any battery detection below 90% certainty is held for human review, not auto-passed.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establishes the business case. Lead with the numbers: 30% contamination before, target 10% after. Dr. Narishah will want to see this connected to the DMAIC framework — this slide is the **Define** phase. The problem is defined, the baseline is stated, the target is stated.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the engineering outputs to business value — Dr. Narishah will look for this bridge. The phrase to use: "Every detection the AI makes is a data point. Individually, they mean one item sorted. In aggregate, they become a facility's recycling performance, revenue recovery rate, and carbon accountability record." That is the Business Analytics life cycle applied to physical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Where do the CO₂ saving rates come from?**</a:t>
            </a:r>
          </a:p>
          <a:p>
            <a:r>
              <a:t>"From Life Cycle Assessment emission factors published in the Journal of Environmental Management (JEM, 2024). These represent the difference between producing virgin material from raw resources versus processing the same material through recycling. The exact values require final verification against the JEM (2024) paper DOI before submission."</a:t>
            </a:r>
          </a:p>
          <a:p/>
          <a:p>
            <a:r>
              <a:t>**Q: Why multiply by purity at the end?**</a:t>
            </a:r>
          </a:p>
          <a:p>
            <a:r>
              <a:t>"The purity rate applies to the entire batch, not to individual material types. We calculate maximum possible savings first — as if everything detected were successfully recycled — then scale down by the actual proportion that is clean enough to be accepted. This matches how GRI and ISSB carbon accounting standards treat partial batch contamination."</a:t>
            </a:r>
          </a:p>
          <a:p/>
          <a:p>
            <a:r>
              <a:t>**Q: Is this traceable for a real ESG audit?**</a:t>
            </a:r>
          </a:p>
          <a:p>
            <a:r>
              <a:t>"Yes. Every detection is recorded in the digital logbook with its timestamp, category, certainty score, and zone. The formula inputs — item count per category, purity rate per session — come directly from those records. Any auditor can recalculate any session's CO₂ figure from the raw database entries."</a:t>
            </a:r>
          </a:p>
          <a:p/>
          <a:p>
            <a:r>
              <a:t>**Q: What about battery — is it included in the carbon calculation?**</a:t>
            </a:r>
          </a:p>
          <a:p>
            <a:r>
              <a:t>"No. Battery is routed to hazardous quarantine, not recycling. Battery recycling requires a licensed e-waste processor with a separate carbon accounting chain. Textile is included in the formula but its recycling infrastructure in Malaysia is limited — this is acknowledged as a limitation in our framework."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defines the Business Analytics life cycle applied to PurityLoop AI. Dr. Narishah will ask how our analytics goes beyond simple descriptive charts. The system moves from descriptive reporting to prescriptive action. When an operator reviews low-confidence items in the Amber zone, those prescriptive corrections are captured by SQLite, which automatically triggers model updates. This represents a mature prescriptive loop where analytics directly drives AI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that Power BI is not just a passive dashboard. It is a decision-support component that feeds requirements back into the Web Application. In the PurityLoop framework, data flows bidirectionally. When Power BI analysis identifies a spike in contamination, it adjusts the active rules (such as confidence gates or gamified points payouts) stored in the database, which the Web Application reads dynamically at startup.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Narishah's research connects analytics to business outcomes — she will appreciate that each dashboard reading maps to a specific, named operational response. This is the **Control** phase of DMAIC. The system is not just measuring performance — it is triggering corrective action. The feedback loop from detection → alert → action → cleaner batch is the sustained improvement mechanism that DMAIC requires.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Narishah may ask about the technical connection between the screen and the AI. The web application loads the trained AI model file (`best.pt`) at startup. Every photo that arrives goes through the AI and results are displayed immediately. This is the point of integration — described in detail in Slide 12.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details the software development lifecycle for the application layer. We follow an Agile Scrum model. Georgene focuses on bridging the gap between a standard static analytics screen ("What-IS") and the real-time PurityLoop app ("To-Be"). The primary gap we are addressing is live integration: standard business dashboards are read-only, whereas the PurityLoop interface acts as a control center that passes user inputs back to the AI model database.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critical integration point is between the AI model and the web application — the application loads the trained model file at startup and calls it for every photo received. The output (label, certainty, outline coordinates) is passed to the routing logic, then written to the database. Dr. Narishah may ask how the screen stays live — the web application polls the database every few seconds for new entries and updates the display without the user refreshing.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Narishah will ask why we selected YOLOv8s/m over other architectures. Midigudla et al. (2025) comparative analysis shows YOLOv8 outperforming EfficientDet and Detectron2 in accuracy and inference speed on waste classification, achieving mAP &gt;85%. The decoupled anchor-free head reduces false positives on irregular shapes (Terven et al., 2023). Because battery images are rare, we use automatically weighted focal loss (Mahmoodi et al., 2025) to prevent the model from ignoring the safety-critical hazard class.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how we enhance the baseline deep learning model for our specific domain. Pre-trained weights on the COCO dataset are insufficient because waste items are frequently crushed, overlapping, or dirty. We enhance the model's loss function using focal loss to prevent class overlap, and we use domain-specific data augmentations (like Mosaic and Copy-Paste) to train the model to handle heavily occluded and piled waste on the moving conveyor.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our methodology to the industry-standard CRISP-DM framework. We explicitly extend CRISP-DM by introducing a bidirectional active learning feedback loop from deployment back to data preparation. Rather than being a static, one-way pipeline, PurityLoop AI continuously improves by capturing operator corrections in the SQLite database and using them to retrain the model.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Narishah will recognise this as a DMAIC process discipline — she will ask: "What happens if a step fails?" The answer is explicit: the system has defined fail actions for every gate. Phase 3 gate: per-category accuracy must reach ≥60%. Phase 9 gate: accuracy drop on unseen photos must be ≤10%. This is the **Measure** and **Analyze** phases of DMAIC.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Narishah will probe the "why not simpler?" question. The answer is the piled/overlapping problem — when a battery sits on top of a plastic bag, a simple classifier sees one blurry blob and guesses wrong. Precise outlining (instance segmentation) treats each object as separate regardless of overlap. This is not a feature added for complexity — it is required by the physical reality of a conveyor belt.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balancing step is critical to explain. Before capping, food waste (food_organic) made up 61.5% of all images. Without balancing, the AI would learn to guess "food waste" for everything and still appear 61.5% accurate. After capping at 5,000 per category, all 9 categories are equally represented. This is honest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number is often misunderstood. Before data balancing, the majority category (food waste) was 61.5% of all images. An AI that always says "food waste" would score 61.5% — impressive looking but useless. After balancing (5,000 per category cap), the honest floor is 1/9 = 11.1%. This is the correct Baseline 1. Dr. Narishah will recognise this as rigorous measurement — it connects directly to the DMAIC Measure phase.</a:t>
            </a:r>
          </a:p>
          <a:p/>
          <a:p>
            <a:r>
              <a:t>The quarantine set is important: 100 real-world photos were locked away before any training began. No team member sees them until Phase 9. This is the "hold-out" that tests whether the AI generalises to the real world, not just the training photos.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checkpoints follow a strict logic: every subsequent model must beat everything before it. If Checkpoint 2 (full merged run) does not beat the solo runs (Checkpoint 3), the merge made things worse — go back to Phase 6 and investigate the merge quality.</a:t>
            </a:r>
          </a:p>
          <a:p/>
          <a:p>
            <a:r>
              <a:t>The battery category has its own separate tracking. Overall accuracy averages across all 9 categories. If the model scores 95% on the 8 non-battery categories but 30% on battery, the overall score reads ~87% — passing the gate but hiding a safety-critical failure. Battery is always reported separately.</a:t>
            </a:r>
          </a:p>
          <a:p/>
          <a:p>
            <a:r>
              <a:t>For the final target: Midigudla et al. (2025) published a direct comparison of AI models on waste classification. YOLOv8 achieved &gt;85% accuracy. That is the published benchmark for this exact model type and problem — matching it means our results are consistent with peer-reviewed findings.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Human-in-the-Loop (HITL) quality framework. We integrate two layers of quality check: human-in-the-loop and algorithmic confident learning (Cleanlab). HITL checks catch judgment calls, whereas Cleanlab catches systematic label errors. This follows Mosqueira-Rey et al. (2023) research showing that human-first review gates yield higher dataset purity. Explain the three confidence zones: green (auto-pass), red (auto-reject), and amber (human review). The battery class has a stricter threshold of 90% due to zero fire risk tolerance. Low-confidence detections are written to the database, where they accumulate until a 100-sample threshold triggers active learning (Menke et al., 2024).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theoretical taxonomy of Human-AI integration based on Mosqueira-Rey et al. (2023). Dr. Narishah will expect you to understand these definitions. PurityLoop AI does not use a single integration style; it is a hybrid. We use Human-in-the-Loop (HITL) for the active learning review process (where the operator labels uncertain items), and we use Human-on-the-Loop (HOTL) for the operator dashboard, allowing the supervisor to override alerts or stop the belt.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Narishah published on automation pipelines (SVRA paper, 2022) — she will probe the robustness question: "What if the folder receives a bad file?" The explicit answer is here: MIME type validation, file integrity check, quarantine folder for malformed files, logged to error_log.csv. The pipeline is designed to never crash from bad input. This is what separates a production-ready automation from a fragile demo.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Narishah's SVRA paper emphasises audit trail integrity. The three-table structure is the technical implementation of that — every detection is traceable back to the session, the user, and the specific photo. This makes the CO₂ calculation reproducible: any auditor can recalculate any session's carbon figure from the raw Detection_Event records.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Narishah will ask why the threshold is 85% and not 100%. At 100% certainty requirement, almost every item would be flagged for human review — the automation provides no value. At 85%, the vast majority of clear-cut items are handled automatically, while genuinely ambiguous items reach the human. The 85% threshold is consistent with the confidence levels reported in Midigudla et al. (2025) for production waste sorting systems.</a:t>
            </a:r>
          </a:p>
          <a:p/>
          <a:p>
            <a:r>
              <a:t>The active learning loop is the key system design feature — the Yellow zone is not just a safety net, it is a data collection mechanism. Operator corrections become new training data. The AI gets better at exactly the cases it struggles with.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2011680"/>
          </a:xfrm>
          <a:prstGeom prst="rect">
            <a:avLst/>
          </a:prstGeom>
          <a:noFill/>
        </p:spPr>
        <p:txBody>
          <a:bodyPr wrap="square">
            <a:spAutoFit/>
          </a:bodyPr>
          <a:lstStyle/>
          <a:p>
            <a:pPr>
              <a:defRPr sz="4400" b="1">
                <a:solidFill>
                  <a:srgbClr val="FFFFFF"/>
                </a:solidFill>
                <a:latin typeface="Arial"/>
              </a:defRPr>
            </a:pPr>
            <a:r>
              <a:t>Cover Slide</a:t>
            </a:r>
          </a:p>
          <a:p>
            <a:pPr>
              <a:spcBef>
                <a:spcPts val="1000"/>
              </a:spcBef>
              <a:defRPr sz="2200">
                <a:solidFill>
                  <a:srgbClr val="FFC107"/>
                </a:solidFill>
                <a:latin typeface="Arial"/>
              </a:defRPr>
            </a:pPr>
            <a:r>
              <a:t>Automated Waste Sorting &amp; Contamination Detection</a:t>
            </a:r>
          </a:p>
        </p:txBody>
      </p:sp>
      <p:graphicFrame>
        <p:nvGraphicFramePr>
          <p:cNvPr id="4" name="Table 3"/>
          <p:cNvGraphicFramePr>
            <a:graphicFrameLocks noGrp="1"/>
          </p:cNvGraphicFramePr>
          <p:nvPr/>
        </p:nvGraphicFramePr>
        <p:xfrm>
          <a:off x="2286000" y="4206240"/>
          <a:ext cx="7619695" cy="1828800"/>
        </p:xfrm>
        <a:graphic>
          <a:graphicData uri="http://schemas.openxmlformats.org/drawingml/2006/table">
            <a:tbl>
              <a:tblPr firstRow="1" bandRow="1">
                <a:tableStyleId>{5C22544A-7EE6-4342-B048-85BDC9FD1C3A}</a:tableStyleId>
              </a:tblPr>
              <a:tblGrid>
                <a:gridCol w="3809847"/>
                <a:gridCol w="3809848"/>
              </a:tblGrid>
              <a:tr h="365760">
                <a:tc>
                  <a:txBody>
                    <a:bodyPr/>
                    <a:lstStyle/>
                    <a:p>
                      <a:pPr>
                        <a:defRPr sz="1200" b="1">
                          <a:solidFill>
                            <a:srgbClr val="212529"/>
                          </a:solidFill>
                          <a:latin typeface="Arial"/>
                        </a:defRPr>
                      </a:pPr>
                      <a:r>
                        <a:t>Project</a:t>
                      </a:r>
                    </a:p>
                  </a:txBody>
                  <a:tcPr marL="54864" marR="54864" marT="36576" marB="36576">
                    <a:solidFill>
                      <a:srgbClr val="F5F5F5"/>
                    </a:solidFill>
                  </a:tcPr>
                </a:tc>
                <a:tc>
                  <a:txBody>
                    <a:bodyPr/>
                    <a:lstStyle/>
                    <a:p>
                      <a:pPr>
                        <a:defRPr sz="1200">
                          <a:solidFill>
                            <a:srgbClr val="212529"/>
                          </a:solidFill>
                          <a:latin typeface="Arial"/>
                        </a:defRPr>
                      </a:pPr>
                      <a:r>
                        <a:t>PurityLoop AI</a:t>
                      </a:r>
                    </a:p>
                  </a:txBody>
                  <a:tcPr marL="54864" marR="54864" marT="36576" marB="36576">
                    <a:solidFill>
                      <a:srgbClr val="F5F5F5"/>
                    </a:solidFill>
                  </a:tcPr>
                </a:tc>
              </a:tr>
              <a:tr h="365760">
                <a:tc>
                  <a:txBody>
                    <a:bodyPr/>
                    <a:lstStyle/>
                    <a:p>
                      <a:pPr>
                        <a:defRPr sz="1200" b="1">
                          <a:solidFill>
                            <a:srgbClr val="212529"/>
                          </a:solidFill>
                          <a:latin typeface="Arial"/>
                        </a:defRPr>
                      </a:pPr>
                      <a:r>
                        <a:t>Subtitle</a:t>
                      </a:r>
                    </a:p>
                  </a:txBody>
                  <a:tcPr marL="54864" marR="54864" marT="36576" marB="36576">
                    <a:solidFill>
                      <a:srgbClr val="F5F5F5"/>
                    </a:solidFill>
                  </a:tcPr>
                </a:tc>
                <a:tc>
                  <a:txBody>
                    <a:bodyPr/>
                    <a:lstStyle/>
                    <a:p>
                      <a:pPr>
                        <a:defRPr sz="1200">
                          <a:solidFill>
                            <a:srgbClr val="212529"/>
                          </a:solidFill>
                          <a:latin typeface="Arial"/>
                        </a:defRPr>
                      </a:pPr>
                      <a:r>
                        <a:t>Weekly Progress Update — Capstone AY2025/26</a:t>
                      </a:r>
                    </a:p>
                  </a:txBody>
                  <a:tcPr marL="54864" marR="54864" marT="36576" marB="36576">
                    <a:solidFill>
                      <a:srgbClr val="F5F5F5"/>
                    </a:solidFill>
                  </a:tcPr>
                </a:tc>
              </a:tr>
              <a:tr h="365760">
                <a:tc>
                  <a:txBody>
                    <a:bodyPr/>
                    <a:lstStyle/>
                    <a:p>
                      <a:pPr>
                        <a:defRPr sz="1200" b="1">
                          <a:solidFill>
                            <a:srgbClr val="212529"/>
                          </a:solidFill>
                          <a:latin typeface="Arial"/>
                        </a:defRPr>
                      </a:pPr>
                      <a:r>
                        <a:t>University</a:t>
                      </a:r>
                    </a:p>
                  </a:txBody>
                  <a:tcPr marL="54864" marR="54864" marT="36576" marB="36576">
                    <a:solidFill>
                      <a:srgbClr val="F5F5F5"/>
                    </a:solidFill>
                  </a:tcPr>
                </a:tc>
                <a:tc>
                  <a:txBody>
                    <a:bodyPr/>
                    <a:lstStyle/>
                    <a:p>
                      <a:pPr>
                        <a:defRPr sz="1200">
                          <a:solidFill>
                            <a:srgbClr val="212529"/>
                          </a:solidFill>
                          <a:latin typeface="Arial"/>
                        </a:defRPr>
                      </a:pPr>
                      <a:r>
                        <a:t>Sunway University · Department of Business Analytics</a:t>
                      </a:r>
                    </a:p>
                  </a:txBody>
                  <a:tcPr marL="54864" marR="54864" marT="36576" marB="36576">
                    <a:solidFill>
                      <a:srgbClr val="F5F5F5"/>
                    </a:solidFill>
                  </a:tcPr>
                </a:tc>
              </a:tr>
              <a:tr h="365760">
                <a:tc>
                  <a:txBody>
                    <a:bodyPr/>
                    <a:lstStyle/>
                    <a:p>
                      <a:pPr>
                        <a:defRPr sz="1200" b="1">
                          <a:solidFill>
                            <a:srgbClr val="212529"/>
                          </a:solidFill>
                          <a:latin typeface="Arial"/>
                        </a:defRPr>
                      </a:pPr>
                      <a:r>
                        <a:t>Supervisor</a:t>
                      </a:r>
                    </a:p>
                  </a:txBody>
                  <a:tcPr marL="54864" marR="54864" marT="36576" marB="36576">
                    <a:solidFill>
                      <a:srgbClr val="F5F5F5"/>
                    </a:solidFill>
                  </a:tcPr>
                </a:tc>
                <a:tc>
                  <a:txBody>
                    <a:bodyPr/>
                    <a:lstStyle/>
                    <a:p>
                      <a:pPr>
                        <a:defRPr sz="1200">
                          <a:solidFill>
                            <a:srgbClr val="212529"/>
                          </a:solidFill>
                          <a:latin typeface="Arial"/>
                        </a:defRPr>
                      </a:pPr>
                      <a:r>
                        <a:t>Dr. Narishah Mohamed Salleh</a:t>
                      </a:r>
                    </a:p>
                  </a:txBody>
                  <a:tcPr marL="54864" marR="54864" marT="36576" marB="36576">
                    <a:solidFill>
                      <a:srgbClr val="F5F5F5"/>
                    </a:solidFill>
                  </a:tcPr>
                </a:tc>
              </a:tr>
              <a:tr h="365760">
                <a:tc>
                  <a:txBody>
                    <a:bodyPr/>
                    <a:lstStyle/>
                    <a:p>
                      <a:pPr>
                        <a:defRPr sz="1200" b="1">
                          <a:solidFill>
                            <a:srgbClr val="212529"/>
                          </a:solidFill>
                          <a:latin typeface="Arial"/>
                        </a:defRPr>
                      </a:pPr>
                      <a:r>
                        <a:t>Domain</a:t>
                      </a:r>
                    </a:p>
                  </a:txBody>
                  <a:tcPr marL="54864" marR="54864" marT="36576" marB="36576">
                    <a:solidFill>
                      <a:srgbClr val="F5F5F5"/>
                    </a:solidFill>
                  </a:tcPr>
                </a:tc>
                <a:tc>
                  <a:txBody>
                    <a:bodyPr/>
                    <a:lstStyle/>
                    <a:p>
                      <a:pPr>
                        <a:defRPr sz="1200">
                          <a:solidFill>
                            <a:srgbClr val="212529"/>
                          </a:solidFill>
                          <a:latin typeface="Arial"/>
                        </a:defRPr>
                      </a:pPr>
                      <a:r>
                        <a:t>Industrial Operations · Quality Assurance · Circular Economy</a:t>
                      </a:r>
                    </a:p>
                  </a:txBody>
                  <a:tcPr marL="54864" marR="54864" marT="36576" marB="36576">
                    <a:solidFill>
                      <a:srgbClr val="F5F5F5"/>
                    </a:solid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2: Problem Statement &amp; Contamination Crisis</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2 in Appendix A to generate the visual image.</a:t>
            </a:r>
          </a:p>
        </p:txBody>
      </p:sp>
      <p:sp>
        <p:nvSpPr>
          <p:cNvPr id="5" name="TextBox 4"/>
          <p:cNvSpPr txBox="1"/>
          <p:nvPr/>
        </p:nvSpPr>
        <p:spPr>
          <a:xfrm>
            <a:off x="457200" y="1188720"/>
            <a:ext cx="5943600" cy="3054096"/>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The Contamination Crisis in Malaysia:</a:t>
            </a:r>
          </a:p>
          <a:p>
            <a:pPr lvl="1">
              <a:spcAft>
                <a:spcPts val="200"/>
              </a:spcAft>
              <a:defRPr sz="1100">
                <a:solidFill>
                  <a:srgbClr val="212529"/>
                </a:solidFill>
                <a:latin typeface="Arial"/>
              </a:defRPr>
            </a:pPr>
            <a:r>
              <a:t>National Waste Growth: 15.2M tonnes in 2024; rising to 17M tonnes by 2035 (SWCorp, 2024).</a:t>
            </a:r>
          </a:p>
          <a:p>
            <a:pPr lvl="1">
              <a:spcAft>
                <a:spcPts val="200"/>
              </a:spcAft>
              <a:defRPr sz="1100">
                <a:solidFill>
                  <a:srgbClr val="212529"/>
                </a:solidFill>
                <a:latin typeface="Arial"/>
              </a:defRPr>
            </a:pPr>
            <a:r>
              <a:t>Recycling Gap: Only 37.9% recycling rate achieved in 2024 vs. 12th Malaysia Plan target of 40%.</a:t>
            </a:r>
          </a:p>
          <a:p>
            <a:pPr lvl="1">
              <a:spcAft>
                <a:spcPts val="200"/>
              </a:spcAft>
              <a:defRPr sz="1100">
                <a:solidFill>
                  <a:srgbClr val="212529"/>
                </a:solidFill>
                <a:latin typeface="Arial"/>
              </a:defRPr>
            </a:pPr>
            <a:r>
              <a:t>The Contamination Loss: 6.96% of recyclable waste (~1M tonnes) rejected annually due to contaminants.</a:t>
            </a:r>
          </a:p>
          <a:p>
            <a:pPr>
              <a:spcBef>
                <a:spcPts val="600"/>
              </a:spcBef>
              <a:spcAft>
                <a:spcPts val="300"/>
              </a:spcAft>
              <a:defRPr sz="1500" b="1">
                <a:solidFill>
                  <a:srgbClr val="0F5132"/>
                </a:solidFill>
                <a:latin typeface="Arial"/>
              </a:defRPr>
            </a:pPr>
            <a:r>
              <a:t>Three Failures of Manual Sorting:</a:t>
            </a:r>
          </a:p>
          <a:p>
            <a:pPr lvl="1">
              <a:spcAft>
                <a:spcPts val="200"/>
              </a:spcAft>
              <a:defRPr sz="1100">
                <a:solidFill>
                  <a:srgbClr val="212529"/>
                </a:solidFill>
                <a:latin typeface="Arial"/>
              </a:defRPr>
            </a:pPr>
            <a:r>
              <a:t>1. Error-Prone: 30–40% error rate under realistic throughput (Islam &amp; Chowdhury, 2024).</a:t>
            </a:r>
          </a:p>
          <a:p>
            <a:pPr lvl="1">
              <a:spcAft>
                <a:spcPts val="200"/>
              </a:spcAft>
              <a:defRPr sz="1100">
                <a:solidFill>
                  <a:srgbClr val="212529"/>
                </a:solidFill>
                <a:latin typeface="Arial"/>
              </a:defRPr>
            </a:pPr>
            <a:r>
              <a:t>2. No Audit Trail: Manual sorting provides no digital, machine-readable record for ESG reporting.</a:t>
            </a:r>
          </a:p>
          <a:p>
            <a:pPr lvl="1">
              <a:spcAft>
                <a:spcPts val="200"/>
              </a:spcAft>
              <a:defRPr sz="1100">
                <a:solidFill>
                  <a:srgbClr val="212529"/>
                </a:solidFill>
                <a:latin typeface="Arial"/>
              </a:defRPr>
            </a:pPr>
            <a:r>
              <a:t>3. Occupational Hazard: Exposure to toxic batteries, e-waste, and sharp biohazards.</a:t>
            </a:r>
          </a:p>
          <a:p>
            <a:pPr>
              <a:spcBef>
                <a:spcPts val="600"/>
              </a:spcBef>
              <a:spcAft>
                <a:spcPts val="300"/>
              </a:spcAft>
              <a:defRPr sz="1500" b="1">
                <a:solidFill>
                  <a:srgbClr val="0F5132"/>
                </a:solidFill>
                <a:latin typeface="Arial"/>
              </a:defRPr>
            </a:pPr>
            <a:r>
              <a:t>Operational Baseline:</a:t>
            </a:r>
          </a:p>
          <a:p>
            <a:pPr lvl="1">
              <a:spcAft>
                <a:spcPts val="200"/>
              </a:spcAft>
              <a:defRPr sz="1100">
                <a:solidFill>
                  <a:srgbClr val="212529"/>
                </a:solidFill>
                <a:latin typeface="Arial"/>
              </a:defRPr>
            </a:pPr>
            <a:r>
              <a:t>~30% contamination rate in Malaysian facilities operating under manual sorting (Moh &amp; Abd Manaf, 2017).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3: Project Solution: PurityLoop AI</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3 in Appendix A to generate the visual image.</a:t>
            </a:r>
          </a:p>
        </p:txBody>
      </p:sp>
      <p:sp>
        <p:nvSpPr>
          <p:cNvPr id="5" name="TextBox 4"/>
          <p:cNvSpPr txBox="1"/>
          <p:nvPr/>
        </p:nvSpPr>
        <p:spPr>
          <a:xfrm>
            <a:off x="457200" y="1188720"/>
            <a:ext cx="5943600" cy="3054096"/>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The PurityLoop AI System:</a:t>
            </a:r>
          </a:p>
          <a:p>
            <a:pPr lvl="1">
              <a:spcAft>
                <a:spcPts val="200"/>
              </a:spcAft>
              <a:defRPr sz="1100">
                <a:solidFill>
                  <a:srgbClr val="212529"/>
                </a:solidFill>
                <a:latin typeface="Arial"/>
              </a:defRPr>
            </a:pPr>
            <a:r>
              <a:t>An integrated automation system that replaces manual sorting with a high-speed computer vision pipeline.</a:t>
            </a:r>
          </a:p>
          <a:p>
            <a:pPr>
              <a:spcBef>
                <a:spcPts val="600"/>
              </a:spcBef>
              <a:spcAft>
                <a:spcPts val="300"/>
              </a:spcAft>
              <a:defRPr sz="1500" b="1">
                <a:solidFill>
                  <a:srgbClr val="0F5132"/>
                </a:solidFill>
                <a:latin typeface="Arial"/>
              </a:defRPr>
            </a:pPr>
            <a:r>
              <a:t>Core Solution Components:</a:t>
            </a:r>
          </a:p>
          <a:p>
            <a:pPr lvl="1">
              <a:spcAft>
                <a:spcPts val="200"/>
              </a:spcAft>
              <a:defRPr sz="1100">
                <a:solidFill>
                  <a:srgbClr val="212529"/>
                </a:solidFill>
                <a:latin typeface="Arial"/>
              </a:defRPr>
            </a:pPr>
            <a:r>
              <a:t>Real-Time CV Pipeline: YOLOv8m-seg instance segmentation identifies and segments waste classes.</a:t>
            </a:r>
          </a:p>
          <a:p>
            <a:pPr lvl="1">
              <a:spcAft>
                <a:spcPts val="200"/>
              </a:spcAft>
              <a:defRPr sz="1100">
                <a:solidFill>
                  <a:srgbClr val="212529"/>
                </a:solidFill>
                <a:latin typeface="Arial"/>
              </a:defRPr>
            </a:pPr>
            <a:r>
              <a:t>RPA Data Pipeline: Automates image monitoring, format checks, database logging, and routing.</a:t>
            </a:r>
          </a:p>
          <a:p>
            <a:pPr lvl="1">
              <a:spcAft>
                <a:spcPts val="200"/>
              </a:spcAft>
              <a:defRPr sz="1100">
                <a:solidFill>
                  <a:srgbClr val="212529"/>
                </a:solidFill>
                <a:latin typeface="Arial"/>
              </a:defRPr>
            </a:pPr>
            <a:r>
              <a:t>Live Dashboard: Translates database events into live KPIs (Purity Rate, CO2 saved, Yield).</a:t>
            </a:r>
          </a:p>
          <a:p>
            <a:pPr lvl="1">
              <a:spcAft>
                <a:spcPts val="200"/>
              </a:spcAft>
              <a:defRPr sz="1100">
                <a:solidFill>
                  <a:srgbClr val="212529"/>
                </a:solidFill>
                <a:latin typeface="Arial"/>
              </a:defRPr>
            </a:pPr>
            <a:r>
              <a:t>Recycling Coach App: Gamified feedback loop for source-level behavioural intervention.</a:t>
            </a:r>
          </a:p>
          <a:p>
            <a:pPr>
              <a:spcBef>
                <a:spcPts val="600"/>
              </a:spcBef>
              <a:spcAft>
                <a:spcPts val="300"/>
              </a:spcAft>
              <a:defRPr sz="1500" b="1">
                <a:solidFill>
                  <a:srgbClr val="0F5132"/>
                </a:solidFill>
                <a:latin typeface="Arial"/>
              </a:defRPr>
            </a:pPr>
            <a:r>
              <a:t>Operational Target:</a:t>
            </a:r>
          </a:p>
          <a:p>
            <a:pPr lvl="1">
              <a:spcAft>
                <a:spcPts val="200"/>
              </a:spcAft>
              <a:defRPr sz="1100">
                <a:solidFill>
                  <a:srgbClr val="212529"/>
                </a:solidFill>
                <a:latin typeface="Arial"/>
              </a:defRPr>
            </a:pPr>
            <a:r>
              <a:t>Post-deployment purity rate increase from ~70% to ≥90%.</a:t>
            </a:r>
          </a:p>
          <a:p>
            <a:pPr lvl="1">
              <a:spcAft>
                <a:spcPts val="200"/>
              </a:spcAft>
              <a:defRPr sz="1100">
                <a:solidFill>
                  <a:srgbClr val="212529"/>
                </a:solidFill>
                <a:latin typeface="Arial"/>
              </a:defRPr>
            </a:pPr>
            <a:r>
              <a:t>30–40% increase in materials recovery facility throughput.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4: Business Pitching: The Value Proposition</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4 in Appendix A to generate the visual image.</a:t>
            </a:r>
          </a:p>
        </p:txBody>
      </p:sp>
      <p:sp>
        <p:nvSpPr>
          <p:cNvPr id="5" name="TextBox 4"/>
          <p:cNvSpPr txBox="1"/>
          <p:nvPr/>
        </p:nvSpPr>
        <p:spPr>
          <a:xfrm>
            <a:off x="457200" y="1188720"/>
            <a:ext cx="5943600" cy="2761488"/>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The Business Pitch:</a:t>
            </a:r>
          </a:p>
          <a:p>
            <a:pPr lvl="1">
              <a:spcAft>
                <a:spcPts val="200"/>
              </a:spcAft>
              <a:defRPr sz="1100">
                <a:solidFill>
                  <a:srgbClr val="212529"/>
                </a:solidFill>
                <a:latin typeface="Arial"/>
              </a:defRPr>
            </a:pPr>
            <a:r>
              <a:t>An automated waste sorting and purity monitoring system targeting materials recovery facilities (MRFs) to address landfill costs and ESG compliance.</a:t>
            </a:r>
          </a:p>
          <a:p>
            <a:pPr>
              <a:spcBef>
                <a:spcPts val="600"/>
              </a:spcBef>
              <a:spcAft>
                <a:spcPts val="300"/>
              </a:spcAft>
              <a:defRPr sz="1500" b="1">
                <a:solidFill>
                  <a:srgbClr val="0F5132"/>
                </a:solidFill>
                <a:latin typeface="Arial"/>
              </a:defRPr>
            </a:pPr>
            <a:r>
              <a:t>Key Commercial Value Drivers:</a:t>
            </a:r>
          </a:p>
          <a:p>
            <a:pPr lvl="1">
              <a:spcAft>
                <a:spcPts val="200"/>
              </a:spcAft>
              <a:defRPr sz="1100">
                <a:solidFill>
                  <a:srgbClr val="212529"/>
                </a:solidFill>
                <a:latin typeface="Arial"/>
              </a:defRPr>
            </a:pPr>
            <a:r>
              <a:t>Landfill Cost Savings: Diverting contaminants saves up to RM 250/tonne in tipping fees.</a:t>
            </a:r>
          </a:p>
          <a:p>
            <a:pPr lvl="1">
              <a:spcAft>
                <a:spcPts val="200"/>
              </a:spcAft>
              <a:defRPr sz="1100">
                <a:solidFill>
                  <a:srgbClr val="212529"/>
                </a:solidFill>
                <a:latin typeface="Arial"/>
              </a:defRPr>
            </a:pPr>
            <a:r>
              <a:t>Resale Value Maximisation: Pure recyclable bales (plastic/metal) command 20–35% higher prices from buyers.</a:t>
            </a:r>
          </a:p>
          <a:p>
            <a:pPr lvl="1">
              <a:spcAft>
                <a:spcPts val="200"/>
              </a:spcAft>
              <a:defRPr sz="1100">
                <a:solidFill>
                  <a:srgbClr val="212529"/>
                </a:solidFill>
                <a:latin typeface="Arial"/>
              </a:defRPr>
            </a:pPr>
            <a:r>
              <a:t>ESG Audit Trail: Translates raw sorted weights directly into verifiable carbon offset figures.</a:t>
            </a:r>
          </a:p>
          <a:p>
            <a:pPr>
              <a:spcBef>
                <a:spcPts val="600"/>
              </a:spcBef>
              <a:spcAft>
                <a:spcPts val="300"/>
              </a:spcAft>
              <a:defRPr sz="1500" b="1">
                <a:solidFill>
                  <a:srgbClr val="0F5132"/>
                </a:solidFill>
                <a:latin typeface="Arial"/>
              </a:defRPr>
            </a:pPr>
            <a:r>
              <a:t>The Market Gap:</a:t>
            </a:r>
          </a:p>
          <a:p>
            <a:pPr lvl="1">
              <a:spcAft>
                <a:spcPts val="200"/>
              </a:spcAft>
              <a:defRPr sz="1100">
                <a:solidFill>
                  <a:srgbClr val="212529"/>
                </a:solidFill>
                <a:latin typeface="Arial"/>
              </a:defRPr>
            </a:pPr>
            <a:r>
              <a:t>Existing solutions are either manual (unsafe, slow) or binary (no hazard detection, no carbon offset auditing).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5: Project Management &amp; Role Framework</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5 in Appendix A to generate the visual image.</a:t>
            </a:r>
          </a:p>
        </p:txBody>
      </p:sp>
      <p:sp>
        <p:nvSpPr>
          <p:cNvPr id="5" name="TextBox 4"/>
          <p:cNvSpPr txBox="1"/>
          <p:nvPr/>
        </p:nvSpPr>
        <p:spPr>
          <a:xfrm>
            <a:off x="457200" y="1188720"/>
            <a:ext cx="5943600" cy="1810512"/>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Project Goal:</a:t>
            </a:r>
          </a:p>
          <a:p>
            <a:pPr>
              <a:spcAft>
                <a:spcPts val="400"/>
              </a:spcAft>
              <a:defRPr sz="1100" i="1">
                <a:solidFill>
                  <a:srgbClr val="212529"/>
                </a:solidFill>
                <a:latin typeface="Arial"/>
              </a:defRPr>
            </a:pPr>
            <a:r>
              <a:t>Reduce recycling contamination in Malaysian facilities from ~30% (manual sorting) to ≤10% using an AI camera system — while generating verifiable carbon savings data for sustainability reporting.</a:t>
            </a:r>
          </a:p>
          <a:p>
            <a:pPr>
              <a:spcAft>
                <a:spcPts val="400"/>
              </a:spcAft>
              <a:defRPr sz="1100" i="1">
                <a:solidFill>
                  <a:srgbClr val="212529"/>
                </a:solidFill>
                <a:latin typeface="Arial"/>
              </a:defRPr>
            </a:pPr>
          </a:p>
          <a:p>
            <a:pPr>
              <a:spcAft>
                <a:spcPts val="400"/>
              </a:spcAft>
              <a:defRPr sz="1100" i="1">
                <a:solidFill>
                  <a:srgbClr val="212529"/>
                </a:solidFill>
                <a:latin typeface="Arial"/>
              </a:defRPr>
            </a:pPr>
            <a:r>
              <a:t>*(Baseline source: Moh &amp; Abd Manaf, 2017)*</a:t>
            </a:r>
          </a:p>
          <a:p>
            <a:pPr>
              <a:spcBef>
                <a:spcPts val="600"/>
              </a:spcBef>
              <a:spcAft>
                <a:spcPts val="300"/>
              </a:spcAft>
              <a:defRPr sz="1500" b="1">
                <a:solidFill>
                  <a:srgbClr val="0F5132"/>
                </a:solidFill>
                <a:latin typeface="Arial"/>
              </a:defRPr>
            </a:pPr>
            <a:r>
              <a:t>Team Roles:</a:t>
            </a:r>
          </a:p>
        </p:txBody>
      </p:sp>
      <p:graphicFrame>
        <p:nvGraphicFramePr>
          <p:cNvPr id="6" name="Table 5"/>
          <p:cNvGraphicFramePr>
            <a:graphicFrameLocks noGrp="1"/>
          </p:cNvGraphicFramePr>
          <p:nvPr/>
        </p:nvGraphicFramePr>
        <p:xfrm>
          <a:off x="457200" y="2999232"/>
          <a:ext cx="5943600" cy="1627632"/>
        </p:xfrm>
        <a:graphic>
          <a:graphicData uri="http://schemas.openxmlformats.org/drawingml/2006/table">
            <a:tbl>
              <a:tblPr firstRow="1" bandRow="1">
                <a:tableStyleId>{5C22544A-7EE6-4342-B048-85BDC9FD1C3A}</a:tableStyleId>
              </a:tblPr>
              <a:tblGrid>
                <a:gridCol w="2971800"/>
                <a:gridCol w="2971800"/>
              </a:tblGrid>
              <a:tr h="232518">
                <a:tc>
                  <a:txBody>
                    <a:bodyPr/>
                    <a:lstStyle/>
                    <a:p>
                      <a:pPr>
                        <a:defRPr sz="900" b="1">
                          <a:solidFill>
                            <a:srgbClr val="FFFFFF"/>
                          </a:solidFill>
                          <a:latin typeface="Arial"/>
                        </a:defRPr>
                      </a:pPr>
                      <a:r>
                        <a:t>Name</a:t>
                      </a:r>
                    </a:p>
                  </a:txBody>
                  <a:tcPr marL="36576" marR="36576" marT="27432" marB="27432">
                    <a:solidFill>
                      <a:srgbClr val="0F5132"/>
                    </a:solidFill>
                  </a:tcPr>
                </a:tc>
                <a:tc>
                  <a:txBody>
                    <a:bodyPr/>
                    <a:lstStyle/>
                    <a:p>
                      <a:pPr>
                        <a:defRPr sz="900" b="1">
                          <a:solidFill>
                            <a:srgbClr val="FFFFFF"/>
                          </a:solidFill>
                          <a:latin typeface="Arial"/>
                        </a:defRPr>
                      </a:pPr>
                      <a:r>
                        <a:t>Role</a:t>
                      </a:r>
                    </a:p>
                  </a:txBody>
                  <a:tcPr marL="36576" marR="36576" marT="27432" marB="27432">
                    <a:solidFill>
                      <a:srgbClr val="0F5132"/>
                    </a:solidFill>
                  </a:tcPr>
                </a:tc>
              </a:tr>
              <a:tr h="232518">
                <a:tc>
                  <a:txBody>
                    <a:bodyPr/>
                    <a:lstStyle/>
                    <a:p>
                      <a:pPr>
                        <a:defRPr sz="900" b="1">
                          <a:solidFill>
                            <a:srgbClr val="212529"/>
                          </a:solidFill>
                          <a:latin typeface="Arial"/>
                        </a:defRPr>
                      </a:pPr>
                      <a:r>
                        <a:t>Chris</a:t>
                      </a:r>
                    </a:p>
                  </a:txBody>
                  <a:tcPr marL="36576" marR="36576" marT="27432" marB="27432">
                    <a:solidFill>
                      <a:srgbClr val="F5F5F5"/>
                    </a:solidFill>
                  </a:tcPr>
                </a:tc>
                <a:tc>
                  <a:txBody>
                    <a:bodyPr/>
                    <a:lstStyle/>
                    <a:p>
                      <a:pPr>
                        <a:defRPr sz="900" b="0">
                          <a:solidFill>
                            <a:srgbClr val="212529"/>
                          </a:solidFill>
                          <a:latin typeface="Arial"/>
                        </a:defRPr>
                      </a:pPr>
                      <a:r>
                        <a:t>Project Management &amp; Sustainability Reporting</a:t>
                      </a:r>
                    </a:p>
                  </a:txBody>
                  <a:tcPr marL="36576" marR="36576" marT="27432" marB="27432">
                    <a:solidFill>
                      <a:srgbClr val="F5F5F5"/>
                    </a:solidFill>
                  </a:tcPr>
                </a:tc>
              </a:tr>
              <a:tr h="232518">
                <a:tc>
                  <a:txBody>
                    <a:bodyPr/>
                    <a:lstStyle/>
                    <a:p>
                      <a:pPr>
                        <a:defRPr sz="900" b="1">
                          <a:solidFill>
                            <a:srgbClr val="212529"/>
                          </a:solidFill>
                          <a:latin typeface="Arial"/>
                        </a:defRPr>
                      </a:pPr>
                      <a:r>
                        <a:t>Naomi</a:t>
                      </a:r>
                    </a:p>
                  </a:txBody>
                  <a:tcPr marL="36576" marR="36576" marT="27432" marB="27432">
                    <a:solidFill>
                      <a:srgbClr val="F5F5F5"/>
                    </a:solidFill>
                  </a:tcPr>
                </a:tc>
                <a:tc>
                  <a:txBody>
                    <a:bodyPr/>
                    <a:lstStyle/>
                    <a:p>
                      <a:pPr>
                        <a:defRPr sz="900" b="0">
                          <a:solidFill>
                            <a:srgbClr val="212529"/>
                          </a:solidFill>
                          <a:latin typeface="Arial"/>
                        </a:defRPr>
                      </a:pPr>
                      <a:r>
                        <a:t>Data Collection &amp; Preparation</a:t>
                      </a:r>
                    </a:p>
                  </a:txBody>
                  <a:tcPr marL="36576" marR="36576" marT="27432" marB="27432">
                    <a:solidFill>
                      <a:srgbClr val="F5F5F5"/>
                    </a:solidFill>
                  </a:tcPr>
                </a:tc>
              </a:tr>
              <a:tr h="232518">
                <a:tc>
                  <a:txBody>
                    <a:bodyPr/>
                    <a:lstStyle/>
                    <a:p>
                      <a:pPr>
                        <a:defRPr sz="900" b="1">
                          <a:solidFill>
                            <a:srgbClr val="212529"/>
                          </a:solidFill>
                          <a:latin typeface="Arial"/>
                        </a:defRPr>
                      </a:pPr>
                      <a:r>
                        <a:t>Talvin</a:t>
                      </a:r>
                    </a:p>
                  </a:txBody>
                  <a:tcPr marL="36576" marR="36576" marT="27432" marB="27432">
                    <a:solidFill>
                      <a:srgbClr val="F5F5F5"/>
                    </a:solidFill>
                  </a:tcPr>
                </a:tc>
                <a:tc>
                  <a:txBody>
                    <a:bodyPr/>
                    <a:lstStyle/>
                    <a:p>
                      <a:pPr>
                        <a:defRPr sz="900" b="0">
                          <a:solidFill>
                            <a:srgbClr val="212529"/>
                          </a:solidFill>
                          <a:latin typeface="Arial"/>
                        </a:defRPr>
                      </a:pPr>
                      <a:r>
                        <a:t>AI Model Development</a:t>
                      </a:r>
                    </a:p>
                  </a:txBody>
                  <a:tcPr marL="36576" marR="36576" marT="27432" marB="27432">
                    <a:solidFill>
                      <a:srgbClr val="F5F5F5"/>
                    </a:solidFill>
                  </a:tcPr>
                </a:tc>
              </a:tr>
              <a:tr h="232518">
                <a:tc>
                  <a:txBody>
                    <a:bodyPr/>
                    <a:lstStyle/>
                    <a:p>
                      <a:pPr>
                        <a:defRPr sz="900" b="1">
                          <a:solidFill>
                            <a:srgbClr val="212529"/>
                          </a:solidFill>
                          <a:latin typeface="Arial"/>
                        </a:defRPr>
                      </a:pPr>
                      <a:r>
                        <a:t>Kong</a:t>
                      </a:r>
                    </a:p>
                  </a:txBody>
                  <a:tcPr marL="36576" marR="36576" marT="27432" marB="27432">
                    <a:solidFill>
                      <a:srgbClr val="F5F5F5"/>
                    </a:solidFill>
                  </a:tcPr>
                </a:tc>
                <a:tc>
                  <a:txBody>
                    <a:bodyPr/>
                    <a:lstStyle/>
                    <a:p>
                      <a:pPr>
                        <a:defRPr sz="900" b="0">
                          <a:solidFill>
                            <a:srgbClr val="212529"/>
                          </a:solidFill>
                          <a:latin typeface="Arial"/>
                        </a:defRPr>
                      </a:pPr>
                      <a:r>
                        <a:t>Data Pipeline &amp; Automation</a:t>
                      </a:r>
                    </a:p>
                  </a:txBody>
                  <a:tcPr marL="36576" marR="36576" marT="27432" marB="27432">
                    <a:solidFill>
                      <a:srgbClr val="F5F5F5"/>
                    </a:solidFill>
                  </a:tcPr>
                </a:tc>
              </a:tr>
              <a:tr h="232518">
                <a:tc>
                  <a:txBody>
                    <a:bodyPr/>
                    <a:lstStyle/>
                    <a:p>
                      <a:pPr>
                        <a:defRPr sz="900" b="1">
                          <a:solidFill>
                            <a:srgbClr val="212529"/>
                          </a:solidFill>
                          <a:latin typeface="Arial"/>
                        </a:defRPr>
                      </a:pPr>
                      <a:r>
                        <a:t>Georgene</a:t>
                      </a:r>
                    </a:p>
                  </a:txBody>
                  <a:tcPr marL="36576" marR="36576" marT="27432" marB="27432">
                    <a:solidFill>
                      <a:srgbClr val="F5F5F5"/>
                    </a:solidFill>
                  </a:tcPr>
                </a:tc>
                <a:tc>
                  <a:txBody>
                    <a:bodyPr/>
                    <a:lstStyle/>
                    <a:p>
                      <a:pPr>
                        <a:defRPr sz="900" b="0">
                          <a:solidFill>
                            <a:srgbClr val="212529"/>
                          </a:solidFill>
                          <a:latin typeface="Arial"/>
                        </a:defRPr>
                      </a:pPr>
                      <a:r>
                        <a:t>Application &amp; User Interface</a:t>
                      </a:r>
                    </a:p>
                  </a:txBody>
                  <a:tcPr marL="36576" marR="36576" marT="27432" marB="27432">
                    <a:solidFill>
                      <a:srgbClr val="F5F5F5"/>
                    </a:solidFill>
                  </a:tcPr>
                </a:tc>
              </a:tr>
              <a:tr h="232524">
                <a:tc>
                  <a:txBody>
                    <a:bodyPr/>
                    <a:lstStyle/>
                    <a:p>
                      <a:pPr>
                        <a:defRPr sz="900" b="1">
                          <a:solidFill>
                            <a:srgbClr val="212529"/>
                          </a:solidFill>
                          <a:latin typeface="Arial"/>
                        </a:defRPr>
                      </a:pPr>
                      <a:r>
                        <a:t>Feng</a:t>
                      </a:r>
                    </a:p>
                  </a:txBody>
                  <a:tcPr marL="36576" marR="36576" marT="27432" marB="27432">
                    <a:solidFill>
                      <a:srgbClr val="F5F5F5"/>
                    </a:solidFill>
                  </a:tcPr>
                </a:tc>
                <a:tc>
                  <a:txBody>
                    <a:bodyPr/>
                    <a:lstStyle/>
                    <a:p>
                      <a:pPr>
                        <a:defRPr sz="900" b="0">
                          <a:solidFill>
                            <a:srgbClr val="212529"/>
                          </a:solidFill>
                          <a:latin typeface="Arial"/>
                        </a:defRPr>
                      </a:pPr>
                      <a:r>
                        <a:t>Analytics Dashboard &amp; Carbon Reports</a:t>
                      </a:r>
                    </a:p>
                  </a:txBody>
                  <a:tcPr marL="36576" marR="36576" marT="27432" marB="27432">
                    <a:solidFill>
                      <a:srgbClr val="F5F5F5"/>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6: Current Project Status</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6 in Appendix A to generate the visual image.</a:t>
            </a:r>
          </a:p>
        </p:txBody>
      </p:sp>
      <p:graphicFrame>
        <p:nvGraphicFramePr>
          <p:cNvPr id="5" name="Table 4"/>
          <p:cNvGraphicFramePr>
            <a:graphicFrameLocks noGrp="1"/>
          </p:cNvGraphicFramePr>
          <p:nvPr/>
        </p:nvGraphicFramePr>
        <p:xfrm>
          <a:off x="457200" y="1188720"/>
          <a:ext cx="5943597" cy="2286000"/>
        </p:xfrm>
        <a:graphic>
          <a:graphicData uri="http://schemas.openxmlformats.org/drawingml/2006/table">
            <a:tbl>
              <a:tblPr firstRow="1" bandRow="1">
                <a:tableStyleId>{5C22544A-7EE6-4342-B048-85BDC9FD1C3A}</a:tableStyleId>
              </a:tblPr>
              <a:tblGrid>
                <a:gridCol w="1981199"/>
                <a:gridCol w="1981199"/>
                <a:gridCol w="1981199"/>
              </a:tblGrid>
              <a:tr h="457200">
                <a:tc>
                  <a:txBody>
                    <a:bodyPr/>
                    <a:lstStyle/>
                    <a:p>
                      <a:pPr>
                        <a:defRPr sz="900" b="1">
                          <a:solidFill>
                            <a:srgbClr val="FFFFFF"/>
                          </a:solidFill>
                          <a:latin typeface="Arial"/>
                        </a:defRPr>
                      </a:pPr>
                      <a:r>
                        <a:t>Phase</a:t>
                      </a:r>
                    </a:p>
                  </a:txBody>
                  <a:tcPr marL="36576" marR="36576" marT="27432" marB="27432">
                    <a:solidFill>
                      <a:srgbClr val="0F5132"/>
                    </a:solidFill>
                  </a:tcPr>
                </a:tc>
                <a:tc>
                  <a:txBody>
                    <a:bodyPr/>
                    <a:lstStyle/>
                    <a:p>
                      <a:pPr>
                        <a:defRPr sz="900" b="1">
                          <a:solidFill>
                            <a:srgbClr val="FFFFFF"/>
                          </a:solidFill>
                          <a:latin typeface="Arial"/>
                        </a:defRPr>
                      </a:pPr>
                      <a:r>
                        <a:t>Scope</a:t>
                      </a:r>
                    </a:p>
                  </a:txBody>
                  <a:tcPr marL="36576" marR="36576" marT="27432" marB="27432">
                    <a:solidFill>
                      <a:srgbClr val="0F5132"/>
                    </a:solidFill>
                  </a:tcPr>
                </a:tc>
                <a:tc>
                  <a:txBody>
                    <a:bodyPr/>
                    <a:lstStyle/>
                    <a:p>
                      <a:pPr>
                        <a:defRPr sz="900" b="1">
                          <a:solidFill>
                            <a:srgbClr val="FFFFFF"/>
                          </a:solidFill>
                          <a:latin typeface="Arial"/>
                        </a:defRPr>
                      </a:pPr>
                      <a:r>
                        <a:t>Status</a:t>
                      </a:r>
                    </a:p>
                  </a:txBody>
                  <a:tcPr marL="36576" marR="36576" marT="27432" marB="27432">
                    <a:solidFill>
                      <a:srgbClr val="0F5132"/>
                    </a:solidFill>
                  </a:tcPr>
                </a:tc>
              </a:tr>
              <a:tr h="457200">
                <a:tc>
                  <a:txBody>
                    <a:bodyPr/>
                    <a:lstStyle/>
                    <a:p>
                      <a:pPr>
                        <a:defRPr sz="900" b="1">
                          <a:solidFill>
                            <a:srgbClr val="212529"/>
                          </a:solidFill>
                          <a:latin typeface="Arial"/>
                        </a:defRPr>
                      </a:pPr>
                      <a:r>
                        <a:t>**Phase 1** — Requirements &amp; Proposal (Weeks 1–4)</a:t>
                      </a:r>
                    </a:p>
                  </a:txBody>
                  <a:tcPr marL="36576" marR="36576" marT="27432" marB="27432">
                    <a:solidFill>
                      <a:srgbClr val="F5F5F5"/>
                    </a:solidFill>
                  </a:tcPr>
                </a:tc>
                <a:tc>
                  <a:txBody>
                    <a:bodyPr/>
                    <a:lstStyle/>
                    <a:p>
                      <a:pPr>
                        <a:defRPr sz="900" b="0">
                          <a:solidFill>
                            <a:srgbClr val="212529"/>
                          </a:solidFill>
                          <a:latin typeface="Arial"/>
                        </a:defRPr>
                      </a:pPr>
                      <a:r>
                        <a:t>Problem defined, literature reviewed, proposal approved</a:t>
                      </a:r>
                    </a:p>
                  </a:txBody>
                  <a:tcPr marL="36576" marR="36576" marT="27432" marB="27432">
                    <a:solidFill>
                      <a:srgbClr val="F5F5F5"/>
                    </a:solidFill>
                  </a:tcPr>
                </a:tc>
                <a:tc>
                  <a:txBody>
                    <a:bodyPr/>
                    <a:lstStyle/>
                    <a:p>
                      <a:pPr>
                        <a:defRPr sz="900" b="0">
                          <a:solidFill>
                            <a:srgbClr val="212529"/>
                          </a:solidFill>
                          <a:latin typeface="Arial"/>
                        </a:defRPr>
                      </a:pPr>
                      <a:r>
                        <a:t>✅ Done</a:t>
                      </a:r>
                    </a:p>
                  </a:txBody>
                  <a:tcPr marL="36576" marR="36576" marT="27432" marB="27432">
                    <a:solidFill>
                      <a:srgbClr val="F5F5F5"/>
                    </a:solidFill>
                  </a:tcPr>
                </a:tc>
              </a:tr>
              <a:tr h="457200">
                <a:tc>
                  <a:txBody>
                    <a:bodyPr/>
                    <a:lstStyle/>
                    <a:p>
                      <a:pPr>
                        <a:defRPr sz="900" b="1">
                          <a:solidFill>
                            <a:srgbClr val="212529"/>
                          </a:solidFill>
                          <a:latin typeface="Arial"/>
                        </a:defRPr>
                      </a:pPr>
                      <a:r>
                        <a:t>**Phase 2** — Design &amp; Data Preparation (Weeks 3–5)</a:t>
                      </a:r>
                    </a:p>
                  </a:txBody>
                  <a:tcPr marL="36576" marR="36576" marT="27432" marB="27432">
                    <a:solidFill>
                      <a:srgbClr val="F5F5F5"/>
                    </a:solidFill>
                  </a:tcPr>
                </a:tc>
                <a:tc>
                  <a:txBody>
                    <a:bodyPr/>
                    <a:lstStyle/>
                    <a:p>
                      <a:pPr>
                        <a:defRPr sz="900" b="0">
                          <a:solidFill>
                            <a:srgbClr val="212529"/>
                          </a:solidFill>
                          <a:latin typeface="Arial"/>
                        </a:defRPr>
                      </a:pPr>
                      <a:r>
                        <a:t>9-category system locked, 227,490 images collected, duplicates removed, data split</a:t>
                      </a:r>
                    </a:p>
                  </a:txBody>
                  <a:tcPr marL="36576" marR="36576" marT="27432" marB="27432">
                    <a:solidFill>
                      <a:srgbClr val="F5F5F5"/>
                    </a:solidFill>
                  </a:tcPr>
                </a:tc>
                <a:tc>
                  <a:txBody>
                    <a:bodyPr/>
                    <a:lstStyle/>
                    <a:p>
                      <a:pPr>
                        <a:defRPr sz="900" b="0">
                          <a:solidFill>
                            <a:srgbClr val="212529"/>
                          </a:solidFill>
                          <a:latin typeface="Arial"/>
                        </a:defRPr>
                      </a:pPr>
                      <a:r>
                        <a:t>✅ Done</a:t>
                      </a:r>
                    </a:p>
                  </a:txBody>
                  <a:tcPr marL="36576" marR="36576" marT="27432" marB="27432">
                    <a:solidFill>
                      <a:srgbClr val="F5F5F5"/>
                    </a:solidFill>
                  </a:tcPr>
                </a:tc>
              </a:tr>
              <a:tr h="457200">
                <a:tc>
                  <a:txBody>
                    <a:bodyPr/>
                    <a:lstStyle/>
                    <a:p>
                      <a:pPr>
                        <a:defRPr sz="900" b="1">
                          <a:solidFill>
                            <a:srgbClr val="212529"/>
                          </a:solidFill>
                          <a:latin typeface="Arial"/>
                        </a:defRPr>
                      </a:pPr>
                      <a:r>
                        <a:t>**Phase 3** — Development &amp; Integration (Weeks 4–5)</a:t>
                      </a:r>
                    </a:p>
                  </a:txBody>
                  <a:tcPr marL="36576" marR="36576" marT="27432" marB="27432">
                    <a:solidFill>
                      <a:srgbClr val="F5F5F5"/>
                    </a:solidFill>
                  </a:tcPr>
                </a:tc>
                <a:tc>
                  <a:txBody>
                    <a:bodyPr/>
                    <a:lstStyle/>
                    <a:p>
                      <a:pPr>
                        <a:defRPr sz="900" b="0">
                          <a:solidFill>
                            <a:srgbClr val="212529"/>
                          </a:solidFill>
                          <a:latin typeface="Arial"/>
                        </a:defRPr>
                      </a:pPr>
                      <a:r>
                        <a:t>AI model training running, individual quality checks in progress, data pipeline being built</a:t>
                      </a:r>
                    </a:p>
                  </a:txBody>
                  <a:tcPr marL="36576" marR="36576" marT="27432" marB="27432">
                    <a:solidFill>
                      <a:srgbClr val="F5F5F5"/>
                    </a:solidFill>
                  </a:tcPr>
                </a:tc>
                <a:tc>
                  <a:txBody>
                    <a:bodyPr/>
                    <a:lstStyle/>
                    <a:p>
                      <a:pPr>
                        <a:defRPr sz="900" b="0">
                          <a:solidFill>
                            <a:srgbClr val="212529"/>
                          </a:solidFill>
                          <a:latin typeface="Arial"/>
                        </a:defRPr>
                      </a:pPr>
                      <a:r>
                        <a:t>🔄 In Progress</a:t>
                      </a:r>
                    </a:p>
                  </a:txBody>
                  <a:tcPr marL="36576" marR="36576" marT="27432" marB="27432">
                    <a:solidFill>
                      <a:srgbClr val="F5F5F5"/>
                    </a:solidFill>
                  </a:tcPr>
                </a:tc>
              </a:tr>
              <a:tr h="457200">
                <a:tc>
                  <a:txBody>
                    <a:bodyPr/>
                    <a:lstStyle/>
                    <a:p>
                      <a:pPr>
                        <a:defRPr sz="900" b="1">
                          <a:solidFill>
                            <a:srgbClr val="212529"/>
                          </a:solidFill>
                          <a:latin typeface="Arial"/>
                        </a:defRPr>
                      </a:pPr>
                      <a:r>
                        <a:t>**Phase 4** — Testing &amp; Control (Weeks 6–10)</a:t>
                      </a:r>
                    </a:p>
                  </a:txBody>
                  <a:tcPr marL="36576" marR="36576" marT="27432" marB="27432">
                    <a:solidFill>
                      <a:srgbClr val="F5F5F5"/>
                    </a:solidFill>
                  </a:tcPr>
                </a:tc>
                <a:tc>
                  <a:txBody>
                    <a:bodyPr/>
                    <a:lstStyle/>
                    <a:p>
                      <a:pPr>
                        <a:defRPr sz="900" b="0">
                          <a:solidFill>
                            <a:srgbClr val="212529"/>
                          </a:solidFill>
                          <a:latin typeface="Arial"/>
                        </a:defRPr>
                      </a:pPr>
                      <a:r>
                        <a:t>Full system speed test, 100 real-world photo test, AI self-improvement loop</a:t>
                      </a:r>
                    </a:p>
                  </a:txBody>
                  <a:tcPr marL="36576" marR="36576" marT="27432" marB="27432">
                    <a:solidFill>
                      <a:srgbClr val="F5F5F5"/>
                    </a:solidFill>
                  </a:tcPr>
                </a:tc>
                <a:tc>
                  <a:txBody>
                    <a:bodyPr/>
                    <a:lstStyle/>
                    <a:p>
                      <a:pPr>
                        <a:defRPr sz="900" b="0">
                          <a:solidFill>
                            <a:srgbClr val="212529"/>
                          </a:solidFill>
                          <a:latin typeface="Arial"/>
                        </a:defRPr>
                      </a:pPr>
                      <a:r>
                        <a:t>⏳ Pending</a:t>
                      </a:r>
                    </a:p>
                  </a:txBody>
                  <a:tcPr marL="36576" marR="36576" marT="27432" marB="27432">
                    <a:solidFill>
                      <a:srgbClr val="F5F5F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7: Project Schedule: Actual vs. Planned Timeline</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7 in Appendix A to generate the visual image.</a:t>
            </a:r>
          </a:p>
        </p:txBody>
      </p:sp>
      <p:sp>
        <p:nvSpPr>
          <p:cNvPr id="5" name="TextBox 4"/>
          <p:cNvSpPr txBox="1"/>
          <p:nvPr/>
        </p:nvSpPr>
        <p:spPr>
          <a:xfrm>
            <a:off x="457200" y="1188720"/>
            <a:ext cx="5943600" cy="411479"/>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Schedule Comparison (Weeks 1–10):</a:t>
            </a:r>
          </a:p>
        </p:txBody>
      </p:sp>
      <p:graphicFrame>
        <p:nvGraphicFramePr>
          <p:cNvPr id="6" name="Table 5"/>
          <p:cNvGraphicFramePr>
            <a:graphicFrameLocks noGrp="1"/>
          </p:cNvGraphicFramePr>
          <p:nvPr/>
        </p:nvGraphicFramePr>
        <p:xfrm>
          <a:off x="457200" y="1600200"/>
          <a:ext cx="5943600" cy="118872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37744">
                <a:tc>
                  <a:txBody>
                    <a:bodyPr/>
                    <a:lstStyle/>
                    <a:p>
                      <a:pPr>
                        <a:defRPr sz="900" b="1">
                          <a:solidFill>
                            <a:srgbClr val="FFFFFF"/>
                          </a:solidFill>
                          <a:latin typeface="Arial"/>
                        </a:defRPr>
                      </a:pPr>
                      <a:r>
                        <a:t>Phase</a:t>
                      </a:r>
                    </a:p>
                  </a:txBody>
                  <a:tcPr marL="36576" marR="36576" marT="27432" marB="27432">
                    <a:solidFill>
                      <a:srgbClr val="0F5132"/>
                    </a:solidFill>
                  </a:tcPr>
                </a:tc>
                <a:tc>
                  <a:txBody>
                    <a:bodyPr/>
                    <a:lstStyle/>
                    <a:p>
                      <a:pPr>
                        <a:defRPr sz="900" b="1">
                          <a:solidFill>
                            <a:srgbClr val="FFFFFF"/>
                          </a:solidFill>
                          <a:latin typeface="Arial"/>
                        </a:defRPr>
                      </a:pPr>
                      <a:r>
                        <a:t>Activity</a:t>
                      </a:r>
                    </a:p>
                  </a:txBody>
                  <a:tcPr marL="36576" marR="36576" marT="27432" marB="27432">
                    <a:solidFill>
                      <a:srgbClr val="0F5132"/>
                    </a:solidFill>
                  </a:tcPr>
                </a:tc>
                <a:tc>
                  <a:txBody>
                    <a:bodyPr/>
                    <a:lstStyle/>
                    <a:p>
                      <a:pPr>
                        <a:defRPr sz="900" b="1">
                          <a:solidFill>
                            <a:srgbClr val="FFFFFF"/>
                          </a:solidFill>
                          <a:latin typeface="Arial"/>
                        </a:defRPr>
                      </a:pPr>
                      <a:r>
                        <a:t>Planned Timeline</a:t>
                      </a:r>
                    </a:p>
                  </a:txBody>
                  <a:tcPr marL="36576" marR="36576" marT="27432" marB="27432">
                    <a:solidFill>
                      <a:srgbClr val="0F5132"/>
                    </a:solidFill>
                  </a:tcPr>
                </a:tc>
                <a:tc>
                  <a:txBody>
                    <a:bodyPr/>
                    <a:lstStyle/>
                    <a:p>
                      <a:pPr>
                        <a:defRPr sz="900" b="1">
                          <a:solidFill>
                            <a:srgbClr val="FFFFFF"/>
                          </a:solidFill>
                          <a:latin typeface="Arial"/>
                        </a:defRPr>
                      </a:pPr>
                      <a:r>
                        <a:t>Actual Timeline</a:t>
                      </a:r>
                    </a:p>
                  </a:txBody>
                  <a:tcPr marL="36576" marR="36576" marT="27432" marB="27432">
                    <a:solidFill>
                      <a:srgbClr val="0F5132"/>
                    </a:solidFill>
                  </a:tcPr>
                </a:tc>
                <a:tc>
                  <a:txBody>
                    <a:bodyPr/>
                    <a:lstStyle/>
                    <a:p>
                      <a:pPr>
                        <a:defRPr sz="900" b="1">
                          <a:solidFill>
                            <a:srgbClr val="FFFFFF"/>
                          </a:solidFill>
                          <a:latin typeface="Arial"/>
                        </a:defRPr>
                      </a:pPr>
                      <a:r>
                        <a:t>Status</a:t>
                      </a:r>
                    </a:p>
                  </a:txBody>
                  <a:tcPr marL="36576" marR="36576" marT="27432" marB="27432">
                    <a:solidFill>
                      <a:srgbClr val="0F5132"/>
                    </a:solidFill>
                  </a:tcPr>
                </a:tc>
              </a:tr>
              <a:tr h="237744">
                <a:tc>
                  <a:txBody>
                    <a:bodyPr/>
                    <a:lstStyle/>
                    <a:p>
                      <a:pPr>
                        <a:defRPr sz="900" b="1">
                          <a:solidFill>
                            <a:srgbClr val="212529"/>
                          </a:solidFill>
                          <a:latin typeface="Arial"/>
                        </a:defRPr>
                      </a:pPr>
                      <a:r>
                        <a:t>**Phase 1**</a:t>
                      </a:r>
                    </a:p>
                  </a:txBody>
                  <a:tcPr marL="36576" marR="36576" marT="27432" marB="27432">
                    <a:solidFill>
                      <a:srgbClr val="F5F5F5"/>
                    </a:solidFill>
                  </a:tcPr>
                </a:tc>
                <a:tc>
                  <a:txBody>
                    <a:bodyPr/>
                    <a:lstStyle/>
                    <a:p>
                      <a:pPr>
                        <a:defRPr sz="900" b="0">
                          <a:solidFill>
                            <a:srgbClr val="212529"/>
                          </a:solidFill>
                          <a:latin typeface="Arial"/>
                        </a:defRPr>
                      </a:pPr>
                      <a:r>
                        <a:t>Requirements &amp; Proposal</a:t>
                      </a:r>
                    </a:p>
                  </a:txBody>
                  <a:tcPr marL="36576" marR="36576" marT="27432" marB="27432">
                    <a:solidFill>
                      <a:srgbClr val="F5F5F5"/>
                    </a:solidFill>
                  </a:tcPr>
                </a:tc>
                <a:tc>
                  <a:txBody>
                    <a:bodyPr/>
                    <a:lstStyle/>
                    <a:p>
                      <a:pPr>
                        <a:defRPr sz="900" b="0">
                          <a:solidFill>
                            <a:srgbClr val="212529"/>
                          </a:solidFill>
                          <a:latin typeface="Arial"/>
                        </a:defRPr>
                      </a:pPr>
                      <a:r>
                        <a:t>Weeks 1–4</a:t>
                      </a:r>
                    </a:p>
                  </a:txBody>
                  <a:tcPr marL="36576" marR="36576" marT="27432" marB="27432">
                    <a:solidFill>
                      <a:srgbClr val="F5F5F5"/>
                    </a:solidFill>
                  </a:tcPr>
                </a:tc>
                <a:tc>
                  <a:txBody>
                    <a:bodyPr/>
                    <a:lstStyle/>
                    <a:p>
                      <a:pPr>
                        <a:defRPr sz="900" b="0">
                          <a:solidFill>
                            <a:srgbClr val="212529"/>
                          </a:solidFill>
                          <a:latin typeface="Arial"/>
                        </a:defRPr>
                      </a:pPr>
                      <a:r>
                        <a:t>Weeks 1–4</a:t>
                      </a:r>
                    </a:p>
                  </a:txBody>
                  <a:tcPr marL="36576" marR="36576" marT="27432" marB="27432">
                    <a:solidFill>
                      <a:srgbClr val="F5F5F5"/>
                    </a:solidFill>
                  </a:tcPr>
                </a:tc>
                <a:tc>
                  <a:txBody>
                    <a:bodyPr/>
                    <a:lstStyle/>
                    <a:p>
                      <a:pPr>
                        <a:defRPr sz="900" b="0">
                          <a:solidFill>
                            <a:srgbClr val="212529"/>
                          </a:solidFill>
                          <a:latin typeface="Arial"/>
                        </a:defRPr>
                      </a:pPr>
                      <a:r>
                        <a:t>✅ Done</a:t>
                      </a:r>
                    </a:p>
                  </a:txBody>
                  <a:tcPr marL="36576" marR="36576" marT="27432" marB="27432">
                    <a:solidFill>
                      <a:srgbClr val="F5F5F5"/>
                    </a:solidFill>
                  </a:tcPr>
                </a:tc>
              </a:tr>
              <a:tr h="237744">
                <a:tc>
                  <a:txBody>
                    <a:bodyPr/>
                    <a:lstStyle/>
                    <a:p>
                      <a:pPr>
                        <a:defRPr sz="900" b="1">
                          <a:solidFill>
                            <a:srgbClr val="212529"/>
                          </a:solidFill>
                          <a:latin typeface="Arial"/>
                        </a:defRPr>
                      </a:pPr>
                      <a:r>
                        <a:t>**Phase 2**</a:t>
                      </a:r>
                    </a:p>
                  </a:txBody>
                  <a:tcPr marL="36576" marR="36576" marT="27432" marB="27432">
                    <a:solidFill>
                      <a:srgbClr val="F5F5F5"/>
                    </a:solidFill>
                  </a:tcPr>
                </a:tc>
                <a:tc>
                  <a:txBody>
                    <a:bodyPr/>
                    <a:lstStyle/>
                    <a:p>
                      <a:pPr>
                        <a:defRPr sz="900" b="0">
                          <a:solidFill>
                            <a:srgbClr val="212529"/>
                          </a:solidFill>
                          <a:latin typeface="Arial"/>
                        </a:defRPr>
                      </a:pPr>
                      <a:r>
                        <a:t>Design &amp; Data Preparation</a:t>
                      </a:r>
                    </a:p>
                  </a:txBody>
                  <a:tcPr marL="36576" marR="36576" marT="27432" marB="27432">
                    <a:solidFill>
                      <a:srgbClr val="F5F5F5"/>
                    </a:solidFill>
                  </a:tcPr>
                </a:tc>
                <a:tc>
                  <a:txBody>
                    <a:bodyPr/>
                    <a:lstStyle/>
                    <a:p>
                      <a:pPr>
                        <a:defRPr sz="900" b="0">
                          <a:solidFill>
                            <a:srgbClr val="212529"/>
                          </a:solidFill>
                          <a:latin typeface="Arial"/>
                        </a:defRPr>
                      </a:pPr>
                      <a:r>
                        <a:t>Weeks 3–5</a:t>
                      </a:r>
                    </a:p>
                  </a:txBody>
                  <a:tcPr marL="36576" marR="36576" marT="27432" marB="27432">
                    <a:solidFill>
                      <a:srgbClr val="F5F5F5"/>
                    </a:solidFill>
                  </a:tcPr>
                </a:tc>
                <a:tc>
                  <a:txBody>
                    <a:bodyPr/>
                    <a:lstStyle/>
                    <a:p>
                      <a:pPr>
                        <a:defRPr sz="900" b="0">
                          <a:solidFill>
                            <a:srgbClr val="212529"/>
                          </a:solidFill>
                          <a:latin typeface="Arial"/>
                        </a:defRPr>
                      </a:pPr>
                      <a:r>
                        <a:t>Weeks 3–5</a:t>
                      </a:r>
                    </a:p>
                  </a:txBody>
                  <a:tcPr marL="36576" marR="36576" marT="27432" marB="27432">
                    <a:solidFill>
                      <a:srgbClr val="F5F5F5"/>
                    </a:solidFill>
                  </a:tcPr>
                </a:tc>
                <a:tc>
                  <a:txBody>
                    <a:bodyPr/>
                    <a:lstStyle/>
                    <a:p>
                      <a:pPr>
                        <a:defRPr sz="900" b="0">
                          <a:solidFill>
                            <a:srgbClr val="212529"/>
                          </a:solidFill>
                          <a:latin typeface="Arial"/>
                        </a:defRPr>
                      </a:pPr>
                      <a:r>
                        <a:t>✅ Done</a:t>
                      </a:r>
                    </a:p>
                  </a:txBody>
                  <a:tcPr marL="36576" marR="36576" marT="27432" marB="27432">
                    <a:solidFill>
                      <a:srgbClr val="F5F5F5"/>
                    </a:solidFill>
                  </a:tcPr>
                </a:tc>
              </a:tr>
              <a:tr h="237744">
                <a:tc>
                  <a:txBody>
                    <a:bodyPr/>
                    <a:lstStyle/>
                    <a:p>
                      <a:pPr>
                        <a:defRPr sz="900" b="1">
                          <a:solidFill>
                            <a:srgbClr val="212529"/>
                          </a:solidFill>
                          <a:latin typeface="Arial"/>
                        </a:defRPr>
                      </a:pPr>
                      <a:r>
                        <a:t>**Phase 3**</a:t>
                      </a:r>
                    </a:p>
                  </a:txBody>
                  <a:tcPr marL="36576" marR="36576" marT="27432" marB="27432">
                    <a:solidFill>
                      <a:srgbClr val="F5F5F5"/>
                    </a:solidFill>
                  </a:tcPr>
                </a:tc>
                <a:tc>
                  <a:txBody>
                    <a:bodyPr/>
                    <a:lstStyle/>
                    <a:p>
                      <a:pPr>
                        <a:defRPr sz="900" b="0">
                          <a:solidFill>
                            <a:srgbClr val="212529"/>
                          </a:solidFill>
                          <a:latin typeface="Arial"/>
                        </a:defRPr>
                      </a:pPr>
                      <a:r>
                        <a:t>Development &amp; Diagnostic Run</a:t>
                      </a:r>
                    </a:p>
                  </a:txBody>
                  <a:tcPr marL="36576" marR="36576" marT="27432" marB="27432">
                    <a:solidFill>
                      <a:srgbClr val="F5F5F5"/>
                    </a:solidFill>
                  </a:tcPr>
                </a:tc>
                <a:tc>
                  <a:txBody>
                    <a:bodyPr/>
                    <a:lstStyle/>
                    <a:p>
                      <a:pPr>
                        <a:defRPr sz="900" b="0">
                          <a:solidFill>
                            <a:srgbClr val="212529"/>
                          </a:solidFill>
                          <a:latin typeface="Arial"/>
                        </a:defRPr>
                      </a:pPr>
                      <a:r>
                        <a:t>Weeks 4–5</a:t>
                      </a:r>
                    </a:p>
                  </a:txBody>
                  <a:tcPr marL="36576" marR="36576" marT="27432" marB="27432">
                    <a:solidFill>
                      <a:srgbClr val="F5F5F5"/>
                    </a:solidFill>
                  </a:tcPr>
                </a:tc>
                <a:tc>
                  <a:txBody>
                    <a:bodyPr/>
                    <a:lstStyle/>
                    <a:p>
                      <a:pPr>
                        <a:defRPr sz="900" b="0">
                          <a:solidFill>
                            <a:srgbClr val="212529"/>
                          </a:solidFill>
                          <a:latin typeface="Arial"/>
                        </a:defRPr>
                      </a:pPr>
                      <a:r>
                        <a:t>Weeks 4–5</a:t>
                      </a:r>
                    </a:p>
                  </a:txBody>
                  <a:tcPr marL="36576" marR="36576" marT="27432" marB="27432">
                    <a:solidFill>
                      <a:srgbClr val="F5F5F5"/>
                    </a:solidFill>
                  </a:tcPr>
                </a:tc>
                <a:tc>
                  <a:txBody>
                    <a:bodyPr/>
                    <a:lstStyle/>
                    <a:p>
                      <a:pPr>
                        <a:defRPr sz="900" b="0">
                          <a:solidFill>
                            <a:srgbClr val="212529"/>
                          </a:solidFill>
                          <a:latin typeface="Arial"/>
                        </a:defRPr>
                      </a:pPr>
                      <a:r>
                        <a:t>🔄 Active</a:t>
                      </a:r>
                    </a:p>
                  </a:txBody>
                  <a:tcPr marL="36576" marR="36576" marT="27432" marB="27432">
                    <a:solidFill>
                      <a:srgbClr val="F5F5F5"/>
                    </a:solidFill>
                  </a:tcPr>
                </a:tc>
              </a:tr>
              <a:tr h="237744">
                <a:tc>
                  <a:txBody>
                    <a:bodyPr/>
                    <a:lstStyle/>
                    <a:p>
                      <a:pPr>
                        <a:defRPr sz="900" b="1">
                          <a:solidFill>
                            <a:srgbClr val="212529"/>
                          </a:solidFill>
                          <a:latin typeface="Arial"/>
                        </a:defRPr>
                      </a:pPr>
                      <a:r>
                        <a:t>**Phase 4**</a:t>
                      </a:r>
                    </a:p>
                  </a:txBody>
                  <a:tcPr marL="36576" marR="36576" marT="27432" marB="27432">
                    <a:solidFill>
                      <a:srgbClr val="F5F5F5"/>
                    </a:solidFill>
                  </a:tcPr>
                </a:tc>
                <a:tc>
                  <a:txBody>
                    <a:bodyPr/>
                    <a:lstStyle/>
                    <a:p>
                      <a:pPr>
                        <a:defRPr sz="900" b="0">
                          <a:solidFill>
                            <a:srgbClr val="212529"/>
                          </a:solidFill>
                          <a:latin typeface="Arial"/>
                        </a:defRPr>
                      </a:pPr>
                      <a:r>
                        <a:t>Integration &amp; Control Testing</a:t>
                      </a:r>
                    </a:p>
                  </a:txBody>
                  <a:tcPr marL="36576" marR="36576" marT="27432" marB="27432">
                    <a:solidFill>
                      <a:srgbClr val="F5F5F5"/>
                    </a:solidFill>
                  </a:tcPr>
                </a:tc>
                <a:tc>
                  <a:txBody>
                    <a:bodyPr/>
                    <a:lstStyle/>
                    <a:p>
                      <a:pPr>
                        <a:defRPr sz="900" b="0">
                          <a:solidFill>
                            <a:srgbClr val="212529"/>
                          </a:solidFill>
                          <a:latin typeface="Arial"/>
                        </a:defRPr>
                      </a:pPr>
                      <a:r>
                        <a:t>Weeks 6–10</a:t>
                      </a:r>
                    </a:p>
                  </a:txBody>
                  <a:tcPr marL="36576" marR="36576" marT="27432" marB="27432">
                    <a:solidFill>
                      <a:srgbClr val="F5F5F5"/>
                    </a:solidFill>
                  </a:tcPr>
                </a:tc>
                <a:tc>
                  <a:txBody>
                    <a:bodyPr/>
                    <a:lstStyle/>
                    <a:p>
                      <a:pPr>
                        <a:defRPr sz="900" b="0">
                          <a:solidFill>
                            <a:srgbClr val="212529"/>
                          </a:solidFill>
                          <a:latin typeface="Arial"/>
                        </a:defRPr>
                      </a:pPr>
                      <a:r>
                        <a:t>Week 6 Started</a:t>
                      </a:r>
                    </a:p>
                  </a:txBody>
                  <a:tcPr marL="36576" marR="36576" marT="27432" marB="27432">
                    <a:solidFill>
                      <a:srgbClr val="F5F5F5"/>
                    </a:solidFill>
                  </a:tcPr>
                </a:tc>
                <a:tc>
                  <a:txBody>
                    <a:bodyPr/>
                    <a:lstStyle/>
                    <a:p>
                      <a:pPr>
                        <a:defRPr sz="900" b="0">
                          <a:solidFill>
                            <a:srgbClr val="212529"/>
                          </a:solidFill>
                          <a:latin typeface="Arial"/>
                        </a:defRPr>
                      </a:pPr>
                      <a:r>
                        <a:t>⏳ Pending</a:t>
                      </a:r>
                    </a:p>
                  </a:txBody>
                  <a:tcPr marL="36576" marR="36576" marT="27432" marB="27432">
                    <a:solidFill>
                      <a:srgbClr val="F5F5F5"/>
                    </a:solidFill>
                  </a:tcPr>
                </a:tc>
              </a:tr>
            </a:tbl>
          </a:graphicData>
        </a:graphic>
      </p:graphicFrame>
      <p:sp>
        <p:nvSpPr>
          <p:cNvPr id="7" name="TextBox 6"/>
          <p:cNvSpPr txBox="1"/>
          <p:nvPr/>
        </p:nvSpPr>
        <p:spPr>
          <a:xfrm>
            <a:off x="457200" y="2880360"/>
            <a:ext cx="5943600" cy="905256"/>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Schedule Compliance:</a:t>
            </a:r>
          </a:p>
          <a:p>
            <a:pPr lvl="1">
              <a:spcAft>
                <a:spcPts val="200"/>
              </a:spcAft>
              <a:defRPr sz="1100">
                <a:solidFill>
                  <a:srgbClr val="212529"/>
                </a:solidFill>
                <a:latin typeface="Arial"/>
              </a:defRPr>
            </a:pPr>
            <a:r>
              <a:t>Parallel task execution has eliminated bottlenecks.</a:t>
            </a:r>
          </a:p>
          <a:p>
            <a:pPr lvl="1">
              <a:spcAft>
                <a:spcPts val="200"/>
              </a:spcAft>
              <a:defRPr sz="1100">
                <a:solidFill>
                  <a:srgbClr val="212529"/>
                </a:solidFill>
                <a:latin typeface="Arial"/>
              </a:defRPr>
            </a:pPr>
            <a:r>
              <a:t>Zero schedule slippage. Critical milestones (proposal approval, dataset locked) met on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8: Key Project Challenges &amp; How We Solved Them</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8 in Appendix A to generate the visual image.</a:t>
            </a:r>
          </a:p>
        </p:txBody>
      </p:sp>
      <p:graphicFrame>
        <p:nvGraphicFramePr>
          <p:cNvPr id="5" name="Table 4"/>
          <p:cNvGraphicFramePr>
            <a:graphicFrameLocks noGrp="1"/>
          </p:cNvGraphicFramePr>
          <p:nvPr/>
        </p:nvGraphicFramePr>
        <p:xfrm>
          <a:off x="457200" y="1188720"/>
          <a:ext cx="5943597" cy="2615184"/>
        </p:xfrm>
        <a:graphic>
          <a:graphicData uri="http://schemas.openxmlformats.org/drawingml/2006/table">
            <a:tbl>
              <a:tblPr firstRow="1" bandRow="1">
                <a:tableStyleId>{5C22544A-7EE6-4342-B048-85BDC9FD1C3A}</a:tableStyleId>
              </a:tblPr>
              <a:tblGrid>
                <a:gridCol w="1981199"/>
                <a:gridCol w="1981199"/>
                <a:gridCol w="1981199"/>
              </a:tblGrid>
              <a:tr h="653796">
                <a:tc>
                  <a:txBody>
                    <a:bodyPr/>
                    <a:lstStyle/>
                    <a:p>
                      <a:pPr>
                        <a:defRPr sz="900" b="1">
                          <a:solidFill>
                            <a:srgbClr val="FFFFFF"/>
                          </a:solidFill>
                          <a:latin typeface="Arial"/>
                        </a:defRPr>
                      </a:pPr>
                      <a:r>
                        <a:t>Challenge</a:t>
                      </a:r>
                    </a:p>
                  </a:txBody>
                  <a:tcPr marL="36576" marR="36576" marT="27432" marB="27432">
                    <a:solidFill>
                      <a:srgbClr val="0F5132"/>
                    </a:solidFill>
                  </a:tcPr>
                </a:tc>
                <a:tc>
                  <a:txBody>
                    <a:bodyPr/>
                    <a:lstStyle/>
                    <a:p>
                      <a:pPr>
                        <a:defRPr sz="900" b="1">
                          <a:solidFill>
                            <a:srgbClr val="FFFFFF"/>
                          </a:solidFill>
                          <a:latin typeface="Arial"/>
                        </a:defRPr>
                      </a:pPr>
                      <a:r>
                        <a:t>What happened</a:t>
                      </a:r>
                    </a:p>
                  </a:txBody>
                  <a:tcPr marL="36576" marR="36576" marT="27432" marB="27432">
                    <a:solidFill>
                      <a:srgbClr val="0F5132"/>
                    </a:solidFill>
                  </a:tcPr>
                </a:tc>
                <a:tc>
                  <a:txBody>
                    <a:bodyPr/>
                    <a:lstStyle/>
                    <a:p>
                      <a:pPr>
                        <a:defRPr sz="900" b="1">
                          <a:solidFill>
                            <a:srgbClr val="FFFFFF"/>
                          </a:solidFill>
                          <a:latin typeface="Arial"/>
                        </a:defRPr>
                      </a:pPr>
                      <a:r>
                        <a:t>How we fixed it</a:t>
                      </a:r>
                    </a:p>
                  </a:txBody>
                  <a:tcPr marL="36576" marR="36576" marT="27432" marB="27432">
                    <a:solidFill>
                      <a:srgbClr val="0F5132"/>
                    </a:solidFill>
                  </a:tcPr>
                </a:tc>
              </a:tr>
              <a:tr h="653796">
                <a:tc>
                  <a:txBody>
                    <a:bodyPr/>
                    <a:lstStyle/>
                    <a:p>
                      <a:pPr>
                        <a:defRPr sz="900" b="1">
                          <a:solidFill>
                            <a:srgbClr val="212529"/>
                          </a:solidFill>
                          <a:latin typeface="Arial"/>
                        </a:defRPr>
                      </a:pPr>
                      <a:r>
                        <a:t>**Limited computing power**</a:t>
                      </a:r>
                    </a:p>
                  </a:txBody>
                  <a:tcPr marL="36576" marR="36576" marT="27432" marB="27432">
                    <a:solidFill>
                      <a:srgbClr val="F5F5F5"/>
                    </a:solidFill>
                  </a:tcPr>
                </a:tc>
                <a:tc>
                  <a:txBody>
                    <a:bodyPr/>
                    <a:lstStyle/>
                    <a:p>
                      <a:pPr>
                        <a:defRPr sz="900" b="0">
                          <a:solidFill>
                            <a:srgbClr val="212529"/>
                          </a:solidFill>
                          <a:latin typeface="Arial"/>
                        </a:defRPr>
                      </a:pPr>
                      <a:r>
                        <a:t>Free cloud GPU limits training time to 12 hours per session</a:t>
                      </a:r>
                    </a:p>
                  </a:txBody>
                  <a:tcPr marL="36576" marR="36576" marT="27432" marB="27432">
                    <a:solidFill>
                      <a:srgbClr val="F5F5F5"/>
                    </a:solidFill>
                  </a:tcPr>
                </a:tc>
                <a:tc>
                  <a:txBody>
                    <a:bodyPr/>
                    <a:lstStyle/>
                    <a:p>
                      <a:pPr>
                        <a:defRPr sz="900" b="0">
                          <a:solidFill>
                            <a:srgbClr val="212529"/>
                          </a:solidFill>
                          <a:latin typeface="Arial"/>
                        </a:defRPr>
                      </a:pPr>
                      <a:r>
                        <a:t>Saved progress every 5 training rounds; chose a model size balanced for accuracy vs. computing cost</a:t>
                      </a:r>
                    </a:p>
                  </a:txBody>
                  <a:tcPr marL="36576" marR="36576" marT="27432" marB="27432">
                    <a:solidFill>
                      <a:srgbClr val="F5F5F5"/>
                    </a:solidFill>
                  </a:tcPr>
                </a:tc>
              </a:tr>
              <a:tr h="653796">
                <a:tc>
                  <a:txBody>
                    <a:bodyPr/>
                    <a:lstStyle/>
                    <a:p>
                      <a:pPr>
                        <a:defRPr sz="900" b="1">
                          <a:solidFill>
                            <a:srgbClr val="212529"/>
                          </a:solidFill>
                          <a:latin typeface="Arial"/>
                        </a:defRPr>
                      </a:pPr>
                      <a:r>
                        <a:t>**Inconsistent item labelling**</a:t>
                      </a:r>
                    </a:p>
                  </a:txBody>
                  <a:tcPr marL="36576" marR="36576" marT="27432" marB="27432">
                    <a:solidFill>
                      <a:srgbClr val="F5F5F5"/>
                    </a:solidFill>
                  </a:tcPr>
                </a:tc>
                <a:tc>
                  <a:txBody>
                    <a:bodyPr/>
                    <a:lstStyle/>
                    <a:p>
                      <a:pPr>
                        <a:defRPr sz="900" b="0">
                          <a:solidFill>
                            <a:srgbClr val="212529"/>
                          </a:solidFill>
                          <a:latin typeface="Arial"/>
                        </a:defRPr>
                      </a:pPr>
                      <a:r>
                        <a:t>3 people drawing outlines around the same item may draw them differently</a:t>
                      </a:r>
                    </a:p>
                  </a:txBody>
                  <a:tcPr marL="36576" marR="36576" marT="27432" marB="27432">
                    <a:solidFill>
                      <a:srgbClr val="F5F5F5"/>
                    </a:solidFill>
                  </a:tcPr>
                </a:tc>
                <a:tc>
                  <a:txBody>
                    <a:bodyPr/>
                    <a:lstStyle/>
                    <a:p>
                      <a:pPr>
                        <a:defRPr sz="900" b="0">
                          <a:solidFill>
                            <a:srgbClr val="212529"/>
                          </a:solidFill>
                          <a:latin typeface="Arial"/>
                        </a:defRPr>
                      </a:pPr>
                      <a:r>
                        <a:t>Used the same smart labelling tool for everyone; locked a written rule guide (e.g., a dirty plastic bottle is still labelled "plastic", not "trash")</a:t>
                      </a:r>
                    </a:p>
                  </a:txBody>
                  <a:tcPr marL="36576" marR="36576" marT="27432" marB="27432">
                    <a:solidFill>
                      <a:srgbClr val="F5F5F5"/>
                    </a:solidFill>
                  </a:tcPr>
                </a:tc>
              </a:tr>
              <a:tr h="653796">
                <a:tc>
                  <a:txBody>
                    <a:bodyPr/>
                    <a:lstStyle/>
                    <a:p>
                      <a:pPr>
                        <a:defRPr sz="900" b="1">
                          <a:solidFill>
                            <a:srgbClr val="212529"/>
                          </a:solidFill>
                          <a:latin typeface="Arial"/>
                        </a:defRPr>
                      </a:pPr>
                      <a:r>
                        <a:t>**Too few battery images**</a:t>
                      </a:r>
                    </a:p>
                  </a:txBody>
                  <a:tcPr marL="36576" marR="36576" marT="27432" marB="27432">
                    <a:solidFill>
                      <a:srgbClr val="F5F5F5"/>
                    </a:solidFill>
                  </a:tcPr>
                </a:tc>
                <a:tc>
                  <a:txBody>
                    <a:bodyPr/>
                    <a:lstStyle/>
                    <a:p>
                      <a:pPr>
                        <a:defRPr sz="900" b="0">
                          <a:solidFill>
                            <a:srgbClr val="212529"/>
                          </a:solidFill>
                          <a:latin typeface="Arial"/>
                        </a:defRPr>
                      </a:pPr>
                      <a:r>
                        <a:t>Battery is rare in public datasets — the AI may never learn to recognise it</a:t>
                      </a:r>
                    </a:p>
                  </a:txBody>
                  <a:tcPr marL="36576" marR="36576" marT="27432" marB="27432">
                    <a:solidFill>
                      <a:srgbClr val="F5F5F5"/>
                    </a:solidFill>
                  </a:tcPr>
                </a:tc>
                <a:tc>
                  <a:txBody>
                    <a:bodyPr/>
                    <a:lstStyle/>
                    <a:p>
                      <a:pPr>
                        <a:defRPr sz="900" b="0">
                          <a:solidFill>
                            <a:srgbClr val="212529"/>
                          </a:solidFill>
                          <a:latin typeface="Arial"/>
                        </a:defRPr>
                      </a:pPr>
                      <a:r>
                        <a:t>Merged 6 separate datasets to reach 12,814 battery images; battery still uses a stricter accuracy gate than all other categories</a:t>
                      </a:r>
                    </a:p>
                  </a:txBody>
                  <a:tcPr marL="36576" marR="36576" marT="27432" marB="27432">
                    <a:solidFill>
                      <a:srgbClr val="F5F5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9: How the Whole System Works — The Big Picture</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9 in Appendix A to generate the visual image.</a:t>
            </a:r>
          </a:p>
        </p:txBody>
      </p:sp>
      <p:sp>
        <p:nvSpPr>
          <p:cNvPr id="5" name="TextBox 4"/>
          <p:cNvSpPr txBox="1"/>
          <p:nvPr/>
        </p:nvSpPr>
        <p:spPr>
          <a:xfrm>
            <a:off x="457200" y="1188720"/>
            <a:ext cx="5943600" cy="1234440"/>
          </a:xfrm>
          <a:prstGeom prst="rect">
            <a:avLst/>
          </a:prstGeom>
          <a:noFill/>
        </p:spPr>
        <p:txBody>
          <a:bodyPr wrap="square">
            <a:spAutoFit/>
          </a:bodyPr>
          <a:lstStyle/>
          <a:p>
            <a:pPr>
              <a:spcAft>
                <a:spcPts val="400"/>
              </a:spcAft>
              <a:defRPr sz="1100">
                <a:solidFill>
                  <a:srgbClr val="212529"/>
                </a:solidFill>
                <a:latin typeface="Arial"/>
              </a:defRPr>
            </a:pPr>
            <a:r>
              <a:t>```</a:t>
            </a:r>
          </a:p>
          <a:p>
            <a:pPr>
              <a:spcAft>
                <a:spcPts val="400"/>
              </a:spcAft>
              <a:defRPr sz="1100">
                <a:solidFill>
                  <a:srgbClr val="212529"/>
                </a:solidFill>
                <a:latin typeface="Arial"/>
              </a:defRPr>
            </a:pPr>
            <a:r>
              <a:t>[Rubbish on belt] → [Camera captures photo] → [AI identifies each item]</a:t>
            </a:r>
          </a:p>
          <a:p>
            <a:pPr>
              <a:spcAft>
                <a:spcPts val="400"/>
              </a:spcAft>
              <a:defRPr sz="1100">
                <a:solidFill>
                  <a:srgbClr val="212529"/>
                </a:solidFill>
                <a:latin typeface="Arial"/>
              </a:defRPr>
            </a:pPr>
            <a:r>
              <a:t>↓</a:t>
            </a:r>
          </a:p>
          <a:p>
            <a:pPr>
              <a:spcAft>
                <a:spcPts val="400"/>
              </a:spcAft>
              <a:defRPr sz="1100">
                <a:solidFill>
                  <a:srgbClr val="212529"/>
                </a:solidFill>
                <a:latin typeface="Arial"/>
              </a:defRPr>
            </a:pPr>
            <a:r>
              <a:t>[Dashboard + Carbon Report] ← [System sorts &amp; alerts]</a:t>
            </a:r>
          </a:p>
          <a:p>
            <a:pPr>
              <a:spcAft>
                <a:spcPts val="400"/>
              </a:spcAft>
              <a:defRPr sz="1100">
                <a:solidFill>
                  <a:srgbClr val="212529"/>
                </a:solidFill>
                <a:latin typeface="Arial"/>
              </a:defRPr>
            </a:pPr>
            <a:r>
              <a:t>```</a:t>
            </a:r>
          </a:p>
        </p:txBody>
      </p:sp>
      <p:graphicFrame>
        <p:nvGraphicFramePr>
          <p:cNvPr id="6" name="Table 5"/>
          <p:cNvGraphicFramePr>
            <a:graphicFrameLocks noGrp="1"/>
          </p:cNvGraphicFramePr>
          <p:nvPr/>
        </p:nvGraphicFramePr>
        <p:xfrm>
          <a:off x="457200" y="2423160"/>
          <a:ext cx="5943600" cy="1773936"/>
        </p:xfrm>
        <a:graphic>
          <a:graphicData uri="http://schemas.openxmlformats.org/drawingml/2006/table">
            <a:tbl>
              <a:tblPr firstRow="1" bandRow="1">
                <a:tableStyleId>{5C22544A-7EE6-4342-B048-85BDC9FD1C3A}</a:tableStyleId>
              </a:tblPr>
              <a:tblGrid>
                <a:gridCol w="2971800"/>
                <a:gridCol w="2971800"/>
              </a:tblGrid>
              <a:tr h="295656">
                <a:tc>
                  <a:txBody>
                    <a:bodyPr/>
                    <a:lstStyle/>
                    <a:p>
                      <a:pPr>
                        <a:defRPr sz="900" b="1">
                          <a:solidFill>
                            <a:srgbClr val="FFFFFF"/>
                          </a:solidFill>
                          <a:latin typeface="Arial"/>
                        </a:defRPr>
                      </a:pPr>
                      <a:r>
                        <a:t>Step</a:t>
                      </a:r>
                    </a:p>
                  </a:txBody>
                  <a:tcPr marL="36576" marR="36576" marT="27432" marB="27432">
                    <a:solidFill>
                      <a:srgbClr val="0F5132"/>
                    </a:solidFill>
                  </a:tcPr>
                </a:tc>
                <a:tc>
                  <a:txBody>
                    <a:bodyPr/>
                    <a:lstStyle/>
                    <a:p>
                      <a:pPr>
                        <a:defRPr sz="900" b="1">
                          <a:solidFill>
                            <a:srgbClr val="FFFFFF"/>
                          </a:solidFill>
                          <a:latin typeface="Arial"/>
                        </a:defRPr>
                      </a:pPr>
                      <a:r>
                        <a:t>What happens</a:t>
                      </a:r>
                    </a:p>
                  </a:txBody>
                  <a:tcPr marL="36576" marR="36576" marT="27432" marB="27432">
                    <a:solidFill>
                      <a:srgbClr val="0F5132"/>
                    </a:solidFill>
                  </a:tcPr>
                </a:tc>
              </a:tr>
              <a:tr h="295656">
                <a:tc>
                  <a:txBody>
                    <a:bodyPr/>
                    <a:lstStyle/>
                    <a:p>
                      <a:pPr>
                        <a:defRPr sz="900" b="1">
                          <a:solidFill>
                            <a:srgbClr val="212529"/>
                          </a:solidFill>
                          <a:latin typeface="Arial"/>
                        </a:defRPr>
                      </a:pPr>
                      <a:r>
                        <a:t>1</a:t>
                      </a:r>
                    </a:p>
                  </a:txBody>
                  <a:tcPr marL="36576" marR="36576" marT="27432" marB="27432">
                    <a:solidFill>
                      <a:srgbClr val="F5F5F5"/>
                    </a:solidFill>
                  </a:tcPr>
                </a:tc>
                <a:tc>
                  <a:txBody>
                    <a:bodyPr/>
                    <a:lstStyle/>
                    <a:p>
                      <a:pPr>
                        <a:defRPr sz="900" b="0">
                          <a:solidFill>
                            <a:srgbClr val="212529"/>
                          </a:solidFill>
                          <a:latin typeface="Arial"/>
                        </a:defRPr>
                      </a:pPr>
                      <a:r>
                        <a:t>Camera takes a photo of items on the conveyor belt</a:t>
                      </a:r>
                    </a:p>
                  </a:txBody>
                  <a:tcPr marL="36576" marR="36576" marT="27432" marB="27432">
                    <a:solidFill>
                      <a:srgbClr val="F5F5F5"/>
                    </a:solidFill>
                  </a:tcPr>
                </a:tc>
              </a:tr>
              <a:tr h="295656">
                <a:tc>
                  <a:txBody>
                    <a:bodyPr/>
                    <a:lstStyle/>
                    <a:p>
                      <a:pPr>
                        <a:defRPr sz="900" b="1">
                          <a:solidFill>
                            <a:srgbClr val="212529"/>
                          </a:solidFill>
                          <a:latin typeface="Arial"/>
                        </a:defRPr>
                      </a:pPr>
                      <a:r>
                        <a:t>2</a:t>
                      </a:r>
                    </a:p>
                  </a:txBody>
                  <a:tcPr marL="36576" marR="36576" marT="27432" marB="27432">
                    <a:solidFill>
                      <a:srgbClr val="F5F5F5"/>
                    </a:solidFill>
                  </a:tcPr>
                </a:tc>
                <a:tc>
                  <a:txBody>
                    <a:bodyPr/>
                    <a:lstStyle/>
                    <a:p>
                      <a:pPr>
                        <a:defRPr sz="900" b="0">
                          <a:solidFill>
                            <a:srgbClr val="212529"/>
                          </a:solidFill>
                          <a:latin typeface="Arial"/>
                        </a:defRPr>
                      </a:pPr>
                      <a:r>
                        <a:t>The photo is automatically picked up by the system</a:t>
                      </a:r>
                    </a:p>
                  </a:txBody>
                  <a:tcPr marL="36576" marR="36576" marT="27432" marB="27432">
                    <a:solidFill>
                      <a:srgbClr val="F5F5F5"/>
                    </a:solidFill>
                  </a:tcPr>
                </a:tc>
              </a:tr>
              <a:tr h="295656">
                <a:tc>
                  <a:txBody>
                    <a:bodyPr/>
                    <a:lstStyle/>
                    <a:p>
                      <a:pPr>
                        <a:defRPr sz="900" b="1">
                          <a:solidFill>
                            <a:srgbClr val="212529"/>
                          </a:solidFill>
                          <a:latin typeface="Arial"/>
                        </a:defRPr>
                      </a:pPr>
                      <a:r>
                        <a:t>3</a:t>
                      </a:r>
                    </a:p>
                  </a:txBody>
                  <a:tcPr marL="36576" marR="36576" marT="27432" marB="27432">
                    <a:solidFill>
                      <a:srgbClr val="F5F5F5"/>
                    </a:solidFill>
                  </a:tcPr>
                </a:tc>
                <a:tc>
                  <a:txBody>
                    <a:bodyPr/>
                    <a:lstStyle/>
                    <a:p>
                      <a:pPr>
                        <a:defRPr sz="900" b="0">
                          <a:solidFill>
                            <a:srgbClr val="212529"/>
                          </a:solidFill>
                          <a:latin typeface="Arial"/>
                        </a:defRPr>
                      </a:pPr>
                      <a:r>
                        <a:t>The AI looks at the photo and identifies every item — what it is and how certain it is</a:t>
                      </a:r>
                    </a:p>
                  </a:txBody>
                  <a:tcPr marL="36576" marR="36576" marT="27432" marB="27432">
                    <a:solidFill>
                      <a:srgbClr val="F5F5F5"/>
                    </a:solidFill>
                  </a:tcPr>
                </a:tc>
              </a:tr>
              <a:tr h="295656">
                <a:tc>
                  <a:txBody>
                    <a:bodyPr/>
                    <a:lstStyle/>
                    <a:p>
                      <a:pPr>
                        <a:defRPr sz="900" b="1">
                          <a:solidFill>
                            <a:srgbClr val="212529"/>
                          </a:solidFill>
                          <a:latin typeface="Arial"/>
                        </a:defRPr>
                      </a:pPr>
                      <a:r>
                        <a:t>4</a:t>
                      </a:r>
                    </a:p>
                  </a:txBody>
                  <a:tcPr marL="36576" marR="36576" marT="27432" marB="27432">
                    <a:solidFill>
                      <a:srgbClr val="F5F5F5"/>
                    </a:solidFill>
                  </a:tcPr>
                </a:tc>
                <a:tc>
                  <a:txBody>
                    <a:bodyPr/>
                    <a:lstStyle/>
                    <a:p>
                      <a:pPr>
                        <a:defRPr sz="900" b="0">
                          <a:solidFill>
                            <a:srgbClr val="212529"/>
                          </a:solidFill>
                          <a:latin typeface="Arial"/>
                        </a:defRPr>
                      </a:pPr>
                      <a:r>
                        <a:t>The system routes each item: accept, reject, or flag for human check</a:t>
                      </a:r>
                    </a:p>
                  </a:txBody>
                  <a:tcPr marL="36576" marR="36576" marT="27432" marB="27432">
                    <a:solidFill>
                      <a:srgbClr val="F5F5F5"/>
                    </a:solidFill>
                  </a:tcPr>
                </a:tc>
              </a:tr>
              <a:tr h="295656">
                <a:tc>
                  <a:txBody>
                    <a:bodyPr/>
                    <a:lstStyle/>
                    <a:p>
                      <a:pPr>
                        <a:defRPr sz="900" b="1">
                          <a:solidFill>
                            <a:srgbClr val="212529"/>
                          </a:solidFill>
                          <a:latin typeface="Arial"/>
                        </a:defRPr>
                      </a:pPr>
                      <a:r>
                        <a:t>5</a:t>
                      </a:r>
                    </a:p>
                  </a:txBody>
                  <a:tcPr marL="36576" marR="36576" marT="27432" marB="27432">
                    <a:solidFill>
                      <a:srgbClr val="F5F5F5"/>
                    </a:solidFill>
                  </a:tcPr>
                </a:tc>
                <a:tc>
                  <a:txBody>
                    <a:bodyPr/>
                    <a:lstStyle/>
                    <a:p>
                      <a:pPr>
                        <a:defRPr sz="900" b="0">
                          <a:solidFill>
                            <a:srgbClr val="212529"/>
                          </a:solidFill>
                          <a:latin typeface="Arial"/>
                        </a:defRPr>
                      </a:pPr>
                      <a:r>
                        <a:t>All results are saved. A live screen shows operators. A carbon report is generated.</a:t>
                      </a:r>
                    </a:p>
                  </a:txBody>
                  <a:tcPr marL="36576" marR="36576" marT="27432" marB="27432">
                    <a:solidFill>
                      <a:srgbClr val="F5F5F5"/>
                    </a:solidFill>
                  </a:tcPr>
                </a:tc>
              </a:tr>
            </a:tbl>
          </a:graphicData>
        </a:graphic>
      </p:graphicFrame>
      <p:sp>
        <p:nvSpPr>
          <p:cNvPr id="7" name="TextBox 6"/>
          <p:cNvSpPr txBox="1"/>
          <p:nvPr/>
        </p:nvSpPr>
        <p:spPr>
          <a:xfrm>
            <a:off x="457200" y="4288536"/>
            <a:ext cx="5943600" cy="493776"/>
          </a:xfrm>
          <a:prstGeom prst="rect">
            <a:avLst/>
          </a:prstGeom>
          <a:noFill/>
        </p:spPr>
        <p:txBody>
          <a:bodyPr wrap="square">
            <a:spAutoFit/>
          </a:bodyPr>
          <a:lstStyle/>
          <a:p>
            <a:pPr lvl="1">
              <a:spcAft>
                <a:spcPts val="200"/>
              </a:spcAft>
              <a:defRPr sz="1100">
                <a:solidFill>
                  <a:srgbClr val="212529"/>
                </a:solidFill>
                <a:latin typeface="Arial"/>
              </a:defRPr>
            </a:pPr>
            <a:r>
              <a:t>Before PurityLoop AI: 1 worker, manual inspection, ~30% error rate.</a:t>
            </a:r>
          </a:p>
          <a:p>
            <a:pPr lvl="1">
              <a:spcAft>
                <a:spcPts val="200"/>
              </a:spcAft>
              <a:defRPr sz="1100">
                <a:solidFill>
                  <a:srgbClr val="212529"/>
                </a:solidFill>
                <a:latin typeface="Arial"/>
              </a:defRPr>
            </a:pPr>
            <a:r>
              <a:t>After PurityLoop AI: 1 camera, automatic, target ≤10% error rate.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10: How the Analytics Wrap Around Everything</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10 in Appendix A to generate the visual image.</a:t>
            </a:r>
          </a:p>
        </p:txBody>
      </p:sp>
      <p:sp>
        <p:nvSpPr>
          <p:cNvPr id="5" name="TextBox 4"/>
          <p:cNvSpPr txBox="1"/>
          <p:nvPr/>
        </p:nvSpPr>
        <p:spPr>
          <a:xfrm>
            <a:off x="457200" y="1188720"/>
            <a:ext cx="5943600" cy="3761945"/>
          </a:xfrm>
          <a:prstGeom prst="rect">
            <a:avLst/>
          </a:prstGeom>
          <a:noFill/>
        </p:spPr>
        <p:txBody>
          <a:bodyPr wrap="square">
            <a:spAutoFit/>
          </a:bodyPr>
          <a:lstStyle/>
          <a:p>
            <a:pPr>
              <a:spcAft>
                <a:spcPts val="300"/>
              </a:spcAft>
              <a:defRPr sz="1000">
                <a:solidFill>
                  <a:srgbClr val="212529"/>
                </a:solidFill>
                <a:latin typeface="Arial"/>
              </a:defRPr>
            </a:pPr>
            <a:r>
              <a:t>Every technical output from the system — the AI results, the sorting decisions, the carbon calculations — feeds into business analytics tools that turn raw data into management decisions.</a:t>
            </a:r>
          </a:p>
          <a:p>
            <a:pPr>
              <a:spcBef>
                <a:spcPts val="500"/>
              </a:spcBef>
              <a:spcAft>
                <a:spcPts val="200"/>
              </a:spcAft>
              <a:defRPr sz="1300" b="1">
                <a:solidFill>
                  <a:srgbClr val="0F5132"/>
                </a:solidFill>
                <a:latin typeface="Arial"/>
              </a:defRPr>
            </a:pPr>
            <a:r>
              <a:t>The feedback loop:</a:t>
            </a:r>
          </a:p>
          <a:p>
            <a:pPr>
              <a:spcAft>
                <a:spcPts val="300"/>
              </a:spcAft>
              <a:defRPr sz="1000">
                <a:solidFill>
                  <a:srgbClr val="212529"/>
                </a:solidFill>
                <a:latin typeface="Arial"/>
              </a:defRPr>
            </a:pPr>
            <a:r>
              <a:t>```</a:t>
            </a:r>
          </a:p>
          <a:p>
            <a:pPr>
              <a:spcAft>
                <a:spcPts val="300"/>
              </a:spcAft>
              <a:defRPr sz="1000">
                <a:solidFill>
                  <a:srgbClr val="212529"/>
                </a:solidFill>
                <a:latin typeface="Arial"/>
              </a:defRPr>
            </a:pPr>
            <a:r>
              <a:t>[Conveyor belt detections]</a:t>
            </a:r>
          </a:p>
          <a:p>
            <a:pPr>
              <a:spcAft>
                <a:spcPts val="300"/>
              </a:spcAft>
              <a:defRPr sz="1000">
                <a:solidFill>
                  <a:srgbClr val="212529"/>
                </a:solidFill>
                <a:latin typeface="Arial"/>
              </a:defRPr>
            </a:pPr>
            <a:r>
              <a:t>↓</a:t>
            </a:r>
          </a:p>
          <a:p>
            <a:pPr>
              <a:spcAft>
                <a:spcPts val="300"/>
              </a:spcAft>
              <a:defRPr sz="1000">
                <a:solidFill>
                  <a:srgbClr val="212529"/>
                </a:solidFill>
                <a:latin typeface="Arial"/>
              </a:defRPr>
            </a:pPr>
            <a:r>
              <a:t>[Digital logbook accumulates records]</a:t>
            </a:r>
          </a:p>
          <a:p>
            <a:pPr>
              <a:spcAft>
                <a:spcPts val="300"/>
              </a:spcAft>
              <a:defRPr sz="1000">
                <a:solidFill>
                  <a:srgbClr val="212529"/>
                </a:solidFill>
                <a:latin typeface="Arial"/>
              </a:defRPr>
            </a:pPr>
            <a:r>
              <a:t>↓</a:t>
            </a:r>
          </a:p>
          <a:p>
            <a:pPr>
              <a:spcAft>
                <a:spcPts val="300"/>
              </a:spcAft>
              <a:defRPr sz="1000">
                <a:solidFill>
                  <a:srgbClr val="212529"/>
                </a:solidFill>
                <a:latin typeface="Arial"/>
              </a:defRPr>
            </a:pPr>
            <a:r>
              <a:t>[Analytics dashboard reads records → KPIs]</a:t>
            </a:r>
          </a:p>
          <a:p>
            <a:pPr>
              <a:spcAft>
                <a:spcPts val="300"/>
              </a:spcAft>
              <a:defRPr sz="1000">
                <a:solidFill>
                  <a:srgbClr val="212529"/>
                </a:solidFill>
                <a:latin typeface="Arial"/>
              </a:defRPr>
            </a:pPr>
            <a:r>
              <a:t>↓</a:t>
            </a:r>
          </a:p>
          <a:p>
            <a:pPr>
              <a:spcAft>
                <a:spcPts val="300"/>
              </a:spcAft>
              <a:defRPr sz="1000">
                <a:solidFill>
                  <a:srgbClr val="212529"/>
                </a:solidFill>
                <a:latin typeface="Arial"/>
              </a:defRPr>
            </a:pPr>
            <a:r>
              <a:t>[Management reviews KPIs → adjusts operations]</a:t>
            </a:r>
          </a:p>
          <a:p>
            <a:pPr>
              <a:spcAft>
                <a:spcPts val="300"/>
              </a:spcAft>
              <a:defRPr sz="1000">
                <a:solidFill>
                  <a:srgbClr val="212529"/>
                </a:solidFill>
                <a:latin typeface="Arial"/>
              </a:defRPr>
            </a:pPr>
            <a:r>
              <a:t>↓</a:t>
            </a:r>
          </a:p>
          <a:p>
            <a:pPr>
              <a:spcAft>
                <a:spcPts val="300"/>
              </a:spcAft>
              <a:defRPr sz="1000">
                <a:solidFill>
                  <a:srgbClr val="212529"/>
                </a:solidFill>
                <a:latin typeface="Arial"/>
              </a:defRPr>
            </a:pPr>
            <a:r>
              <a:t>[Better operations → cleaner sorting → better KPIs]</a:t>
            </a:r>
          </a:p>
          <a:p>
            <a:pPr>
              <a:spcAft>
                <a:spcPts val="300"/>
              </a:spcAft>
              <a:defRPr sz="1000">
                <a:solidFill>
                  <a:srgbClr val="212529"/>
                </a:solidFill>
                <a:latin typeface="Arial"/>
              </a:defRPr>
            </a:pPr>
            <a:r>
              <a:t>```</a:t>
            </a:r>
          </a:p>
          <a:p>
            <a:pPr>
              <a:spcBef>
                <a:spcPts val="500"/>
              </a:spcBef>
              <a:spcAft>
                <a:spcPts val="200"/>
              </a:spcAft>
              <a:defRPr sz="1300" b="1">
                <a:solidFill>
                  <a:srgbClr val="0F5132"/>
                </a:solidFill>
                <a:latin typeface="Arial"/>
              </a:defRPr>
            </a:pPr>
            <a:r>
              <a:t>What the analytics layer produces:</a:t>
            </a:r>
          </a:p>
        </p:txBody>
      </p:sp>
      <p:graphicFrame>
        <p:nvGraphicFramePr>
          <p:cNvPr id="6" name="Table 5"/>
          <p:cNvGraphicFramePr>
            <a:graphicFrameLocks noGrp="1"/>
          </p:cNvGraphicFramePr>
          <p:nvPr/>
        </p:nvGraphicFramePr>
        <p:xfrm>
          <a:off x="457200" y="4950665"/>
          <a:ext cx="5943597" cy="1084374"/>
        </p:xfrm>
        <a:graphic>
          <a:graphicData uri="http://schemas.openxmlformats.org/drawingml/2006/table">
            <a:tbl>
              <a:tblPr firstRow="1" bandRow="1">
                <a:tableStyleId>{5C22544A-7EE6-4342-B048-85BDC9FD1C3A}</a:tableStyleId>
              </a:tblPr>
              <a:tblGrid>
                <a:gridCol w="1981199"/>
                <a:gridCol w="1981199"/>
                <a:gridCol w="1981199"/>
              </a:tblGrid>
              <a:tr h="216874">
                <a:tc>
                  <a:txBody>
                    <a:bodyPr/>
                    <a:lstStyle/>
                    <a:p>
                      <a:pPr>
                        <a:defRPr sz="800" b="1">
                          <a:solidFill>
                            <a:srgbClr val="FFFFFF"/>
                          </a:solidFill>
                          <a:latin typeface="Arial"/>
                        </a:defRPr>
                      </a:pPr>
                      <a:r>
                        <a:t>Output</a:t>
                      </a:r>
                    </a:p>
                  </a:txBody>
                  <a:tcPr marL="36576" marR="36576" marT="27432" marB="27432">
                    <a:solidFill>
                      <a:srgbClr val="0F5132"/>
                    </a:solidFill>
                  </a:tcPr>
                </a:tc>
                <a:tc>
                  <a:txBody>
                    <a:bodyPr/>
                    <a:lstStyle/>
                    <a:p>
                      <a:pPr>
                        <a:defRPr sz="800" b="1">
                          <a:solidFill>
                            <a:srgbClr val="FFFFFF"/>
                          </a:solidFill>
                          <a:latin typeface="Arial"/>
                        </a:defRPr>
                      </a:pPr>
                      <a:r>
                        <a:t>Tool</a:t>
                      </a:r>
                    </a:p>
                  </a:txBody>
                  <a:tcPr marL="36576" marR="36576" marT="27432" marB="27432">
                    <a:solidFill>
                      <a:srgbClr val="0F5132"/>
                    </a:solidFill>
                  </a:tcPr>
                </a:tc>
                <a:tc>
                  <a:txBody>
                    <a:bodyPr/>
                    <a:lstStyle/>
                    <a:p>
                      <a:pPr>
                        <a:defRPr sz="800" b="1">
                          <a:solidFill>
                            <a:srgbClr val="FFFFFF"/>
                          </a:solidFill>
                          <a:latin typeface="Arial"/>
                        </a:defRPr>
                      </a:pPr>
                      <a:r>
                        <a:t>Who uses it</a:t>
                      </a:r>
                    </a:p>
                  </a:txBody>
                  <a:tcPr marL="36576" marR="36576" marT="27432" marB="27432">
                    <a:solidFill>
                      <a:srgbClr val="0F5132"/>
                    </a:solidFill>
                  </a:tcPr>
                </a:tc>
              </a:tr>
              <a:tr h="216874">
                <a:tc>
                  <a:txBody>
                    <a:bodyPr/>
                    <a:lstStyle/>
                    <a:p>
                      <a:pPr>
                        <a:defRPr sz="800" b="1">
                          <a:solidFill>
                            <a:srgbClr val="212529"/>
                          </a:solidFill>
                          <a:latin typeface="Arial"/>
                        </a:defRPr>
                      </a:pPr>
                      <a:r>
                        <a:t>Live cleanliness rate</a:t>
                      </a:r>
                    </a:p>
                  </a:txBody>
                  <a:tcPr marL="36576" marR="36576" marT="27432" marB="27432">
                    <a:solidFill>
                      <a:srgbClr val="F5F5F5"/>
                    </a:solidFill>
                  </a:tcPr>
                </a:tc>
                <a:tc>
                  <a:txBody>
                    <a:bodyPr/>
                    <a:lstStyle/>
                    <a:p>
                      <a:pPr>
                        <a:defRPr sz="800" b="0">
                          <a:solidFill>
                            <a:srgbClr val="212529"/>
                          </a:solidFill>
                          <a:latin typeface="Arial"/>
                        </a:defRPr>
                      </a:pPr>
                      <a:r>
                        <a:t>Web application dashboard</a:t>
                      </a:r>
                    </a:p>
                  </a:txBody>
                  <a:tcPr marL="36576" marR="36576" marT="27432" marB="27432">
                    <a:solidFill>
                      <a:srgbClr val="F5F5F5"/>
                    </a:solidFill>
                  </a:tcPr>
                </a:tc>
                <a:tc>
                  <a:txBody>
                    <a:bodyPr/>
                    <a:lstStyle/>
                    <a:p>
                      <a:pPr>
                        <a:defRPr sz="800" b="0">
                          <a:solidFill>
                            <a:srgbClr val="212529"/>
                          </a:solidFill>
                          <a:latin typeface="Arial"/>
                        </a:defRPr>
                      </a:pPr>
                      <a:r>
                        <a:t>Sorting supervisor</a:t>
                      </a:r>
                    </a:p>
                  </a:txBody>
                  <a:tcPr marL="36576" marR="36576" marT="27432" marB="27432">
                    <a:solidFill>
                      <a:srgbClr val="F5F5F5"/>
                    </a:solidFill>
                  </a:tcPr>
                </a:tc>
              </a:tr>
              <a:tr h="216874">
                <a:tc>
                  <a:txBody>
                    <a:bodyPr/>
                    <a:lstStyle/>
                    <a:p>
                      <a:pPr>
                        <a:defRPr sz="800" b="1">
                          <a:solidFill>
                            <a:srgbClr val="212529"/>
                          </a:solidFill>
                          <a:latin typeface="Arial"/>
                        </a:defRPr>
                      </a:pPr>
                      <a:r>
                        <a:t>Material recovered by category (kg)</a:t>
                      </a:r>
                    </a:p>
                  </a:txBody>
                  <a:tcPr marL="36576" marR="36576" marT="27432" marB="27432">
                    <a:solidFill>
                      <a:srgbClr val="F5F5F5"/>
                    </a:solidFill>
                  </a:tcPr>
                </a:tc>
                <a:tc>
                  <a:txBody>
                    <a:bodyPr/>
                    <a:lstStyle/>
                    <a:p>
                      <a:pPr>
                        <a:defRPr sz="800" b="0">
                          <a:solidFill>
                            <a:srgbClr val="212529"/>
                          </a:solidFill>
                          <a:latin typeface="Arial"/>
                        </a:defRPr>
                      </a:pPr>
                      <a:r>
                        <a:t>Power BI</a:t>
                      </a:r>
                    </a:p>
                  </a:txBody>
                  <a:tcPr marL="36576" marR="36576" marT="27432" marB="27432">
                    <a:solidFill>
                      <a:srgbClr val="F5F5F5"/>
                    </a:solidFill>
                  </a:tcPr>
                </a:tc>
                <a:tc>
                  <a:txBody>
                    <a:bodyPr/>
                    <a:lstStyle/>
                    <a:p>
                      <a:pPr>
                        <a:defRPr sz="800" b="0">
                          <a:solidFill>
                            <a:srgbClr val="212529"/>
                          </a:solidFill>
                          <a:latin typeface="Arial"/>
                        </a:defRPr>
                      </a:pPr>
                      <a:r>
                        <a:t>Operations manager</a:t>
                      </a:r>
                    </a:p>
                  </a:txBody>
                  <a:tcPr marL="36576" marR="36576" marT="27432" marB="27432">
                    <a:solidFill>
                      <a:srgbClr val="F5F5F5"/>
                    </a:solidFill>
                  </a:tcPr>
                </a:tc>
              </a:tr>
              <a:tr h="216874">
                <a:tc>
                  <a:txBody>
                    <a:bodyPr/>
                    <a:lstStyle/>
                    <a:p>
                      <a:pPr>
                        <a:defRPr sz="800" b="1">
                          <a:solidFill>
                            <a:srgbClr val="212529"/>
                          </a:solidFill>
                          <a:latin typeface="Arial"/>
                        </a:defRPr>
                      </a:pPr>
                      <a:r>
                        <a:t>Carbon saved per session</a:t>
                      </a:r>
                    </a:p>
                  </a:txBody>
                  <a:tcPr marL="36576" marR="36576" marT="27432" marB="27432">
                    <a:solidFill>
                      <a:srgbClr val="F5F5F5"/>
                    </a:solidFill>
                  </a:tcPr>
                </a:tc>
                <a:tc>
                  <a:txBody>
                    <a:bodyPr/>
                    <a:lstStyle/>
                    <a:p>
                      <a:pPr>
                        <a:defRPr sz="800" b="0">
                          <a:solidFill>
                            <a:srgbClr val="212529"/>
                          </a:solidFill>
                          <a:latin typeface="Arial"/>
                        </a:defRPr>
                      </a:pPr>
                      <a:r>
                        <a:t>Power BI</a:t>
                      </a:r>
                    </a:p>
                  </a:txBody>
                  <a:tcPr marL="36576" marR="36576" marT="27432" marB="27432">
                    <a:solidFill>
                      <a:srgbClr val="F5F5F5"/>
                    </a:solidFill>
                  </a:tcPr>
                </a:tc>
                <a:tc>
                  <a:txBody>
                    <a:bodyPr/>
                    <a:lstStyle/>
                    <a:p>
                      <a:pPr>
                        <a:defRPr sz="800" b="0">
                          <a:solidFill>
                            <a:srgbClr val="212529"/>
                          </a:solidFill>
                          <a:latin typeface="Arial"/>
                        </a:defRPr>
                      </a:pPr>
                      <a:r>
                        <a:t>Sustainability team</a:t>
                      </a:r>
                    </a:p>
                  </a:txBody>
                  <a:tcPr marL="36576" marR="36576" marT="27432" marB="27432">
                    <a:solidFill>
                      <a:srgbClr val="F5F5F5"/>
                    </a:solidFill>
                  </a:tcPr>
                </a:tc>
              </a:tr>
              <a:tr h="216878">
                <a:tc>
                  <a:txBody>
                    <a:bodyPr/>
                    <a:lstStyle/>
                    <a:p>
                      <a:pPr>
                        <a:defRPr sz="800" b="1">
                          <a:solidFill>
                            <a:srgbClr val="212529"/>
                          </a:solidFill>
                          <a:latin typeface="Arial"/>
                        </a:defRPr>
                      </a:pPr>
                      <a:r>
                        <a:t>ESG audit report (PDF)</a:t>
                      </a:r>
                    </a:p>
                  </a:txBody>
                  <a:tcPr marL="36576" marR="36576" marT="27432" marB="27432">
                    <a:solidFill>
                      <a:srgbClr val="F5F5F5"/>
                    </a:solidFill>
                  </a:tcPr>
                </a:tc>
                <a:tc>
                  <a:txBody>
                    <a:bodyPr/>
                    <a:lstStyle/>
                    <a:p>
                      <a:pPr>
                        <a:defRPr sz="800" b="0">
                          <a:solidFill>
                            <a:srgbClr val="212529"/>
                          </a:solidFill>
                          <a:latin typeface="Arial"/>
                        </a:defRPr>
                      </a:pPr>
                      <a:r>
                        <a:t>Automated export</a:t>
                      </a:r>
                    </a:p>
                  </a:txBody>
                  <a:tcPr marL="36576" marR="36576" marT="27432" marB="27432">
                    <a:solidFill>
                      <a:srgbClr val="F5F5F5"/>
                    </a:solidFill>
                  </a:tcPr>
                </a:tc>
                <a:tc>
                  <a:txBody>
                    <a:bodyPr/>
                    <a:lstStyle/>
                    <a:p>
                      <a:pPr>
                        <a:defRPr sz="800" b="0">
                          <a:solidFill>
                            <a:srgbClr val="212529"/>
                          </a:solidFill>
                          <a:latin typeface="Arial"/>
                        </a:defRPr>
                      </a:pPr>
                      <a:r>
                        <a:t>Corporate reporting / external auditors</a:t>
                      </a:r>
                    </a:p>
                  </a:txBody>
                  <a:tcPr marL="36576" marR="36576" marT="27432" marB="27432">
                    <a:solidFill>
                      <a:srgbClr val="F5F5F5"/>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11: How We Calculate Carbon Saved — The Formula</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11 in Appendix A to generate the visual image.</a:t>
            </a:r>
          </a:p>
        </p:txBody>
      </p:sp>
      <p:sp>
        <p:nvSpPr>
          <p:cNvPr id="5" name="TextBox 4"/>
          <p:cNvSpPr txBox="1"/>
          <p:nvPr/>
        </p:nvSpPr>
        <p:spPr>
          <a:xfrm>
            <a:off x="457200" y="1188720"/>
            <a:ext cx="5943600" cy="624720"/>
          </a:xfrm>
          <a:prstGeom prst="rect">
            <a:avLst/>
          </a:prstGeom>
          <a:noFill/>
        </p:spPr>
        <p:txBody>
          <a:bodyPr wrap="square">
            <a:spAutoFit/>
          </a:bodyPr>
          <a:lstStyle/>
          <a:p>
            <a:pPr>
              <a:spcAft>
                <a:spcPts val="200"/>
              </a:spcAft>
              <a:defRPr sz="800">
                <a:solidFill>
                  <a:srgbClr val="212529"/>
                </a:solidFill>
                <a:latin typeface="Arial"/>
              </a:defRPr>
            </a:pPr>
            <a:r>
              <a:t>CO2e Saved (kg) = Σ [ mi × ( EF (virgin)i - EF (recycled)i ) ] × P</a:t>
            </a:r>
          </a:p>
          <a:p>
            <a:pPr>
              <a:spcBef>
                <a:spcPts val="400"/>
              </a:spcBef>
              <a:spcAft>
                <a:spcPts val="200"/>
              </a:spcAft>
              <a:defRPr sz="1050" b="1">
                <a:solidFill>
                  <a:srgbClr val="0F5132"/>
                </a:solidFill>
                <a:latin typeface="Arial"/>
              </a:defRPr>
            </a:pPr>
            <a:r>
              <a:t>What each part means:</a:t>
            </a:r>
          </a:p>
        </p:txBody>
      </p:sp>
      <p:graphicFrame>
        <p:nvGraphicFramePr>
          <p:cNvPr id="6" name="Table 5"/>
          <p:cNvGraphicFramePr>
            <a:graphicFrameLocks noGrp="1"/>
          </p:cNvGraphicFramePr>
          <p:nvPr/>
        </p:nvGraphicFramePr>
        <p:xfrm>
          <a:off x="457200" y="1813440"/>
          <a:ext cx="5943600" cy="971788"/>
        </p:xfrm>
        <a:graphic>
          <a:graphicData uri="http://schemas.openxmlformats.org/drawingml/2006/table">
            <a:tbl>
              <a:tblPr firstRow="1" bandRow="1">
                <a:tableStyleId>{5C22544A-7EE6-4342-B048-85BDC9FD1C3A}</a:tableStyleId>
              </a:tblPr>
              <a:tblGrid>
                <a:gridCol w="2971800"/>
                <a:gridCol w="2971800"/>
              </a:tblGrid>
              <a:tr h="161964">
                <a:tc>
                  <a:txBody>
                    <a:bodyPr/>
                    <a:lstStyle/>
                    <a:p>
                      <a:pPr>
                        <a:defRPr sz="750" b="1">
                          <a:solidFill>
                            <a:srgbClr val="FFFFFF"/>
                          </a:solidFill>
                          <a:latin typeface="Arial"/>
                        </a:defRPr>
                      </a:pPr>
                      <a:r>
                        <a:t>Symbol</a:t>
                      </a:r>
                    </a:p>
                  </a:txBody>
                  <a:tcPr marL="36576" marR="36576" marT="27432" marB="27432">
                    <a:solidFill>
                      <a:srgbClr val="0F5132"/>
                    </a:solidFill>
                  </a:tcPr>
                </a:tc>
                <a:tc>
                  <a:txBody>
                    <a:bodyPr/>
                    <a:lstStyle/>
                    <a:p>
                      <a:pPr>
                        <a:defRPr sz="750" b="1">
                          <a:solidFill>
                            <a:srgbClr val="FFFFFF"/>
                          </a:solidFill>
                          <a:latin typeface="Arial"/>
                        </a:defRPr>
                      </a:pPr>
                      <a:r>
                        <a:t>Plain English</a:t>
                      </a:r>
                    </a:p>
                  </a:txBody>
                  <a:tcPr marL="36576" marR="36576" marT="27432" marB="27432">
                    <a:solidFill>
                      <a:srgbClr val="0F5132"/>
                    </a:solidFill>
                  </a:tcPr>
                </a:tc>
              </a:tr>
              <a:tr h="161964">
                <a:tc>
                  <a:txBody>
                    <a:bodyPr/>
                    <a:lstStyle/>
                    <a:p>
                      <a:pPr>
                        <a:defRPr sz="750" b="1">
                          <a:solidFill>
                            <a:srgbClr val="212529"/>
                          </a:solidFill>
                          <a:latin typeface="Arial"/>
                        </a:defRPr>
                      </a:pPr>
                      <a:r>
                        <a:t>$m_i$</a:t>
                      </a:r>
                    </a:p>
                  </a:txBody>
                  <a:tcPr marL="36576" marR="36576" marT="27432" marB="27432">
                    <a:solidFill>
                      <a:srgbClr val="F5F5F5"/>
                    </a:solidFill>
                  </a:tcPr>
                </a:tc>
                <a:tc>
                  <a:txBody>
                    <a:bodyPr/>
                    <a:lstStyle/>
                    <a:p>
                      <a:pPr>
                        <a:defRPr sz="750" b="0">
                          <a:solidFill>
                            <a:srgbClr val="212529"/>
                          </a:solidFill>
                          <a:latin typeface="Arial"/>
                        </a:defRPr>
                      </a:pPr>
                      <a:r>
                        <a:t>Weight of material category $i$ in this session (kg)</a:t>
                      </a:r>
                    </a:p>
                  </a:txBody>
                  <a:tcPr marL="36576" marR="36576" marT="27432" marB="27432">
                    <a:solidFill>
                      <a:srgbClr val="F5F5F5"/>
                    </a:solidFill>
                  </a:tcPr>
                </a:tc>
              </a:tr>
              <a:tr h="161964">
                <a:tc>
                  <a:txBody>
                    <a:bodyPr/>
                    <a:lstStyle/>
                    <a:p>
                      <a:pPr>
                        <a:defRPr sz="750" b="1">
                          <a:solidFill>
                            <a:srgbClr val="212529"/>
                          </a:solidFill>
                          <a:latin typeface="Arial"/>
                        </a:defRPr>
                      </a:pPr>
                      <a:r>
                        <a:t>$\text{EF}^{\text{virgin}}_i$</a:t>
                      </a:r>
                    </a:p>
                  </a:txBody>
                  <a:tcPr marL="36576" marR="36576" marT="27432" marB="27432">
                    <a:solidFill>
                      <a:srgbClr val="F5F5F5"/>
                    </a:solidFill>
                  </a:tcPr>
                </a:tc>
                <a:tc>
                  <a:txBody>
                    <a:bodyPr/>
                    <a:lstStyle/>
                    <a:p>
                      <a:pPr>
                        <a:defRPr sz="750" b="0">
                          <a:solidFill>
                            <a:srgbClr val="212529"/>
                          </a:solidFill>
                          <a:latin typeface="Arial"/>
                        </a:defRPr>
                      </a:pPr>
                      <a:r>
                        <a:t>CO₂ released to make 1 kg of this material from raw resources</a:t>
                      </a:r>
                    </a:p>
                  </a:txBody>
                  <a:tcPr marL="36576" marR="36576" marT="27432" marB="27432">
                    <a:solidFill>
                      <a:srgbClr val="F5F5F5"/>
                    </a:solidFill>
                  </a:tcPr>
                </a:tc>
              </a:tr>
              <a:tr h="161964">
                <a:tc>
                  <a:txBody>
                    <a:bodyPr/>
                    <a:lstStyle/>
                    <a:p>
                      <a:pPr>
                        <a:defRPr sz="750" b="1">
                          <a:solidFill>
                            <a:srgbClr val="212529"/>
                          </a:solidFill>
                          <a:latin typeface="Arial"/>
                        </a:defRPr>
                      </a:pPr>
                      <a:r>
                        <a:t>$\text{EF}^{\text{recycled}}_i$</a:t>
                      </a:r>
                    </a:p>
                  </a:txBody>
                  <a:tcPr marL="36576" marR="36576" marT="27432" marB="27432">
                    <a:solidFill>
                      <a:srgbClr val="F5F5F5"/>
                    </a:solidFill>
                  </a:tcPr>
                </a:tc>
                <a:tc>
                  <a:txBody>
                    <a:bodyPr/>
                    <a:lstStyle/>
                    <a:p>
                      <a:pPr>
                        <a:defRPr sz="750" b="0">
                          <a:solidFill>
                            <a:srgbClr val="212529"/>
                          </a:solidFill>
                          <a:latin typeface="Arial"/>
                        </a:defRPr>
                      </a:pPr>
                      <a:r>
                        <a:t>CO₂ released to process 1 kg of this material through recycling</a:t>
                      </a:r>
                    </a:p>
                  </a:txBody>
                  <a:tcPr marL="36576" marR="36576" marT="27432" marB="27432">
                    <a:solidFill>
                      <a:srgbClr val="F5F5F5"/>
                    </a:solidFill>
                  </a:tcPr>
                </a:tc>
              </a:tr>
              <a:tr h="161964">
                <a:tc>
                  <a:txBody>
                    <a:bodyPr/>
                    <a:lstStyle/>
                    <a:p>
                      <a:pPr>
                        <a:defRPr sz="750" b="1">
                          <a:solidFill>
                            <a:srgbClr val="212529"/>
                          </a:solidFill>
                          <a:latin typeface="Arial"/>
                        </a:defRPr>
                      </a:pPr>
                      <a:r>
                        <a:t>$(\text{EF}^{\text{virgin}} - \text{EF}^{\text{recycled}})$</a:t>
                      </a:r>
                    </a:p>
                  </a:txBody>
                  <a:tcPr marL="36576" marR="36576" marT="27432" marB="27432">
                    <a:solidFill>
                      <a:srgbClr val="F5F5F5"/>
                    </a:solidFill>
                  </a:tcPr>
                </a:tc>
                <a:tc>
                  <a:txBody>
                    <a:bodyPr/>
                    <a:lstStyle/>
                    <a:p>
                      <a:pPr>
                        <a:defRPr sz="750" b="0">
                          <a:solidFill>
                            <a:srgbClr val="212529"/>
                          </a:solidFill>
                          <a:latin typeface="Arial"/>
                        </a:defRPr>
                      </a:pPr>
                      <a:r>
                        <a:t>CO₂ avoided by recycling instead of making it from scratch</a:t>
                      </a:r>
                    </a:p>
                  </a:txBody>
                  <a:tcPr marL="36576" marR="36576" marT="27432" marB="27432">
                    <a:solidFill>
                      <a:srgbClr val="F5F5F5"/>
                    </a:solidFill>
                  </a:tcPr>
                </a:tc>
              </a:tr>
              <a:tr h="161968">
                <a:tc>
                  <a:txBody>
                    <a:bodyPr/>
                    <a:lstStyle/>
                    <a:p>
                      <a:pPr>
                        <a:defRPr sz="750" b="1">
                          <a:solidFill>
                            <a:srgbClr val="212529"/>
                          </a:solidFill>
                          <a:latin typeface="Arial"/>
                        </a:defRPr>
                      </a:pPr>
                      <a:r>
                        <a:t>$P$</a:t>
                      </a:r>
                    </a:p>
                  </a:txBody>
                  <a:tcPr marL="36576" marR="36576" marT="27432" marB="27432">
                    <a:solidFill>
                      <a:srgbClr val="F5F5F5"/>
                    </a:solidFill>
                  </a:tcPr>
                </a:tc>
                <a:tc>
                  <a:txBody>
                    <a:bodyPr/>
                    <a:lstStyle/>
                    <a:p>
                      <a:pPr>
                        <a:defRPr sz="750" b="0">
                          <a:solidFill>
                            <a:srgbClr val="212529"/>
                          </a:solidFill>
                          <a:latin typeface="Arial"/>
                        </a:defRPr>
                      </a:pPr>
                      <a:r>
                        <a:t>Purity factor — the cleanliness score (penalises contaminated batches)</a:t>
                      </a:r>
                    </a:p>
                  </a:txBody>
                  <a:tcPr marL="36576" marR="36576" marT="27432" marB="27432">
                    <a:solidFill>
                      <a:srgbClr val="F5F5F5"/>
                    </a:solidFill>
                  </a:tcPr>
                </a:tc>
              </a:tr>
            </a:tbl>
          </a:graphicData>
        </a:graphic>
      </p:graphicFrame>
      <p:sp>
        <p:nvSpPr>
          <p:cNvPr id="7" name="TextBox 6"/>
          <p:cNvSpPr txBox="1"/>
          <p:nvPr/>
        </p:nvSpPr>
        <p:spPr>
          <a:xfrm>
            <a:off x="457200" y="2876669"/>
            <a:ext cx="5943600" cy="170378"/>
          </a:xfrm>
          <a:prstGeom prst="rect">
            <a:avLst/>
          </a:prstGeom>
          <a:noFill/>
        </p:spPr>
        <p:txBody>
          <a:bodyPr wrap="square">
            <a:spAutoFit/>
          </a:bodyPr>
          <a:lstStyle/>
          <a:p>
            <a:pPr lvl="1">
              <a:spcAft>
                <a:spcPts val="100"/>
              </a:spcAft>
              <a:defRPr sz="800">
                <a:solidFill>
                  <a:srgbClr val="212529"/>
                </a:solidFill>
                <a:latin typeface="Arial"/>
              </a:defRPr>
            </a:pPr>
            <a:r>
              <a:t>Carbon saving rates by material *(source: JEM, 2024 — verify before final submission)*</a:t>
            </a:r>
          </a:p>
        </p:txBody>
      </p:sp>
      <p:graphicFrame>
        <p:nvGraphicFramePr>
          <p:cNvPr id="8" name="Table 7"/>
          <p:cNvGraphicFramePr>
            <a:graphicFrameLocks noGrp="1"/>
          </p:cNvGraphicFramePr>
          <p:nvPr/>
        </p:nvGraphicFramePr>
        <p:xfrm>
          <a:off x="457200" y="3047047"/>
          <a:ext cx="5943600" cy="1123235"/>
        </p:xfrm>
        <a:graphic>
          <a:graphicData uri="http://schemas.openxmlformats.org/drawingml/2006/table">
            <a:tbl>
              <a:tblPr firstRow="1" bandRow="1">
                <a:tableStyleId>{5C22544A-7EE6-4342-B048-85BDC9FD1C3A}</a:tableStyleId>
              </a:tblPr>
              <a:tblGrid>
                <a:gridCol w="2971800"/>
                <a:gridCol w="2971800"/>
              </a:tblGrid>
              <a:tr h="160462">
                <a:tc>
                  <a:txBody>
                    <a:bodyPr/>
                    <a:lstStyle/>
                    <a:p>
                      <a:pPr>
                        <a:defRPr sz="750" b="1">
                          <a:solidFill>
                            <a:srgbClr val="FFFFFF"/>
                          </a:solidFill>
                          <a:latin typeface="Arial"/>
                        </a:defRPr>
                      </a:pPr>
                      <a:r>
                        <a:t>Material</a:t>
                      </a:r>
                    </a:p>
                  </a:txBody>
                  <a:tcPr marL="36576" marR="36576" marT="27432" marB="27432">
                    <a:solidFill>
                      <a:srgbClr val="0F5132"/>
                    </a:solidFill>
                  </a:tcPr>
                </a:tc>
                <a:tc>
                  <a:txBody>
                    <a:bodyPr/>
                    <a:lstStyle/>
                    <a:p>
                      <a:pPr>
                        <a:defRPr sz="750" b="1">
                          <a:solidFill>
                            <a:srgbClr val="FFFFFF"/>
                          </a:solidFill>
                          <a:latin typeface="Arial"/>
                        </a:defRPr>
                      </a:pPr>
                      <a:r>
                        <a:t>CO₂ saved per kg recycled</a:t>
                      </a:r>
                    </a:p>
                  </a:txBody>
                  <a:tcPr marL="36576" marR="36576" marT="27432" marB="27432">
                    <a:solidFill>
                      <a:srgbClr val="0F5132"/>
                    </a:solidFill>
                  </a:tcPr>
                </a:tc>
              </a:tr>
              <a:tr h="160462">
                <a:tc>
                  <a:txBody>
                    <a:bodyPr/>
                    <a:lstStyle/>
                    <a:p>
                      <a:pPr>
                        <a:defRPr sz="750" b="1">
                          <a:solidFill>
                            <a:srgbClr val="212529"/>
                          </a:solidFill>
                          <a:latin typeface="Arial"/>
                        </a:defRPr>
                      </a:pPr>
                      <a:r>
                        <a:t>Aluminium / Metal</a:t>
                      </a:r>
                    </a:p>
                  </a:txBody>
                  <a:tcPr marL="36576" marR="36576" marT="27432" marB="27432">
                    <a:solidFill>
                      <a:srgbClr val="F5F5F5"/>
                    </a:solidFill>
                  </a:tcPr>
                </a:tc>
                <a:tc>
                  <a:txBody>
                    <a:bodyPr/>
                    <a:lstStyle/>
                    <a:p>
                      <a:pPr>
                        <a:defRPr sz="750" b="0">
                          <a:solidFill>
                            <a:srgbClr val="212529"/>
                          </a:solidFill>
                          <a:latin typeface="Arial"/>
                        </a:defRPr>
                      </a:pPr>
                      <a:r>
                        <a:t>**7.64 kg CO₂e/kg** (highest — smelting is energy-intensive)</a:t>
                      </a:r>
                    </a:p>
                  </a:txBody>
                  <a:tcPr marL="36576" marR="36576" marT="27432" marB="27432">
                    <a:solidFill>
                      <a:srgbClr val="F5F5F5"/>
                    </a:solidFill>
                  </a:tcPr>
                </a:tc>
              </a:tr>
              <a:tr h="160462">
                <a:tc>
                  <a:txBody>
                    <a:bodyPr/>
                    <a:lstStyle/>
                    <a:p>
                      <a:pPr>
                        <a:defRPr sz="750" b="1">
                          <a:solidFill>
                            <a:srgbClr val="212529"/>
                          </a:solidFill>
                          <a:latin typeface="Arial"/>
                        </a:defRPr>
                      </a:pPr>
                      <a:r>
                        <a:t>Textile</a:t>
                      </a:r>
                    </a:p>
                  </a:txBody>
                  <a:tcPr marL="36576" marR="36576" marT="27432" marB="27432">
                    <a:solidFill>
                      <a:srgbClr val="F5F5F5"/>
                    </a:solidFill>
                  </a:tcPr>
                </a:tc>
                <a:tc>
                  <a:txBody>
                    <a:bodyPr/>
                    <a:lstStyle/>
                    <a:p>
                      <a:pPr>
                        <a:defRPr sz="750" b="0">
                          <a:solidFill>
                            <a:srgbClr val="212529"/>
                          </a:solidFill>
                          <a:latin typeface="Arial"/>
                        </a:defRPr>
                      </a:pPr>
                      <a:r>
                        <a:t>2.80 kg CO₂e/kg</a:t>
                      </a:r>
                    </a:p>
                  </a:txBody>
                  <a:tcPr marL="36576" marR="36576" marT="27432" marB="27432">
                    <a:solidFill>
                      <a:srgbClr val="F5F5F5"/>
                    </a:solidFill>
                  </a:tcPr>
                </a:tc>
              </a:tr>
              <a:tr h="160462">
                <a:tc>
                  <a:txBody>
                    <a:bodyPr/>
                    <a:lstStyle/>
                    <a:p>
                      <a:pPr>
                        <a:defRPr sz="750" b="1">
                          <a:solidFill>
                            <a:srgbClr val="212529"/>
                          </a:solidFill>
                          <a:latin typeface="Arial"/>
                        </a:defRPr>
                      </a:pPr>
                      <a:r>
                        <a:t>PET Plastic</a:t>
                      </a:r>
                    </a:p>
                  </a:txBody>
                  <a:tcPr marL="36576" marR="36576" marT="27432" marB="27432">
                    <a:solidFill>
                      <a:srgbClr val="F5F5F5"/>
                    </a:solidFill>
                  </a:tcPr>
                </a:tc>
                <a:tc>
                  <a:txBody>
                    <a:bodyPr/>
                    <a:lstStyle/>
                    <a:p>
                      <a:pPr>
                        <a:defRPr sz="750" b="0">
                          <a:solidFill>
                            <a:srgbClr val="212529"/>
                          </a:solidFill>
                          <a:latin typeface="Arial"/>
                        </a:defRPr>
                      </a:pPr>
                      <a:r>
                        <a:t>1.70 kg CO₂e/kg</a:t>
                      </a:r>
                    </a:p>
                  </a:txBody>
                  <a:tcPr marL="36576" marR="36576" marT="27432" marB="27432">
                    <a:solidFill>
                      <a:srgbClr val="F5F5F5"/>
                    </a:solidFill>
                  </a:tcPr>
                </a:tc>
              </a:tr>
              <a:tr h="160462">
                <a:tc>
                  <a:txBody>
                    <a:bodyPr/>
                    <a:lstStyle/>
                    <a:p>
                      <a:pPr>
                        <a:defRPr sz="750" b="1">
                          <a:solidFill>
                            <a:srgbClr val="212529"/>
                          </a:solidFill>
                          <a:latin typeface="Arial"/>
                        </a:defRPr>
                      </a:pPr>
                      <a:r>
                        <a:t>Paper</a:t>
                      </a:r>
                    </a:p>
                  </a:txBody>
                  <a:tcPr marL="36576" marR="36576" marT="27432" marB="27432">
                    <a:solidFill>
                      <a:srgbClr val="F5F5F5"/>
                    </a:solidFill>
                  </a:tcPr>
                </a:tc>
                <a:tc>
                  <a:txBody>
                    <a:bodyPr/>
                    <a:lstStyle/>
                    <a:p>
                      <a:pPr>
                        <a:defRPr sz="750" b="0">
                          <a:solidFill>
                            <a:srgbClr val="212529"/>
                          </a:solidFill>
                          <a:latin typeface="Arial"/>
                        </a:defRPr>
                      </a:pPr>
                      <a:r>
                        <a:t>0.85 kg CO₂e/kg</a:t>
                      </a:r>
                    </a:p>
                  </a:txBody>
                  <a:tcPr marL="36576" marR="36576" marT="27432" marB="27432">
                    <a:solidFill>
                      <a:srgbClr val="F5F5F5"/>
                    </a:solidFill>
                  </a:tcPr>
                </a:tc>
              </a:tr>
              <a:tr h="160462">
                <a:tc>
                  <a:txBody>
                    <a:bodyPr/>
                    <a:lstStyle/>
                    <a:p>
                      <a:pPr>
                        <a:defRPr sz="750" b="1">
                          <a:solidFill>
                            <a:srgbClr val="212529"/>
                          </a:solidFill>
                          <a:latin typeface="Arial"/>
                        </a:defRPr>
                      </a:pPr>
                      <a:r>
                        <a:t>Cardboard</a:t>
                      </a:r>
                    </a:p>
                  </a:txBody>
                  <a:tcPr marL="36576" marR="36576" marT="27432" marB="27432">
                    <a:solidFill>
                      <a:srgbClr val="F5F5F5"/>
                    </a:solidFill>
                  </a:tcPr>
                </a:tc>
                <a:tc>
                  <a:txBody>
                    <a:bodyPr/>
                    <a:lstStyle/>
                    <a:p>
                      <a:pPr>
                        <a:defRPr sz="750" b="0">
                          <a:solidFill>
                            <a:srgbClr val="212529"/>
                          </a:solidFill>
                          <a:latin typeface="Arial"/>
                        </a:defRPr>
                      </a:pPr>
                      <a:r>
                        <a:t>0.73 kg CO₂e/kg</a:t>
                      </a:r>
                    </a:p>
                  </a:txBody>
                  <a:tcPr marL="36576" marR="36576" marT="27432" marB="27432">
                    <a:solidFill>
                      <a:srgbClr val="F5F5F5"/>
                    </a:solidFill>
                  </a:tcPr>
                </a:tc>
              </a:tr>
              <a:tr h="160463">
                <a:tc>
                  <a:txBody>
                    <a:bodyPr/>
                    <a:lstStyle/>
                    <a:p>
                      <a:pPr>
                        <a:defRPr sz="750" b="1">
                          <a:solidFill>
                            <a:srgbClr val="212529"/>
                          </a:solidFill>
                          <a:latin typeface="Arial"/>
                        </a:defRPr>
                      </a:pPr>
                      <a:r>
                        <a:t>Glass</a:t>
                      </a:r>
                    </a:p>
                  </a:txBody>
                  <a:tcPr marL="36576" marR="36576" marT="27432" marB="27432">
                    <a:solidFill>
                      <a:srgbClr val="F5F5F5"/>
                    </a:solidFill>
                  </a:tcPr>
                </a:tc>
                <a:tc>
                  <a:txBody>
                    <a:bodyPr/>
                    <a:lstStyle/>
                    <a:p>
                      <a:pPr>
                        <a:defRPr sz="750" b="0">
                          <a:solidFill>
                            <a:srgbClr val="212529"/>
                          </a:solidFill>
                          <a:latin typeface="Arial"/>
                        </a:defRPr>
                      </a:pPr>
                      <a:r>
                        <a:t>0.56 kg CO₂e/kg (lowest — sand is abundant)</a:t>
                      </a:r>
                    </a:p>
                  </a:txBody>
                  <a:tcPr marL="36576" marR="36576" marT="27432" marB="27432">
                    <a:solidFill>
                      <a:srgbClr val="F5F5F5"/>
                    </a:solidFill>
                  </a:tcPr>
                </a:tc>
              </a:tr>
            </a:tbl>
          </a:graphicData>
        </a:graphic>
      </p:graphicFrame>
      <p:sp>
        <p:nvSpPr>
          <p:cNvPr id="9" name="TextBox 8"/>
          <p:cNvSpPr txBox="1"/>
          <p:nvPr/>
        </p:nvSpPr>
        <p:spPr>
          <a:xfrm>
            <a:off x="457200" y="4261723"/>
            <a:ext cx="5943600" cy="1956196"/>
          </a:xfrm>
          <a:prstGeom prst="rect">
            <a:avLst/>
          </a:prstGeom>
          <a:noFill/>
        </p:spPr>
        <p:txBody>
          <a:bodyPr wrap="square">
            <a:spAutoFit/>
          </a:bodyPr>
          <a:lstStyle/>
          <a:p>
            <a:pPr lvl="1">
              <a:spcAft>
                <a:spcPts val="100"/>
              </a:spcAft>
              <a:defRPr sz="800">
                <a:solidFill>
                  <a:srgbClr val="212529"/>
                </a:solidFill>
                <a:latin typeface="Arial"/>
              </a:defRPr>
            </a:pPr>
            <a:r>
              <a:t>Why the purity factor is multiplied at the end:</a:t>
            </a:r>
          </a:p>
          <a:p>
            <a:pPr>
              <a:spcAft>
                <a:spcPts val="200"/>
              </a:spcAft>
              <a:defRPr sz="800" i="1">
                <a:solidFill>
                  <a:srgbClr val="212529"/>
                </a:solidFill>
                <a:latin typeface="Arial"/>
              </a:defRPr>
            </a:pPr>
            <a:r>
              <a:t>A contaminated batch cannot be fully recycled. If 13% of a batch is food waste mixed with aluminium, only 87% of the aluminium reaches the smelter. The purity factor scales the CO₂ claim to match what was actually recycled — not what was detected.</a:t>
            </a:r>
          </a:p>
          <a:p>
            <a:pPr>
              <a:spcBef>
                <a:spcPts val="400"/>
              </a:spcBef>
              <a:spcAft>
                <a:spcPts val="200"/>
              </a:spcAft>
              <a:defRPr sz="1050" b="1">
                <a:solidFill>
                  <a:srgbClr val="0F5132"/>
                </a:solidFill>
                <a:latin typeface="Arial"/>
              </a:defRPr>
            </a:pPr>
            <a:r>
              <a:t>Example — one session:</a:t>
            </a:r>
          </a:p>
          <a:p>
            <a:pPr lvl="1">
              <a:spcAft>
                <a:spcPts val="100"/>
              </a:spcAft>
              <a:defRPr sz="800">
                <a:solidFill>
                  <a:srgbClr val="212529"/>
                </a:solidFill>
                <a:latin typeface="Arial"/>
              </a:defRPr>
            </a:pPr>
            <a:r>
              <a:t>80 plastic bottles (2.00 kg) + 45 aluminium cans (0.68 kg) + 20 cardboard boxes (3.00 kg)</a:t>
            </a:r>
          </a:p>
          <a:p>
            <a:pPr lvl="1">
              <a:spcAft>
                <a:spcPts val="100"/>
              </a:spcAft>
              <a:defRPr sz="800">
                <a:solidFill>
                  <a:srgbClr val="212529"/>
                </a:solidFill>
                <a:latin typeface="Arial"/>
              </a:defRPr>
            </a:pPr>
            <a:r>
              <a:t>Cleanliness score: 87% → P = 0.87</a:t>
            </a:r>
          </a:p>
          <a:p>
            <a:pPr>
              <a:spcAft>
                <a:spcPts val="200"/>
              </a:spcAft>
              <a:defRPr sz="800">
                <a:solidFill>
                  <a:srgbClr val="212529"/>
                </a:solidFill>
                <a:latin typeface="Arial"/>
              </a:defRPr>
            </a:pPr>
            <a:r>
              <a:t>= [(2.00 × 1.70) + (0.68 × 7.64) + (3.00 × 0.73)] × 0.87 = 9.39  kg CO2e saved</a:t>
            </a:r>
          </a:p>
          <a:p>
            <a:pPr lvl="1">
              <a:spcAft>
                <a:spcPts val="100"/>
              </a:spcAft>
              <a:defRPr sz="800">
                <a:solidFill>
                  <a:srgbClr val="212529"/>
                </a:solidFill>
                <a:latin typeface="Arial"/>
              </a:defRPr>
            </a:pPr>
            <a:r>
              <a:t>Note: camera cannot measure weight — weight is estimated using class-average constants per item (e.g., 1 PET bottle ≈ 0.025 kg). This introduces ±15–30% weight estimation error, disclosed as a known limitation.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12: Business Analytics Life Cycle</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12 in Appendix A to generate the visual image.</a:t>
            </a:r>
          </a:p>
        </p:txBody>
      </p:sp>
      <p:sp>
        <p:nvSpPr>
          <p:cNvPr id="5" name="TextBox 4"/>
          <p:cNvSpPr txBox="1"/>
          <p:nvPr/>
        </p:nvSpPr>
        <p:spPr>
          <a:xfrm>
            <a:off x="457200" y="1188720"/>
            <a:ext cx="5943600" cy="2103120"/>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The 4 Stages of Waste Analytics:</a:t>
            </a:r>
          </a:p>
          <a:p>
            <a:pPr lvl="1">
              <a:spcAft>
                <a:spcPts val="200"/>
              </a:spcAft>
              <a:defRPr sz="1100">
                <a:solidFill>
                  <a:srgbClr val="212529"/>
                </a:solidFill>
                <a:latin typeface="Arial"/>
              </a:defRPr>
            </a:pPr>
            <a:r>
              <a:t>1. Descriptive (What happened?): Live charts showing material yield (kg) and purity percentage per sorting session.</a:t>
            </a:r>
          </a:p>
          <a:p>
            <a:pPr lvl="1">
              <a:spcAft>
                <a:spcPts val="200"/>
              </a:spcAft>
              <a:defRPr sz="1100">
                <a:solidFill>
                  <a:srgbClr val="212529"/>
                </a:solidFill>
                <a:latin typeface="Arial"/>
              </a:defRPr>
            </a:pPr>
            <a:r>
              <a:t>2. Diagnostic (Why did it happen?): Bounding box audit trails showing which contaminant caused a purity drop.</a:t>
            </a:r>
          </a:p>
          <a:p>
            <a:pPr lvl="1">
              <a:spcAft>
                <a:spcPts val="200"/>
              </a:spcAft>
              <a:defRPr sz="1100">
                <a:solidFill>
                  <a:srgbClr val="212529"/>
                </a:solidFill>
                <a:latin typeface="Arial"/>
              </a:defRPr>
            </a:pPr>
            <a:r>
              <a:t>3. Predictive (What will happen?): Trend forecasts estimating monthly carbon offsets and tipping fee savings.</a:t>
            </a:r>
          </a:p>
          <a:p>
            <a:pPr lvl="1">
              <a:spcAft>
                <a:spcPts val="200"/>
              </a:spcAft>
              <a:defRPr sz="1100">
                <a:solidFill>
                  <a:srgbClr val="212529"/>
                </a:solidFill>
                <a:latin typeface="Arial"/>
              </a:defRPr>
            </a:pPr>
            <a:r>
              <a:t>4. Prescriptive (How can we improve?): Automated zone routing alerts and active learning retrain triggers.</a:t>
            </a:r>
          </a:p>
          <a:p>
            <a:pPr>
              <a:spcBef>
                <a:spcPts val="600"/>
              </a:spcBef>
              <a:spcAft>
                <a:spcPts val="300"/>
              </a:spcAft>
              <a:defRPr sz="1500" b="1">
                <a:solidFill>
                  <a:srgbClr val="0F5132"/>
                </a:solidFill>
                <a:latin typeface="Arial"/>
              </a:defRPr>
            </a:pPr>
            <a:r>
              <a:t>The Integration Layer:</a:t>
            </a:r>
          </a:p>
          <a:p>
            <a:pPr lvl="1">
              <a:spcAft>
                <a:spcPts val="200"/>
              </a:spcAft>
              <a:defRPr sz="1100">
                <a:solidFill>
                  <a:srgbClr val="212529"/>
                </a:solidFill>
                <a:latin typeface="Arial"/>
              </a:defRPr>
            </a:pPr>
            <a:r>
              <a:t>Analytics serves as the bridge between deep learning outputs (pixel segmentations) and business reports.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13: Bidirectional Loop: Power BI &amp; Web App</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13 in Appendix A to generate the visual image.</a:t>
            </a:r>
          </a:p>
        </p:txBody>
      </p:sp>
      <p:sp>
        <p:nvSpPr>
          <p:cNvPr id="5" name="TextBox 4"/>
          <p:cNvSpPr txBox="1"/>
          <p:nvPr/>
        </p:nvSpPr>
        <p:spPr>
          <a:xfrm>
            <a:off x="457200" y="1188720"/>
            <a:ext cx="5943600" cy="3054096"/>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The Traditional One-Way Flow:</a:t>
            </a:r>
          </a:p>
          <a:p>
            <a:pPr lvl="1">
              <a:spcAft>
                <a:spcPts val="200"/>
              </a:spcAft>
              <a:defRPr sz="1100">
                <a:solidFill>
                  <a:srgbClr val="212529"/>
                </a:solidFill>
                <a:latin typeface="Arial"/>
              </a:defRPr>
            </a:pPr>
            <a:r>
              <a:t>Database → Power BI Dashboard (Passive visual reporting).</a:t>
            </a:r>
          </a:p>
          <a:p>
            <a:pPr>
              <a:spcBef>
                <a:spcPts val="600"/>
              </a:spcBef>
              <a:spcAft>
                <a:spcPts val="300"/>
              </a:spcAft>
              <a:defRPr sz="1500" b="1">
                <a:solidFill>
                  <a:srgbClr val="0F5132"/>
                </a:solidFill>
                <a:latin typeface="Arial"/>
              </a:defRPr>
            </a:pPr>
            <a:r>
              <a:t>The PurityLoop Bidirectional Loop:</a:t>
            </a:r>
          </a:p>
          <a:p>
            <a:pPr lvl="1">
              <a:spcAft>
                <a:spcPts val="200"/>
              </a:spcAft>
              <a:defRPr sz="1100">
                <a:solidFill>
                  <a:srgbClr val="212529"/>
                </a:solidFill>
                <a:latin typeface="Arial"/>
              </a:defRPr>
            </a:pPr>
            <a:r>
              <a:t>1. Ingest: Web App writes raw detection coordinates and confidence scores to SQLite.</a:t>
            </a:r>
          </a:p>
          <a:p>
            <a:pPr lvl="1">
              <a:spcAft>
                <a:spcPts val="200"/>
              </a:spcAft>
              <a:defRPr sz="1100">
                <a:solidFill>
                  <a:srgbClr val="212529"/>
                </a:solidFill>
                <a:latin typeface="Arial"/>
              </a:defRPr>
            </a:pPr>
            <a:r>
              <a:t>2. Analyze: Power BI audits logs, identifying specific category contamination trends.</a:t>
            </a:r>
          </a:p>
          <a:p>
            <a:pPr lvl="1">
              <a:spcAft>
                <a:spcPts val="200"/>
              </a:spcAft>
              <a:defRPr sz="1100">
                <a:solidFill>
                  <a:srgbClr val="212529"/>
                </a:solidFill>
                <a:latin typeface="Arial"/>
              </a:defRPr>
            </a:pPr>
            <a:r>
              <a:t>3. Define: Analytical findings define new operational thresholds and gamified points weights.</a:t>
            </a:r>
          </a:p>
          <a:p>
            <a:pPr lvl="1">
              <a:spcAft>
                <a:spcPts val="200"/>
              </a:spcAft>
              <a:defRPr sz="1100">
                <a:solidFill>
                  <a:srgbClr val="212529"/>
                </a:solidFill>
                <a:latin typeface="Arial"/>
              </a:defRPr>
            </a:pPr>
            <a:r>
              <a:t>4. Enforce: Web App dynamically reads new rules from database and adjusts operator alerts.</a:t>
            </a:r>
          </a:p>
          <a:p>
            <a:pPr>
              <a:spcBef>
                <a:spcPts val="600"/>
              </a:spcBef>
              <a:spcAft>
                <a:spcPts val="300"/>
              </a:spcAft>
              <a:defRPr sz="1500" b="1">
                <a:solidFill>
                  <a:srgbClr val="0F5132"/>
                </a:solidFill>
                <a:latin typeface="Arial"/>
              </a:defRPr>
            </a:pPr>
            <a:r>
              <a:t>Example Feedback Loop:</a:t>
            </a:r>
          </a:p>
          <a:p>
            <a:pPr lvl="1">
              <a:spcAft>
                <a:spcPts val="200"/>
              </a:spcAft>
              <a:defRPr sz="1100">
                <a:solidFill>
                  <a:srgbClr val="212529"/>
                </a:solidFill>
                <a:latin typeface="Arial"/>
              </a:defRPr>
            </a:pPr>
            <a:r>
              <a:t>BI Finding: Battery contamination increased by 15% in zone B.</a:t>
            </a:r>
          </a:p>
          <a:p>
            <a:pPr lvl="1">
              <a:spcAft>
                <a:spcPts val="200"/>
              </a:spcAft>
              <a:defRPr sz="1100">
                <a:solidFill>
                  <a:srgbClr val="212529"/>
                </a:solidFill>
                <a:latin typeface="Arial"/>
              </a:defRPr>
            </a:pPr>
            <a:r>
              <a:t>Web App Action: App raises battery threshold to 92% and triggers targeted UI alerts.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14: How Data Drives Operations — 3 Business Rules</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14 in Appendix A to generate the visual image.</a:t>
            </a:r>
          </a:p>
        </p:txBody>
      </p:sp>
      <p:sp>
        <p:nvSpPr>
          <p:cNvPr id="5" name="TextBox 4"/>
          <p:cNvSpPr txBox="1"/>
          <p:nvPr/>
        </p:nvSpPr>
        <p:spPr>
          <a:xfrm>
            <a:off x="457200" y="1188720"/>
            <a:ext cx="5943600" cy="246888"/>
          </a:xfrm>
          <a:prstGeom prst="rect">
            <a:avLst/>
          </a:prstGeom>
          <a:noFill/>
        </p:spPr>
        <p:txBody>
          <a:bodyPr wrap="square">
            <a:spAutoFit/>
          </a:bodyPr>
          <a:lstStyle/>
          <a:p>
            <a:pPr>
              <a:spcAft>
                <a:spcPts val="400"/>
              </a:spcAft>
              <a:defRPr sz="1100">
                <a:solidFill>
                  <a:srgbClr val="212529"/>
                </a:solidFill>
                <a:latin typeface="Arial"/>
              </a:defRPr>
            </a:pPr>
            <a:r>
              <a:t>The analytics dashboard does not just display numbers — it triggers specific actions:</a:t>
            </a:r>
          </a:p>
        </p:txBody>
      </p:sp>
      <p:graphicFrame>
        <p:nvGraphicFramePr>
          <p:cNvPr id="6" name="Table 5"/>
          <p:cNvGraphicFramePr>
            <a:graphicFrameLocks noGrp="1"/>
          </p:cNvGraphicFramePr>
          <p:nvPr/>
        </p:nvGraphicFramePr>
        <p:xfrm>
          <a:off x="457200" y="1435608"/>
          <a:ext cx="5943597" cy="2103120"/>
        </p:xfrm>
        <a:graphic>
          <a:graphicData uri="http://schemas.openxmlformats.org/drawingml/2006/table">
            <a:tbl>
              <a:tblPr firstRow="1" bandRow="1">
                <a:tableStyleId>{5C22544A-7EE6-4342-B048-85BDC9FD1C3A}</a:tableStyleId>
              </a:tblPr>
              <a:tblGrid>
                <a:gridCol w="1981199"/>
                <a:gridCol w="1981199"/>
                <a:gridCol w="1981199"/>
              </a:tblGrid>
              <a:tr h="420624">
                <a:tc>
                  <a:txBody>
                    <a:bodyPr/>
                    <a:lstStyle/>
                    <a:p>
                      <a:pPr>
                        <a:defRPr sz="900" b="1">
                          <a:solidFill>
                            <a:srgbClr val="FFFFFF"/>
                          </a:solidFill>
                          <a:latin typeface="Arial"/>
                        </a:defRPr>
                      </a:pPr>
                      <a:r>
                        <a:t>Dashboard reading</a:t>
                      </a:r>
                    </a:p>
                  </a:txBody>
                  <a:tcPr marL="36576" marR="36576" marT="27432" marB="27432">
                    <a:solidFill>
                      <a:srgbClr val="0F5132"/>
                    </a:solidFill>
                  </a:tcPr>
                </a:tc>
                <a:tc>
                  <a:txBody>
                    <a:bodyPr/>
                    <a:lstStyle/>
                    <a:p>
                      <a:pPr>
                        <a:defRPr sz="900" b="1">
                          <a:solidFill>
                            <a:srgbClr val="FFFFFF"/>
                          </a:solidFill>
                          <a:latin typeface="Arial"/>
                        </a:defRPr>
                      </a:pPr>
                      <a:r>
                        <a:t>What the system does</a:t>
                      </a:r>
                    </a:p>
                  </a:txBody>
                  <a:tcPr marL="36576" marR="36576" marT="27432" marB="27432">
                    <a:solidFill>
                      <a:srgbClr val="0F5132"/>
                    </a:solidFill>
                  </a:tcPr>
                </a:tc>
                <a:tc>
                  <a:txBody>
                    <a:bodyPr/>
                    <a:lstStyle/>
                    <a:p>
                      <a:pPr>
                        <a:defRPr sz="900" b="1">
                          <a:solidFill>
                            <a:srgbClr val="FFFFFF"/>
                          </a:solidFill>
                          <a:latin typeface="Arial"/>
                        </a:defRPr>
                      </a:pPr>
                      <a:r>
                        <a:t>Business outcome</a:t>
                      </a:r>
                    </a:p>
                  </a:txBody>
                  <a:tcPr marL="36576" marR="36576" marT="27432" marB="27432">
                    <a:solidFill>
                      <a:srgbClr val="0F5132"/>
                    </a:solidFill>
                  </a:tcPr>
                </a:tc>
              </a:tr>
              <a:tr h="420624">
                <a:tc>
                  <a:txBody>
                    <a:bodyPr/>
                    <a:lstStyle/>
                    <a:p>
                      <a:pPr>
                        <a:defRPr sz="900" b="1">
                          <a:solidFill>
                            <a:srgbClr val="212529"/>
                          </a:solidFill>
                          <a:latin typeface="Arial"/>
                        </a:defRPr>
                      </a:pPr>
                      <a:r>
                        <a:t>Cleanliness score drops below 85%</a:t>
                      </a:r>
                    </a:p>
                  </a:txBody>
                  <a:tcPr marL="36576" marR="36576" marT="27432" marB="27432">
                    <a:solidFill>
                      <a:srgbClr val="F5F5F5"/>
                    </a:solidFill>
                  </a:tcPr>
                </a:tc>
                <a:tc>
                  <a:txBody>
                    <a:bodyPr/>
                    <a:lstStyle/>
                    <a:p>
                      <a:pPr>
                        <a:defRPr sz="900" b="0">
                          <a:solidFill>
                            <a:srgbClr val="212529"/>
                          </a:solidFill>
                          <a:latin typeface="Arial"/>
                        </a:defRPr>
                      </a:pPr>
                      <a:r>
                        <a:t>Warning appears on operator screen. Alert to check incoming batch.</a:t>
                      </a:r>
                    </a:p>
                  </a:txBody>
                  <a:tcPr marL="36576" marR="36576" marT="27432" marB="27432">
                    <a:solidFill>
                      <a:srgbClr val="F5F5F5"/>
                    </a:solidFill>
                  </a:tcPr>
                </a:tc>
                <a:tc>
                  <a:txBody>
                    <a:bodyPr/>
                    <a:lstStyle/>
                    <a:p>
                      <a:pPr>
                        <a:defRPr sz="900" b="0">
                          <a:solidFill>
                            <a:srgbClr val="212529"/>
                          </a:solidFill>
                          <a:latin typeface="Arial"/>
                        </a:defRPr>
                      </a:pPr>
                      <a:r>
                        <a:t>Contaminated bale caught before it reaches the buyer</a:t>
                      </a:r>
                    </a:p>
                  </a:txBody>
                  <a:tcPr marL="36576" marR="36576" marT="27432" marB="27432">
                    <a:solidFill>
                      <a:srgbClr val="F5F5F5"/>
                    </a:solidFill>
                  </a:tcPr>
                </a:tc>
              </a:tr>
              <a:tr h="420624">
                <a:tc>
                  <a:txBody>
                    <a:bodyPr/>
                    <a:lstStyle/>
                    <a:p>
                      <a:pPr>
                        <a:defRPr sz="900" b="1">
                          <a:solidFill>
                            <a:srgbClr val="212529"/>
                          </a:solidFill>
                          <a:latin typeface="Arial"/>
                        </a:defRPr>
                      </a:pPr>
                      <a:r>
                        <a:t>Battery detected in sorting stream</a:t>
                      </a:r>
                    </a:p>
                  </a:txBody>
                  <a:tcPr marL="36576" marR="36576" marT="27432" marB="27432">
                    <a:solidFill>
                      <a:srgbClr val="F5F5F5"/>
                    </a:solidFill>
                  </a:tcPr>
                </a:tc>
                <a:tc>
                  <a:txBody>
                    <a:bodyPr/>
                    <a:lstStyle/>
                    <a:p>
                      <a:pPr>
                        <a:defRPr sz="900" b="0">
                          <a:solidFill>
                            <a:srgbClr val="212529"/>
                          </a:solidFill>
                          <a:latin typeface="Arial"/>
                        </a:defRPr>
                      </a:pPr>
                      <a:r>
                        <a:t>Alarm sounds on operator screen. Item routed to hazardous quarantine immediately.</a:t>
                      </a:r>
                    </a:p>
                  </a:txBody>
                  <a:tcPr marL="36576" marR="36576" marT="27432" marB="27432">
                    <a:solidFill>
                      <a:srgbClr val="F5F5F5"/>
                    </a:solidFill>
                  </a:tcPr>
                </a:tc>
                <a:tc>
                  <a:txBody>
                    <a:bodyPr/>
                    <a:lstStyle/>
                    <a:p>
                      <a:pPr>
                        <a:defRPr sz="900" b="0">
                          <a:solidFill>
                            <a:srgbClr val="212529"/>
                          </a:solidFill>
                          <a:latin typeface="Arial"/>
                        </a:defRPr>
                      </a:pPr>
                      <a:r>
                        <a:t>Worker safety protected. Liability risk eliminated.</a:t>
                      </a:r>
                    </a:p>
                  </a:txBody>
                  <a:tcPr marL="36576" marR="36576" marT="27432" marB="27432">
                    <a:solidFill>
                      <a:srgbClr val="F5F5F5"/>
                    </a:solidFill>
                  </a:tcPr>
                </a:tc>
              </a:tr>
              <a:tr h="420624">
                <a:tc>
                  <a:txBody>
                    <a:bodyPr/>
                    <a:lstStyle/>
                    <a:p>
                      <a:pPr>
                        <a:defRPr sz="900" b="1">
                          <a:solidFill>
                            <a:srgbClr val="212529"/>
                          </a:solidFill>
                          <a:latin typeface="Arial"/>
                        </a:defRPr>
                      </a:pPr>
                      <a:r>
                        <a:t>Cleanliness score consistently above 90% for a full session</a:t>
                      </a:r>
                    </a:p>
                  </a:txBody>
                  <a:tcPr marL="36576" marR="36576" marT="27432" marB="27432">
                    <a:solidFill>
                      <a:srgbClr val="F5F5F5"/>
                    </a:solidFill>
                  </a:tcPr>
                </a:tc>
                <a:tc>
                  <a:txBody>
                    <a:bodyPr/>
                    <a:lstStyle/>
                    <a:p>
                      <a:pPr>
                        <a:defRPr sz="900" b="0">
                          <a:solidFill>
                            <a:srgbClr val="212529"/>
                          </a:solidFill>
                          <a:latin typeface="Arial"/>
                        </a:defRPr>
                      </a:pPr>
                      <a:r>
                        <a:t>User portal awards bonus eco-credit points to the recycler</a:t>
                      </a:r>
                    </a:p>
                  </a:txBody>
                  <a:tcPr marL="36576" marR="36576" marT="27432" marB="27432">
                    <a:solidFill>
                      <a:srgbClr val="F5F5F5"/>
                    </a:solidFill>
                  </a:tcPr>
                </a:tc>
                <a:tc>
                  <a:txBody>
                    <a:bodyPr/>
                    <a:lstStyle/>
                    <a:p>
                      <a:pPr>
                        <a:defRPr sz="900" b="0">
                          <a:solidFill>
                            <a:srgbClr val="212529"/>
                          </a:solidFill>
                          <a:latin typeface="Arial"/>
                        </a:defRPr>
                      </a:pPr>
                      <a:r>
                        <a:t>Recycler motivated to maintain good sorting behaviour</a:t>
                      </a:r>
                    </a:p>
                  </a:txBody>
                  <a:tcPr marL="36576" marR="36576" marT="27432" marB="27432">
                    <a:solidFill>
                      <a:srgbClr val="F5F5F5"/>
                    </a:solidFill>
                  </a:tcPr>
                </a:tc>
              </a:tr>
              <a:tr h="420624">
                <a:tc>
                  <a:txBody>
                    <a:bodyPr/>
                    <a:lstStyle/>
                    <a:p>
                      <a:pPr>
                        <a:defRPr sz="900" b="1">
                          <a:solidFill>
                            <a:srgbClr val="212529"/>
                          </a:solidFill>
                          <a:latin typeface="Arial"/>
                        </a:defRPr>
                      </a:pPr>
                      <a:r>
                        <a:t>Carbon savings pass the monthly reporting threshold</a:t>
                      </a:r>
                    </a:p>
                  </a:txBody>
                  <a:tcPr marL="36576" marR="36576" marT="27432" marB="27432">
                    <a:solidFill>
                      <a:srgbClr val="F5F5F5"/>
                    </a:solidFill>
                  </a:tcPr>
                </a:tc>
                <a:tc>
                  <a:txBody>
                    <a:bodyPr/>
                    <a:lstStyle/>
                    <a:p>
                      <a:pPr>
                        <a:defRPr sz="900" b="0">
                          <a:solidFill>
                            <a:srgbClr val="212529"/>
                          </a:solidFill>
                          <a:latin typeface="Arial"/>
                        </a:defRPr>
                      </a:pPr>
                      <a:r>
                        <a:t>System automatically generates a PDF carbon report ready for submission</a:t>
                      </a:r>
                    </a:p>
                  </a:txBody>
                  <a:tcPr marL="36576" marR="36576" marT="27432" marB="27432">
                    <a:solidFill>
                      <a:srgbClr val="F5F5F5"/>
                    </a:solidFill>
                  </a:tcPr>
                </a:tc>
                <a:tc>
                  <a:txBody>
                    <a:bodyPr/>
                    <a:lstStyle/>
                    <a:p>
                      <a:pPr>
                        <a:defRPr sz="900" b="0">
                          <a:solidFill>
                            <a:srgbClr val="212529"/>
                          </a:solidFill>
                          <a:latin typeface="Arial"/>
                        </a:defRPr>
                      </a:pPr>
                      <a:r>
                        <a:t>ESG reporting completed without manual data compilation</a:t>
                      </a:r>
                    </a:p>
                  </a:txBody>
                  <a:tcPr marL="36576" marR="36576" marT="27432" marB="27432">
                    <a:solidFill>
                      <a:srgbClr val="F5F5F5"/>
                    </a:solidFill>
                  </a:tcPr>
                </a:tc>
              </a:tr>
            </a:tbl>
          </a:graphicData>
        </a:graphic>
      </p:graphicFrame>
      <p:sp>
        <p:nvSpPr>
          <p:cNvPr id="7" name="TextBox 6"/>
          <p:cNvSpPr txBox="1"/>
          <p:nvPr/>
        </p:nvSpPr>
        <p:spPr>
          <a:xfrm>
            <a:off x="457200" y="3630168"/>
            <a:ext cx="5943600" cy="740664"/>
          </a:xfrm>
          <a:prstGeom prst="rect">
            <a:avLst/>
          </a:prstGeom>
          <a:noFill/>
        </p:spPr>
        <p:txBody>
          <a:bodyPr wrap="square">
            <a:spAutoFit/>
          </a:bodyPr>
          <a:lstStyle/>
          <a:p>
            <a:pPr lvl="1">
              <a:spcAft>
                <a:spcPts val="200"/>
              </a:spcAft>
              <a:defRPr sz="1100">
                <a:solidFill>
                  <a:srgbClr val="212529"/>
                </a:solidFill>
                <a:latin typeface="Arial"/>
              </a:defRPr>
            </a:pPr>
            <a:r>
              <a:t>Before PurityLoop AI: contamination found at buyer facility → bale rejected → revenue lost → no data on why.</a:t>
            </a:r>
          </a:p>
          <a:p>
            <a:pPr lvl="1">
              <a:spcAft>
                <a:spcPts val="200"/>
              </a:spcAft>
              <a:defRPr sz="1100">
                <a:solidFill>
                  <a:srgbClr val="212529"/>
                </a:solidFill>
                <a:latin typeface="Arial"/>
              </a:defRPr>
            </a:pPr>
            <a:r>
              <a:t>After PurityLoop AI: contamination flagged at sorting stage → batch corrected before dispatch → revenue protected → full audit trail available.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15: The Application — What It Does and Who Uses It</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15 in Appendix A to generate the visual image.</a:t>
            </a:r>
          </a:p>
        </p:txBody>
      </p:sp>
      <p:sp>
        <p:nvSpPr>
          <p:cNvPr id="5" name="TextBox 4"/>
          <p:cNvSpPr txBox="1"/>
          <p:nvPr/>
        </p:nvSpPr>
        <p:spPr>
          <a:xfrm>
            <a:off x="457200" y="1188720"/>
            <a:ext cx="5943600" cy="448056"/>
          </a:xfrm>
          <a:prstGeom prst="rect">
            <a:avLst/>
          </a:prstGeom>
          <a:noFill/>
        </p:spPr>
        <p:txBody>
          <a:bodyPr wrap="square">
            <a:spAutoFit/>
          </a:bodyPr>
          <a:lstStyle/>
          <a:p>
            <a:pPr>
              <a:spcAft>
                <a:spcPts val="400"/>
              </a:spcAft>
              <a:defRPr sz="1100">
                <a:solidFill>
                  <a:srgbClr val="212529"/>
                </a:solidFill>
                <a:latin typeface="Arial"/>
              </a:defRPr>
            </a:pPr>
            <a:r>
              <a:t>The system has one web application that opens in any browser — no installation needed. It shows two different screens depending on who is using it:</a:t>
            </a:r>
          </a:p>
        </p:txBody>
      </p:sp>
      <p:graphicFrame>
        <p:nvGraphicFramePr>
          <p:cNvPr id="6" name="Table 5"/>
          <p:cNvGraphicFramePr>
            <a:graphicFrameLocks noGrp="1"/>
          </p:cNvGraphicFramePr>
          <p:nvPr/>
        </p:nvGraphicFramePr>
        <p:xfrm>
          <a:off x="457200" y="1636776"/>
          <a:ext cx="5943597" cy="1152144"/>
        </p:xfrm>
        <a:graphic>
          <a:graphicData uri="http://schemas.openxmlformats.org/drawingml/2006/table">
            <a:tbl>
              <a:tblPr firstRow="1" bandRow="1">
                <a:tableStyleId>{5C22544A-7EE6-4342-B048-85BDC9FD1C3A}</a:tableStyleId>
              </a:tblPr>
              <a:tblGrid>
                <a:gridCol w="1981199"/>
                <a:gridCol w="1981199"/>
                <a:gridCol w="1981199"/>
              </a:tblGrid>
              <a:tr h="288036">
                <a:tc>
                  <a:txBody>
                    <a:bodyPr/>
                    <a:lstStyle/>
                    <a:p>
                      <a:pPr>
                        <a:defRPr sz="900" b="1">
                          <a:solidFill>
                            <a:srgbClr val="FFFFFF"/>
                          </a:solidFill>
                          <a:latin typeface="Arial"/>
                        </a:defRPr>
                      </a:pPr>
                    </a:p>
                  </a:txBody>
                  <a:tcPr marL="36576" marR="36576" marT="27432" marB="27432">
                    <a:solidFill>
                      <a:srgbClr val="0F5132"/>
                    </a:solidFill>
                  </a:tcPr>
                </a:tc>
                <a:tc>
                  <a:txBody>
                    <a:bodyPr/>
                    <a:lstStyle/>
                    <a:p>
                      <a:pPr>
                        <a:defRPr sz="900" b="1">
                          <a:solidFill>
                            <a:srgbClr val="FFFFFF"/>
                          </a:solidFill>
                          <a:latin typeface="Arial"/>
                        </a:defRPr>
                      </a:pPr>
                      <a:r>
                        <a:t>Operator Screen</a:t>
                      </a:r>
                    </a:p>
                  </a:txBody>
                  <a:tcPr marL="36576" marR="36576" marT="27432" marB="27432">
                    <a:solidFill>
                      <a:srgbClr val="0F5132"/>
                    </a:solidFill>
                  </a:tcPr>
                </a:tc>
                <a:tc>
                  <a:txBody>
                    <a:bodyPr/>
                    <a:lstStyle/>
                    <a:p>
                      <a:pPr>
                        <a:defRPr sz="900" b="1">
                          <a:solidFill>
                            <a:srgbClr val="FFFFFF"/>
                          </a:solidFill>
                          <a:latin typeface="Arial"/>
                        </a:defRPr>
                      </a:pPr>
                      <a:r>
                        <a:t>User Portal</a:t>
                      </a:r>
                    </a:p>
                  </a:txBody>
                  <a:tcPr marL="36576" marR="36576" marT="27432" marB="27432">
                    <a:solidFill>
                      <a:srgbClr val="0F5132"/>
                    </a:solidFill>
                  </a:tcPr>
                </a:tc>
              </a:tr>
              <a:tr h="288036">
                <a:tc>
                  <a:txBody>
                    <a:bodyPr/>
                    <a:lstStyle/>
                    <a:p>
                      <a:pPr>
                        <a:defRPr sz="900" b="1">
                          <a:solidFill>
                            <a:srgbClr val="212529"/>
                          </a:solidFill>
                          <a:latin typeface="Arial"/>
                        </a:defRPr>
                      </a:pPr>
                      <a:r>
                        <a:t>**Who uses it**</a:t>
                      </a:r>
                    </a:p>
                  </a:txBody>
                  <a:tcPr marL="36576" marR="36576" marT="27432" marB="27432">
                    <a:solidFill>
                      <a:srgbClr val="F5F5F5"/>
                    </a:solidFill>
                  </a:tcPr>
                </a:tc>
                <a:tc>
                  <a:txBody>
                    <a:bodyPr/>
                    <a:lstStyle/>
                    <a:p>
                      <a:pPr>
                        <a:defRPr sz="900" b="0">
                          <a:solidFill>
                            <a:srgbClr val="212529"/>
                          </a:solidFill>
                          <a:latin typeface="Arial"/>
                        </a:defRPr>
                      </a:pPr>
                      <a:r>
                        <a:t>Factory manager / sorting supervisor</a:t>
                      </a:r>
                    </a:p>
                  </a:txBody>
                  <a:tcPr marL="36576" marR="36576" marT="27432" marB="27432">
                    <a:solidFill>
                      <a:srgbClr val="F5F5F5"/>
                    </a:solidFill>
                  </a:tcPr>
                </a:tc>
                <a:tc>
                  <a:txBody>
                    <a:bodyPr/>
                    <a:lstStyle/>
                    <a:p>
                      <a:pPr>
                        <a:defRPr sz="900" b="0">
                          <a:solidFill>
                            <a:srgbClr val="212529"/>
                          </a:solidFill>
                          <a:latin typeface="Arial"/>
                        </a:defRPr>
                      </a:pPr>
                      <a:r>
                        <a:t>Person bringing recyclables to a drop-off point</a:t>
                      </a:r>
                    </a:p>
                  </a:txBody>
                  <a:tcPr marL="36576" marR="36576" marT="27432" marB="27432">
                    <a:solidFill>
                      <a:srgbClr val="F5F5F5"/>
                    </a:solidFill>
                  </a:tcPr>
                </a:tc>
              </a:tr>
              <a:tr h="288036">
                <a:tc>
                  <a:txBody>
                    <a:bodyPr/>
                    <a:lstStyle/>
                    <a:p>
                      <a:pPr>
                        <a:defRPr sz="900" b="1">
                          <a:solidFill>
                            <a:srgbClr val="212529"/>
                          </a:solidFill>
                          <a:latin typeface="Arial"/>
                        </a:defRPr>
                      </a:pPr>
                      <a:r>
                        <a:t>**What they see**</a:t>
                      </a:r>
                    </a:p>
                  </a:txBody>
                  <a:tcPr marL="36576" marR="36576" marT="27432" marB="27432">
                    <a:solidFill>
                      <a:srgbClr val="F5F5F5"/>
                    </a:solidFill>
                  </a:tcPr>
                </a:tc>
                <a:tc>
                  <a:txBody>
                    <a:bodyPr/>
                    <a:lstStyle/>
                    <a:p>
                      <a:pPr>
                        <a:defRPr sz="900" b="0">
                          <a:solidFill>
                            <a:srgbClr val="212529"/>
                          </a:solidFill>
                          <a:latin typeface="Arial"/>
                        </a:defRPr>
                      </a:pPr>
                      <a:r>
                        <a:t>Live camera feed with item labels, cleanliness score, alerts</a:t>
                      </a:r>
                    </a:p>
                  </a:txBody>
                  <a:tcPr marL="36576" marR="36576" marT="27432" marB="27432">
                    <a:solidFill>
                      <a:srgbClr val="F5F5F5"/>
                    </a:solidFill>
                  </a:tcPr>
                </a:tc>
                <a:tc>
                  <a:txBody>
                    <a:bodyPr/>
                    <a:lstStyle/>
                    <a:p>
                      <a:pPr>
                        <a:defRPr sz="900" b="0">
                          <a:solidFill>
                            <a:srgbClr val="212529"/>
                          </a:solidFill>
                          <a:latin typeface="Arial"/>
                        </a:defRPr>
                      </a:pPr>
                      <a:r>
                        <a:t>Personal recycling score, points earned, carbon saved, tips</a:t>
                      </a:r>
                    </a:p>
                  </a:txBody>
                  <a:tcPr marL="36576" marR="36576" marT="27432" marB="27432">
                    <a:solidFill>
                      <a:srgbClr val="F5F5F5"/>
                    </a:solidFill>
                  </a:tcPr>
                </a:tc>
              </a:tr>
              <a:tr h="288036">
                <a:tc>
                  <a:txBody>
                    <a:bodyPr/>
                    <a:lstStyle/>
                    <a:p>
                      <a:pPr>
                        <a:defRPr sz="900" b="1">
                          <a:solidFill>
                            <a:srgbClr val="212529"/>
                          </a:solidFill>
                          <a:latin typeface="Arial"/>
                        </a:defRPr>
                      </a:pPr>
                      <a:r>
                        <a:t>**Main function**</a:t>
                      </a:r>
                    </a:p>
                  </a:txBody>
                  <a:tcPr marL="36576" marR="36576" marT="27432" marB="27432">
                    <a:solidFill>
                      <a:srgbClr val="F5F5F5"/>
                    </a:solidFill>
                  </a:tcPr>
                </a:tc>
                <a:tc>
                  <a:txBody>
                    <a:bodyPr/>
                    <a:lstStyle/>
                    <a:p>
                      <a:pPr>
                        <a:defRPr sz="900" b="0">
                          <a:solidFill>
                            <a:srgbClr val="212529"/>
                          </a:solidFill>
                          <a:latin typeface="Arial"/>
                        </a:defRPr>
                      </a:pPr>
                      <a:r>
                        <a:t>Monitor and control the sorting line</a:t>
                      </a:r>
                    </a:p>
                  </a:txBody>
                  <a:tcPr marL="36576" marR="36576" marT="27432" marB="27432">
                    <a:solidFill>
                      <a:srgbClr val="F5F5F5"/>
                    </a:solidFill>
                  </a:tcPr>
                </a:tc>
                <a:tc>
                  <a:txBody>
                    <a:bodyPr/>
                    <a:lstStyle/>
                    <a:p>
                      <a:pPr>
                        <a:defRPr sz="900" b="0">
                          <a:solidFill>
                            <a:srgbClr val="212529"/>
                          </a:solidFill>
                          <a:latin typeface="Arial"/>
                        </a:defRPr>
                      </a:pPr>
                      <a:r>
                        <a:t>Track personal recycling impact</a:t>
                      </a:r>
                    </a:p>
                  </a:txBody>
                  <a:tcPr marL="36576" marR="36576" marT="27432" marB="27432">
                    <a:solidFill>
                      <a:srgbClr val="F5F5F5"/>
                    </a:solidFill>
                  </a:tcPr>
                </a:tc>
              </a:tr>
            </a:tbl>
          </a:graphicData>
        </a:graphic>
      </p:graphicFrame>
      <p:sp>
        <p:nvSpPr>
          <p:cNvPr id="7" name="TextBox 6"/>
          <p:cNvSpPr txBox="1"/>
          <p:nvPr/>
        </p:nvSpPr>
        <p:spPr>
          <a:xfrm>
            <a:off x="457200" y="2880360"/>
            <a:ext cx="5943600" cy="1810512"/>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How the AI connects to the screen:</a:t>
            </a:r>
          </a:p>
          <a:p>
            <a:pPr>
              <a:spcAft>
                <a:spcPts val="400"/>
              </a:spcAft>
              <a:defRPr sz="1100" i="1">
                <a:solidFill>
                  <a:srgbClr val="212529"/>
                </a:solidFill>
                <a:latin typeface="Arial"/>
              </a:defRPr>
            </a:pPr>
            <a:r>
              <a:t>The screen loads the AI model directly. When a photo is uploaded or detected from the camera, the AI analyses it and the results appear on screen in under 0.5 seconds.</a:t>
            </a:r>
          </a:p>
          <a:p>
            <a:pPr>
              <a:spcBef>
                <a:spcPts val="600"/>
              </a:spcBef>
              <a:spcAft>
                <a:spcPts val="300"/>
              </a:spcAft>
              <a:defRPr sz="1500" b="1">
                <a:solidFill>
                  <a:srgbClr val="0F5132"/>
                </a:solidFill>
                <a:latin typeface="Arial"/>
              </a:defRPr>
            </a:pPr>
            <a:r>
              <a:t>Development progress:</a:t>
            </a:r>
          </a:p>
          <a:p>
            <a:pPr lvl="1">
              <a:spcAft>
                <a:spcPts val="200"/>
              </a:spcAft>
              <a:defRPr sz="1100">
                <a:solidFill>
                  <a:srgbClr val="212529"/>
                </a:solidFill>
                <a:latin typeface="Arial"/>
              </a:defRPr>
            </a:pPr>
            <a:r>
              <a:t>Sprint 1: Layout designs on paper (wireframes)</a:t>
            </a:r>
          </a:p>
          <a:p>
            <a:pPr lvl="1">
              <a:spcAft>
                <a:spcPts val="200"/>
              </a:spcAft>
              <a:defRPr sz="1100">
                <a:solidFill>
                  <a:srgbClr val="212529"/>
                </a:solidFill>
                <a:latin typeface="Arial"/>
              </a:defRPr>
            </a:pPr>
            <a:r>
              <a:t>Sprint 2: Screens built with sample data — in progress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16: Web Application: Development Life Cycle &amp; Gaps</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16 in Appendix A to generate the visual image.</a:t>
            </a:r>
          </a:p>
        </p:txBody>
      </p:sp>
      <p:sp>
        <p:nvSpPr>
          <p:cNvPr id="5" name="TextBox 4"/>
          <p:cNvSpPr txBox="1"/>
          <p:nvPr/>
        </p:nvSpPr>
        <p:spPr>
          <a:xfrm>
            <a:off x="457200" y="1188720"/>
            <a:ext cx="5943600" cy="1856232"/>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Software Development Life Cycle (SDLC):</a:t>
            </a:r>
          </a:p>
          <a:p>
            <a:pPr lvl="1">
              <a:spcAft>
                <a:spcPts val="200"/>
              </a:spcAft>
              <a:defRPr sz="1100">
                <a:solidFill>
                  <a:srgbClr val="212529"/>
                </a:solidFill>
                <a:latin typeface="Arial"/>
              </a:defRPr>
            </a:pPr>
            <a:r>
              <a:t>Agile Scrum Methodology: Two-week sprint iterations.</a:t>
            </a:r>
          </a:p>
          <a:p>
            <a:pPr lvl="1">
              <a:spcAft>
                <a:spcPts val="200"/>
              </a:spcAft>
              <a:defRPr sz="1100">
                <a:solidFill>
                  <a:srgbClr val="212529"/>
                </a:solidFill>
                <a:latin typeface="Arial"/>
              </a:defRPr>
            </a:pPr>
            <a:r>
              <a:t>Sprint 1 (Weeks 3–4): GUI wireframing, SQL schema design, role definitions.</a:t>
            </a:r>
          </a:p>
          <a:p>
            <a:pPr lvl="1">
              <a:spcAft>
                <a:spcPts val="200"/>
              </a:spcAft>
              <a:defRPr sz="1100">
                <a:solidFill>
                  <a:srgbClr val="212529"/>
                </a:solidFill>
                <a:latin typeface="Arial"/>
              </a:defRPr>
            </a:pPr>
            <a:r>
              <a:t>Sprint 2 (Weeks 5–6): Streamlit prototype building, mock data rendering, and logic routing.</a:t>
            </a:r>
          </a:p>
          <a:p>
            <a:pPr lvl="1">
              <a:spcAft>
                <a:spcPts val="200"/>
              </a:spcAft>
              <a:defRPr sz="1100">
                <a:solidFill>
                  <a:srgbClr val="212529"/>
                </a:solidFill>
                <a:latin typeface="Arial"/>
              </a:defRPr>
            </a:pPr>
            <a:r>
              <a:t>Sprint 3 (Weeks 7–8): Integration of YOLO inference model and active learning review screens.</a:t>
            </a:r>
          </a:p>
          <a:p>
            <a:pPr>
              <a:spcBef>
                <a:spcPts val="600"/>
              </a:spcBef>
              <a:spcAft>
                <a:spcPts val="300"/>
              </a:spcAft>
              <a:defRPr sz="1500" b="1">
                <a:solidFill>
                  <a:srgbClr val="0F5132"/>
                </a:solidFill>
                <a:latin typeface="Arial"/>
              </a:defRPr>
            </a:pPr>
            <a:r>
              <a:t>What-IS vs. To-Be Analysis:</a:t>
            </a:r>
          </a:p>
        </p:txBody>
      </p:sp>
      <p:graphicFrame>
        <p:nvGraphicFramePr>
          <p:cNvPr id="6" name="Table 5"/>
          <p:cNvGraphicFramePr>
            <a:graphicFrameLocks noGrp="1"/>
          </p:cNvGraphicFramePr>
          <p:nvPr/>
        </p:nvGraphicFramePr>
        <p:xfrm>
          <a:off x="457200" y="3044952"/>
          <a:ext cx="5943597" cy="969264"/>
        </p:xfrm>
        <a:graphic>
          <a:graphicData uri="http://schemas.openxmlformats.org/drawingml/2006/table">
            <a:tbl>
              <a:tblPr firstRow="1" bandRow="1">
                <a:tableStyleId>{5C22544A-7EE6-4342-B048-85BDC9FD1C3A}</a:tableStyleId>
              </a:tblPr>
              <a:tblGrid>
                <a:gridCol w="1981199"/>
                <a:gridCol w="1981199"/>
                <a:gridCol w="1981199"/>
              </a:tblGrid>
              <a:tr h="242316">
                <a:tc>
                  <a:txBody>
                    <a:bodyPr/>
                    <a:lstStyle/>
                    <a:p>
                      <a:pPr>
                        <a:defRPr sz="900" b="1">
                          <a:solidFill>
                            <a:srgbClr val="FFFFFF"/>
                          </a:solidFill>
                          <a:latin typeface="Arial"/>
                        </a:defRPr>
                      </a:pPr>
                      <a:r>
                        <a:t>Feature</a:t>
                      </a:r>
                    </a:p>
                  </a:txBody>
                  <a:tcPr marL="36576" marR="36576" marT="27432" marB="27432">
                    <a:solidFill>
                      <a:srgbClr val="0F5132"/>
                    </a:solidFill>
                  </a:tcPr>
                </a:tc>
                <a:tc>
                  <a:txBody>
                    <a:bodyPr/>
                    <a:lstStyle/>
                    <a:p>
                      <a:pPr>
                        <a:defRPr sz="900" b="1">
                          <a:solidFill>
                            <a:srgbClr val="FFFFFF"/>
                          </a:solidFill>
                          <a:latin typeface="Arial"/>
                        </a:defRPr>
                      </a:pPr>
                      <a:r>
                        <a:t>What-IS (Standard Dashboard)</a:t>
                      </a:r>
                    </a:p>
                  </a:txBody>
                  <a:tcPr marL="36576" marR="36576" marT="27432" marB="27432">
                    <a:solidFill>
                      <a:srgbClr val="0F5132"/>
                    </a:solidFill>
                  </a:tcPr>
                </a:tc>
                <a:tc>
                  <a:txBody>
                    <a:bodyPr/>
                    <a:lstStyle/>
                    <a:p>
                      <a:pPr>
                        <a:defRPr sz="900" b="1">
                          <a:solidFill>
                            <a:srgbClr val="FFFFFF"/>
                          </a:solidFill>
                          <a:latin typeface="Arial"/>
                        </a:defRPr>
                      </a:pPr>
                      <a:r>
                        <a:t>To-Be (PurityLoop App)</a:t>
                      </a:r>
                    </a:p>
                  </a:txBody>
                  <a:tcPr marL="36576" marR="36576" marT="27432" marB="27432">
                    <a:solidFill>
                      <a:srgbClr val="0F5132"/>
                    </a:solidFill>
                  </a:tcPr>
                </a:tc>
              </a:tr>
              <a:tr h="242316">
                <a:tc>
                  <a:txBody>
                    <a:bodyPr/>
                    <a:lstStyle/>
                    <a:p>
                      <a:pPr>
                        <a:defRPr sz="900" b="1">
                          <a:solidFill>
                            <a:srgbClr val="212529"/>
                          </a:solidFill>
                          <a:latin typeface="Arial"/>
                        </a:defRPr>
                      </a:pPr>
                      <a:r>
                        <a:t>Camera Integration</a:t>
                      </a:r>
                    </a:p>
                  </a:txBody>
                  <a:tcPr marL="36576" marR="36576" marT="27432" marB="27432">
                    <a:solidFill>
                      <a:srgbClr val="F5F5F5"/>
                    </a:solidFill>
                  </a:tcPr>
                </a:tc>
                <a:tc>
                  <a:txBody>
                    <a:bodyPr/>
                    <a:lstStyle/>
                    <a:p>
                      <a:pPr>
                        <a:defRPr sz="900" b="0">
                          <a:solidFill>
                            <a:srgbClr val="212529"/>
                          </a:solidFill>
                          <a:latin typeface="Arial"/>
                        </a:defRPr>
                      </a:pPr>
                      <a:r>
                        <a:t>Static images only</a:t>
                      </a:r>
                    </a:p>
                  </a:txBody>
                  <a:tcPr marL="36576" marR="36576" marT="27432" marB="27432">
                    <a:solidFill>
                      <a:srgbClr val="F5F5F5"/>
                    </a:solidFill>
                  </a:tcPr>
                </a:tc>
                <a:tc>
                  <a:txBody>
                    <a:bodyPr/>
                    <a:lstStyle/>
                    <a:p>
                      <a:pPr>
                        <a:defRPr sz="900" b="0">
                          <a:solidFill>
                            <a:srgbClr val="212529"/>
                          </a:solidFill>
                          <a:latin typeface="Arial"/>
                        </a:defRPr>
                      </a:pPr>
                      <a:r>
                        <a:t>Live camera feed with bounding box overlay</a:t>
                      </a:r>
                    </a:p>
                  </a:txBody>
                  <a:tcPr marL="36576" marR="36576" marT="27432" marB="27432">
                    <a:solidFill>
                      <a:srgbClr val="F5F5F5"/>
                    </a:solidFill>
                  </a:tcPr>
                </a:tc>
              </a:tr>
              <a:tr h="242316">
                <a:tc>
                  <a:txBody>
                    <a:bodyPr/>
                    <a:lstStyle/>
                    <a:p>
                      <a:pPr>
                        <a:defRPr sz="900" b="1">
                          <a:solidFill>
                            <a:srgbClr val="212529"/>
                          </a:solidFill>
                          <a:latin typeface="Arial"/>
                        </a:defRPr>
                      </a:pPr>
                      <a:r>
                        <a:t>Data Processing</a:t>
                      </a:r>
                    </a:p>
                  </a:txBody>
                  <a:tcPr marL="36576" marR="36576" marT="27432" marB="27432">
                    <a:solidFill>
                      <a:srgbClr val="F5F5F5"/>
                    </a:solidFill>
                  </a:tcPr>
                </a:tc>
                <a:tc>
                  <a:txBody>
                    <a:bodyPr/>
                    <a:lstStyle/>
                    <a:p>
                      <a:pPr>
                        <a:defRPr sz="900" b="0">
                          <a:solidFill>
                            <a:srgbClr val="212529"/>
                          </a:solidFill>
                          <a:latin typeface="Arial"/>
                        </a:defRPr>
                      </a:pPr>
                      <a:r>
                        <a:t>Batch processing</a:t>
                      </a:r>
                    </a:p>
                  </a:txBody>
                  <a:tcPr marL="36576" marR="36576" marT="27432" marB="27432">
                    <a:solidFill>
                      <a:srgbClr val="F5F5F5"/>
                    </a:solidFill>
                  </a:tcPr>
                </a:tc>
                <a:tc>
                  <a:txBody>
                    <a:bodyPr/>
                    <a:lstStyle/>
                    <a:p>
                      <a:pPr>
                        <a:defRPr sz="900" b="0">
                          <a:solidFill>
                            <a:srgbClr val="212529"/>
                          </a:solidFill>
                          <a:latin typeface="Arial"/>
                        </a:defRPr>
                      </a:pPr>
                      <a:r>
                        <a:t>Real-time SQLite logging (&lt;100ms)</a:t>
                      </a:r>
                    </a:p>
                  </a:txBody>
                  <a:tcPr marL="36576" marR="36576" marT="27432" marB="27432">
                    <a:solidFill>
                      <a:srgbClr val="F5F5F5"/>
                    </a:solidFill>
                  </a:tcPr>
                </a:tc>
              </a:tr>
              <a:tr h="242316">
                <a:tc>
                  <a:txBody>
                    <a:bodyPr/>
                    <a:lstStyle/>
                    <a:p>
                      <a:pPr>
                        <a:defRPr sz="900" b="1">
                          <a:solidFill>
                            <a:srgbClr val="212529"/>
                          </a:solidFill>
                          <a:latin typeface="Arial"/>
                        </a:defRPr>
                      </a:pPr>
                      <a:r>
                        <a:t>Feedback Loop</a:t>
                      </a:r>
                    </a:p>
                  </a:txBody>
                  <a:tcPr marL="36576" marR="36576" marT="27432" marB="27432">
                    <a:solidFill>
                      <a:srgbClr val="F5F5F5"/>
                    </a:solidFill>
                  </a:tcPr>
                </a:tc>
                <a:tc>
                  <a:txBody>
                    <a:bodyPr/>
                    <a:lstStyle/>
                    <a:p>
                      <a:pPr>
                        <a:defRPr sz="900" b="0">
                          <a:solidFill>
                            <a:srgbClr val="212529"/>
                          </a:solidFill>
                          <a:latin typeface="Arial"/>
                        </a:defRPr>
                      </a:pPr>
                      <a:r>
                        <a:t>Read-only graphs</a:t>
                      </a:r>
                    </a:p>
                  </a:txBody>
                  <a:tcPr marL="36576" marR="36576" marT="27432" marB="27432">
                    <a:solidFill>
                      <a:srgbClr val="F5F5F5"/>
                    </a:solidFill>
                  </a:tcPr>
                </a:tc>
                <a:tc>
                  <a:txBody>
                    <a:bodyPr/>
                    <a:lstStyle/>
                    <a:p>
                      <a:pPr>
                        <a:defRPr sz="900" b="0">
                          <a:solidFill>
                            <a:srgbClr val="212529"/>
                          </a:solidFill>
                          <a:latin typeface="Arial"/>
                        </a:defRPr>
                      </a:pPr>
                      <a:r>
                        <a:t>Active learning Amber Review queue</a:t>
                      </a:r>
                    </a:p>
                  </a:txBody>
                  <a:tcPr marL="36576" marR="36576" marT="27432" marB="27432">
                    <a:solidFill>
                      <a:srgbClr val="F5F5F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17: Point of Integration — How All Parts Connect</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17 in Appendix A to generate the visual image.</a:t>
            </a:r>
          </a:p>
        </p:txBody>
      </p:sp>
      <p:sp>
        <p:nvSpPr>
          <p:cNvPr id="5" name="TextBox 4"/>
          <p:cNvSpPr txBox="1"/>
          <p:nvPr/>
        </p:nvSpPr>
        <p:spPr>
          <a:xfrm>
            <a:off x="457200" y="1188720"/>
            <a:ext cx="5943600" cy="815962"/>
          </a:xfrm>
          <a:prstGeom prst="rect">
            <a:avLst/>
          </a:prstGeom>
          <a:noFill/>
        </p:spPr>
        <p:txBody>
          <a:bodyPr wrap="square">
            <a:spAutoFit/>
          </a:bodyPr>
          <a:lstStyle/>
          <a:p>
            <a:pPr>
              <a:spcAft>
                <a:spcPts val="300"/>
              </a:spcAft>
              <a:defRPr sz="900">
                <a:solidFill>
                  <a:srgbClr val="212529"/>
                </a:solidFill>
                <a:latin typeface="Arial"/>
              </a:defRPr>
            </a:pPr>
            <a:r>
              <a:t>The point of integration is where three separate parts of the system exchange information. Nothing is hardcoded or manual — every connection is automated.</a:t>
            </a:r>
          </a:p>
          <a:p>
            <a:pPr>
              <a:spcBef>
                <a:spcPts val="500"/>
              </a:spcBef>
              <a:spcAft>
                <a:spcPts val="200"/>
              </a:spcAft>
              <a:defRPr sz="1300" b="1">
                <a:solidFill>
                  <a:srgbClr val="0F5132"/>
                </a:solidFill>
                <a:latin typeface="Arial"/>
              </a:defRPr>
            </a:pPr>
            <a:r>
              <a:t>The full data journey in under 0.5 seconds:</a:t>
            </a:r>
          </a:p>
        </p:txBody>
      </p:sp>
      <p:graphicFrame>
        <p:nvGraphicFramePr>
          <p:cNvPr id="6" name="Table 5"/>
          <p:cNvGraphicFramePr>
            <a:graphicFrameLocks noGrp="1"/>
          </p:cNvGraphicFramePr>
          <p:nvPr/>
        </p:nvGraphicFramePr>
        <p:xfrm>
          <a:off x="457200" y="2004682"/>
          <a:ext cx="5943597" cy="2192382"/>
        </p:xfrm>
        <a:graphic>
          <a:graphicData uri="http://schemas.openxmlformats.org/drawingml/2006/table">
            <a:tbl>
              <a:tblPr firstRow="1" bandRow="1">
                <a:tableStyleId>{5C22544A-7EE6-4342-B048-85BDC9FD1C3A}</a:tableStyleId>
              </a:tblPr>
              <a:tblGrid>
                <a:gridCol w="1981199"/>
                <a:gridCol w="1981199"/>
                <a:gridCol w="1981199"/>
              </a:tblGrid>
              <a:tr h="243598">
                <a:tc>
                  <a:txBody>
                    <a:bodyPr/>
                    <a:lstStyle/>
                    <a:p>
                      <a:pPr>
                        <a:defRPr sz="800" b="1">
                          <a:solidFill>
                            <a:srgbClr val="FFFFFF"/>
                          </a:solidFill>
                          <a:latin typeface="Arial"/>
                        </a:defRPr>
                      </a:pPr>
                      <a:r>
                        <a:t>Step</a:t>
                      </a:r>
                    </a:p>
                  </a:txBody>
                  <a:tcPr marL="36576" marR="36576" marT="27432" marB="27432">
                    <a:solidFill>
                      <a:srgbClr val="0F5132"/>
                    </a:solidFill>
                  </a:tcPr>
                </a:tc>
                <a:tc>
                  <a:txBody>
                    <a:bodyPr/>
                    <a:lstStyle/>
                    <a:p>
                      <a:pPr>
                        <a:defRPr sz="800" b="1">
                          <a:solidFill>
                            <a:srgbClr val="FFFFFF"/>
                          </a:solidFill>
                          <a:latin typeface="Arial"/>
                        </a:defRPr>
                      </a:pPr>
                      <a:r>
                        <a:t>What happens</a:t>
                      </a:r>
                    </a:p>
                  </a:txBody>
                  <a:tcPr marL="36576" marR="36576" marT="27432" marB="27432">
                    <a:solidFill>
                      <a:srgbClr val="0F5132"/>
                    </a:solidFill>
                  </a:tcPr>
                </a:tc>
                <a:tc>
                  <a:txBody>
                    <a:bodyPr/>
                    <a:lstStyle/>
                    <a:p>
                      <a:pPr>
                        <a:defRPr sz="800" b="1">
                          <a:solidFill>
                            <a:srgbClr val="FFFFFF"/>
                          </a:solidFill>
                          <a:latin typeface="Arial"/>
                        </a:defRPr>
                      </a:pPr>
                      <a:r>
                        <a:t>Time</a:t>
                      </a:r>
                    </a:p>
                  </a:txBody>
                  <a:tcPr marL="36576" marR="36576" marT="27432" marB="27432">
                    <a:solidFill>
                      <a:srgbClr val="0F5132"/>
                    </a:solidFill>
                  </a:tcPr>
                </a:tc>
              </a:tr>
              <a:tr h="243598">
                <a:tc>
                  <a:txBody>
                    <a:bodyPr/>
                    <a:lstStyle/>
                    <a:p>
                      <a:pPr>
                        <a:defRPr sz="800" b="1">
                          <a:solidFill>
                            <a:srgbClr val="212529"/>
                          </a:solidFill>
                          <a:latin typeface="Arial"/>
                        </a:defRPr>
                      </a:pPr>
                      <a:r>
                        <a:t>1</a:t>
                      </a:r>
                    </a:p>
                  </a:txBody>
                  <a:tcPr marL="36576" marR="36576" marT="27432" marB="27432">
                    <a:solidFill>
                      <a:srgbClr val="F5F5F5"/>
                    </a:solidFill>
                  </a:tcPr>
                </a:tc>
                <a:tc>
                  <a:txBody>
                    <a:bodyPr/>
                    <a:lstStyle/>
                    <a:p>
                      <a:pPr>
                        <a:defRPr sz="800" b="0">
                          <a:solidFill>
                            <a:srgbClr val="212529"/>
                          </a:solidFill>
                          <a:latin typeface="Arial"/>
                        </a:defRPr>
                      </a:pPr>
                      <a:r>
                        <a:t>Camera drops photo into the monitored folder</a:t>
                      </a:r>
                    </a:p>
                  </a:txBody>
                  <a:tcPr marL="36576" marR="36576" marT="27432" marB="27432">
                    <a:solidFill>
                      <a:srgbClr val="F5F5F5"/>
                    </a:solidFill>
                  </a:tcPr>
                </a:tc>
                <a:tc>
                  <a:txBody>
                    <a:bodyPr/>
                    <a:lstStyle/>
                    <a:p>
                      <a:pPr>
                        <a:defRPr sz="800" b="0">
                          <a:solidFill>
                            <a:srgbClr val="212529"/>
                          </a:solidFill>
                          <a:latin typeface="Arial"/>
                        </a:defRPr>
                      </a:pPr>
                      <a:r>
                        <a:t>Instant</a:t>
                      </a:r>
                    </a:p>
                  </a:txBody>
                  <a:tcPr marL="36576" marR="36576" marT="27432" marB="27432">
                    <a:solidFill>
                      <a:srgbClr val="F5F5F5"/>
                    </a:solidFill>
                  </a:tcPr>
                </a:tc>
              </a:tr>
              <a:tr h="243598">
                <a:tc>
                  <a:txBody>
                    <a:bodyPr/>
                    <a:lstStyle/>
                    <a:p>
                      <a:pPr>
                        <a:defRPr sz="800" b="1">
                          <a:solidFill>
                            <a:srgbClr val="212529"/>
                          </a:solidFill>
                          <a:latin typeface="Arial"/>
                        </a:defRPr>
                      </a:pPr>
                      <a:r>
                        <a:t>2</a:t>
                      </a:r>
                    </a:p>
                  </a:txBody>
                  <a:tcPr marL="36576" marR="36576" marT="27432" marB="27432">
                    <a:solidFill>
                      <a:srgbClr val="F5F5F5"/>
                    </a:solidFill>
                  </a:tcPr>
                </a:tc>
                <a:tc>
                  <a:txBody>
                    <a:bodyPr/>
                    <a:lstStyle/>
                    <a:p>
                      <a:pPr>
                        <a:defRPr sz="800" b="0">
                          <a:solidFill>
                            <a:srgbClr val="212529"/>
                          </a:solidFill>
                          <a:latin typeface="Arial"/>
                        </a:defRPr>
                      </a:pPr>
                      <a:r>
                        <a:t>File monitor picks up the photo</a:t>
                      </a:r>
                    </a:p>
                  </a:txBody>
                  <a:tcPr marL="36576" marR="36576" marT="27432" marB="27432">
                    <a:solidFill>
                      <a:srgbClr val="F5F5F5"/>
                    </a:solidFill>
                  </a:tcPr>
                </a:tc>
                <a:tc>
                  <a:txBody>
                    <a:bodyPr/>
                    <a:lstStyle/>
                    <a:p>
                      <a:pPr>
                        <a:defRPr sz="800" b="0">
                          <a:solidFill>
                            <a:srgbClr val="212529"/>
                          </a:solidFill>
                          <a:latin typeface="Arial"/>
                        </a:defRPr>
                      </a:pPr>
                      <a:r>
                        <a:t>&lt; 0.5 sec</a:t>
                      </a:r>
                    </a:p>
                  </a:txBody>
                  <a:tcPr marL="36576" marR="36576" marT="27432" marB="27432">
                    <a:solidFill>
                      <a:srgbClr val="F5F5F5"/>
                    </a:solidFill>
                  </a:tcPr>
                </a:tc>
              </a:tr>
              <a:tr h="243598">
                <a:tc>
                  <a:txBody>
                    <a:bodyPr/>
                    <a:lstStyle/>
                    <a:p>
                      <a:pPr>
                        <a:defRPr sz="800" b="1">
                          <a:solidFill>
                            <a:srgbClr val="212529"/>
                          </a:solidFill>
                          <a:latin typeface="Arial"/>
                        </a:defRPr>
                      </a:pPr>
                      <a:r>
                        <a:t>3</a:t>
                      </a:r>
                    </a:p>
                  </a:txBody>
                  <a:tcPr marL="36576" marR="36576" marT="27432" marB="27432">
                    <a:solidFill>
                      <a:srgbClr val="F5F5F5"/>
                    </a:solidFill>
                  </a:tcPr>
                </a:tc>
                <a:tc>
                  <a:txBody>
                    <a:bodyPr/>
                    <a:lstStyle/>
                    <a:p>
                      <a:pPr>
                        <a:defRPr sz="800" b="0">
                          <a:solidFill>
                            <a:srgbClr val="212529"/>
                          </a:solidFill>
                          <a:latin typeface="Arial"/>
                        </a:defRPr>
                      </a:pPr>
                      <a:r>
                        <a:t>Photo is resized to the standard input size</a:t>
                      </a:r>
                    </a:p>
                  </a:txBody>
                  <a:tcPr marL="36576" marR="36576" marT="27432" marB="27432">
                    <a:solidFill>
                      <a:srgbClr val="F5F5F5"/>
                    </a:solidFill>
                  </a:tcPr>
                </a:tc>
                <a:tc>
                  <a:txBody>
                    <a:bodyPr/>
                    <a:lstStyle/>
                    <a:p>
                      <a:pPr>
                        <a:defRPr sz="800" b="0">
                          <a:solidFill>
                            <a:srgbClr val="212529"/>
                          </a:solidFill>
                          <a:latin typeface="Arial"/>
                        </a:defRPr>
                      </a:pPr>
                      <a:r>
                        <a:t>&lt; 0.1 sec</a:t>
                      </a:r>
                    </a:p>
                  </a:txBody>
                  <a:tcPr marL="36576" marR="36576" marT="27432" marB="27432">
                    <a:solidFill>
                      <a:srgbClr val="F5F5F5"/>
                    </a:solidFill>
                  </a:tcPr>
                </a:tc>
              </a:tr>
              <a:tr h="243598">
                <a:tc>
                  <a:txBody>
                    <a:bodyPr/>
                    <a:lstStyle/>
                    <a:p>
                      <a:pPr>
                        <a:defRPr sz="800" b="1">
                          <a:solidFill>
                            <a:srgbClr val="212529"/>
                          </a:solidFill>
                          <a:latin typeface="Arial"/>
                        </a:defRPr>
                      </a:pPr>
                      <a:r>
                        <a:t>4</a:t>
                      </a:r>
                    </a:p>
                  </a:txBody>
                  <a:tcPr marL="36576" marR="36576" marT="27432" marB="27432">
                    <a:solidFill>
                      <a:srgbClr val="F5F5F5"/>
                    </a:solidFill>
                  </a:tcPr>
                </a:tc>
                <a:tc>
                  <a:txBody>
                    <a:bodyPr/>
                    <a:lstStyle/>
                    <a:p>
                      <a:pPr>
                        <a:defRPr sz="800" b="0">
                          <a:solidFill>
                            <a:srgbClr val="212529"/>
                          </a:solidFill>
                          <a:latin typeface="Arial"/>
                        </a:defRPr>
                      </a:pPr>
                      <a:r>
                        <a:t>AI reads the photo and outputs labels + certainty scores + outlines</a:t>
                      </a:r>
                    </a:p>
                  </a:txBody>
                  <a:tcPr marL="36576" marR="36576" marT="27432" marB="27432">
                    <a:solidFill>
                      <a:srgbClr val="F5F5F5"/>
                    </a:solidFill>
                  </a:tcPr>
                </a:tc>
                <a:tc>
                  <a:txBody>
                    <a:bodyPr/>
                    <a:lstStyle/>
                    <a:p>
                      <a:pPr>
                        <a:defRPr sz="800" b="0">
                          <a:solidFill>
                            <a:srgbClr val="212529"/>
                          </a:solidFill>
                          <a:latin typeface="Arial"/>
                        </a:defRPr>
                      </a:pPr>
                      <a:r>
                        <a:t>0.1–0.3 sec</a:t>
                      </a:r>
                    </a:p>
                  </a:txBody>
                  <a:tcPr marL="36576" marR="36576" marT="27432" marB="27432">
                    <a:solidFill>
                      <a:srgbClr val="F5F5F5"/>
                    </a:solidFill>
                  </a:tcPr>
                </a:tc>
              </a:tr>
              <a:tr h="243598">
                <a:tc>
                  <a:txBody>
                    <a:bodyPr/>
                    <a:lstStyle/>
                    <a:p>
                      <a:pPr>
                        <a:defRPr sz="800" b="1">
                          <a:solidFill>
                            <a:srgbClr val="212529"/>
                          </a:solidFill>
                          <a:latin typeface="Arial"/>
                        </a:defRPr>
                      </a:pPr>
                      <a:r>
                        <a:t>5</a:t>
                      </a:r>
                    </a:p>
                  </a:txBody>
                  <a:tcPr marL="36576" marR="36576" marT="27432" marB="27432">
                    <a:solidFill>
                      <a:srgbClr val="F5F5F5"/>
                    </a:solidFill>
                  </a:tcPr>
                </a:tc>
                <a:tc>
                  <a:txBody>
                    <a:bodyPr/>
                    <a:lstStyle/>
                    <a:p>
                      <a:pPr>
                        <a:defRPr sz="800" b="0">
                          <a:solidFill>
                            <a:srgbClr val="212529"/>
                          </a:solidFill>
                          <a:latin typeface="Arial"/>
                        </a:defRPr>
                      </a:pPr>
                      <a:r>
                        <a:t>Decision gate assigns Green / Yellow / Red zone</a:t>
                      </a:r>
                    </a:p>
                  </a:txBody>
                  <a:tcPr marL="36576" marR="36576" marT="27432" marB="27432">
                    <a:solidFill>
                      <a:srgbClr val="F5F5F5"/>
                    </a:solidFill>
                  </a:tcPr>
                </a:tc>
                <a:tc>
                  <a:txBody>
                    <a:bodyPr/>
                    <a:lstStyle/>
                    <a:p>
                      <a:pPr>
                        <a:defRPr sz="800" b="0">
                          <a:solidFill>
                            <a:srgbClr val="212529"/>
                          </a:solidFill>
                          <a:latin typeface="Arial"/>
                        </a:defRPr>
                      </a:pPr>
                      <a:r>
                        <a:t>Instant</a:t>
                      </a:r>
                    </a:p>
                  </a:txBody>
                  <a:tcPr marL="36576" marR="36576" marT="27432" marB="27432">
                    <a:solidFill>
                      <a:srgbClr val="F5F5F5"/>
                    </a:solidFill>
                  </a:tcPr>
                </a:tc>
              </a:tr>
              <a:tr h="243598">
                <a:tc>
                  <a:txBody>
                    <a:bodyPr/>
                    <a:lstStyle/>
                    <a:p>
                      <a:pPr>
                        <a:defRPr sz="800" b="1">
                          <a:solidFill>
                            <a:srgbClr val="212529"/>
                          </a:solidFill>
                          <a:latin typeface="Arial"/>
                        </a:defRPr>
                      </a:pPr>
                      <a:r>
                        <a:t>6</a:t>
                      </a:r>
                    </a:p>
                  </a:txBody>
                  <a:tcPr marL="36576" marR="36576" marT="27432" marB="27432">
                    <a:solidFill>
                      <a:srgbClr val="F5F5F5"/>
                    </a:solidFill>
                  </a:tcPr>
                </a:tc>
                <a:tc>
                  <a:txBody>
                    <a:bodyPr/>
                    <a:lstStyle/>
                    <a:p>
                      <a:pPr>
                        <a:defRPr sz="800" b="0">
                          <a:solidFill>
                            <a:srgbClr val="212529"/>
                          </a:solidFill>
                          <a:latin typeface="Arial"/>
                        </a:defRPr>
                      </a:pPr>
                      <a:r>
                        <a:t>Record is written to the digital logbook</a:t>
                      </a:r>
                    </a:p>
                  </a:txBody>
                  <a:tcPr marL="36576" marR="36576" marT="27432" marB="27432">
                    <a:solidFill>
                      <a:srgbClr val="F5F5F5"/>
                    </a:solidFill>
                  </a:tcPr>
                </a:tc>
                <a:tc>
                  <a:txBody>
                    <a:bodyPr/>
                    <a:lstStyle/>
                    <a:p>
                      <a:pPr>
                        <a:defRPr sz="800" b="0">
                          <a:solidFill>
                            <a:srgbClr val="212529"/>
                          </a:solidFill>
                          <a:latin typeface="Arial"/>
                        </a:defRPr>
                      </a:pPr>
                      <a:r>
                        <a:t>Instant</a:t>
                      </a:r>
                    </a:p>
                  </a:txBody>
                  <a:tcPr marL="36576" marR="36576" marT="27432" marB="27432">
                    <a:solidFill>
                      <a:srgbClr val="F5F5F5"/>
                    </a:solidFill>
                  </a:tcPr>
                </a:tc>
              </a:tr>
              <a:tr h="243598">
                <a:tc>
                  <a:txBody>
                    <a:bodyPr/>
                    <a:lstStyle/>
                    <a:p>
                      <a:pPr>
                        <a:defRPr sz="800" b="1">
                          <a:solidFill>
                            <a:srgbClr val="212529"/>
                          </a:solidFill>
                          <a:latin typeface="Arial"/>
                        </a:defRPr>
                      </a:pPr>
                      <a:r>
                        <a:t>7</a:t>
                      </a:r>
                    </a:p>
                  </a:txBody>
                  <a:tcPr marL="36576" marR="36576" marT="27432" marB="27432">
                    <a:solidFill>
                      <a:srgbClr val="F5F5F5"/>
                    </a:solidFill>
                  </a:tcPr>
                </a:tc>
                <a:tc>
                  <a:txBody>
                    <a:bodyPr/>
                    <a:lstStyle/>
                    <a:p>
                      <a:pPr>
                        <a:defRPr sz="800" b="0">
                          <a:solidFill>
                            <a:srgbClr val="212529"/>
                          </a:solidFill>
                          <a:latin typeface="Arial"/>
                        </a:defRPr>
                      </a:pPr>
                      <a:r>
                        <a:t>Screen refreshes with new detection and updated scores</a:t>
                      </a:r>
                    </a:p>
                  </a:txBody>
                  <a:tcPr marL="36576" marR="36576" marT="27432" marB="27432">
                    <a:solidFill>
                      <a:srgbClr val="F5F5F5"/>
                    </a:solidFill>
                  </a:tcPr>
                </a:tc>
                <a:tc>
                  <a:txBody>
                    <a:bodyPr/>
                    <a:lstStyle/>
                    <a:p>
                      <a:pPr>
                        <a:defRPr sz="800" b="0">
                          <a:solidFill>
                            <a:srgbClr val="212529"/>
                          </a:solidFill>
                          <a:latin typeface="Arial"/>
                        </a:defRPr>
                      </a:pPr>
                      <a:r>
                        <a:t>&lt; 0.1 sec</a:t>
                      </a:r>
                    </a:p>
                  </a:txBody>
                  <a:tcPr marL="36576" marR="36576" marT="27432" marB="27432">
                    <a:solidFill>
                      <a:srgbClr val="F5F5F5"/>
                    </a:solidFill>
                  </a:tcPr>
                </a:tc>
              </a:tr>
              <a:tr h="243598">
                <a:tc>
                  <a:txBody>
                    <a:bodyPr/>
                    <a:lstStyle/>
                    <a:p>
                      <a:pPr>
                        <a:defRPr sz="800" b="1">
                          <a:solidFill>
                            <a:srgbClr val="212529"/>
                          </a:solidFill>
                          <a:latin typeface="Arial"/>
                        </a:defRPr>
                      </a:pPr>
                      <a:r>
                        <a:t>**Total**</a:t>
                      </a:r>
                    </a:p>
                  </a:txBody>
                  <a:tcPr marL="36576" marR="36576" marT="27432" marB="27432">
                    <a:solidFill>
                      <a:srgbClr val="F5F5F5"/>
                    </a:solidFill>
                  </a:tcPr>
                </a:tc>
                <a:tc>
                  <a:txBody>
                    <a:bodyPr/>
                    <a:lstStyle/>
                    <a:p>
                      <a:pPr>
                        <a:defRPr sz="800" b="0">
                          <a:solidFill>
                            <a:srgbClr val="212529"/>
                          </a:solidFill>
                          <a:latin typeface="Arial"/>
                        </a:defRPr>
                      </a:pPr>
                    </a:p>
                  </a:txBody>
                  <a:tcPr marL="36576" marR="36576" marT="27432" marB="27432">
                    <a:solidFill>
                      <a:srgbClr val="F5F5F5"/>
                    </a:solidFill>
                  </a:tcPr>
                </a:tc>
                <a:tc>
                  <a:txBody>
                    <a:bodyPr/>
                    <a:lstStyle/>
                    <a:p>
                      <a:pPr>
                        <a:defRPr sz="800" b="0">
                          <a:solidFill>
                            <a:srgbClr val="212529"/>
                          </a:solidFill>
                          <a:latin typeface="Arial"/>
                        </a:defRPr>
                      </a:pPr>
                      <a:r>
                        <a:t>**&lt; 0.5 seconds**</a:t>
                      </a:r>
                    </a:p>
                  </a:txBody>
                  <a:tcPr marL="36576" marR="36576" marT="27432" marB="27432">
                    <a:solidFill>
                      <a:srgbClr val="F5F5F5"/>
                    </a:solidFill>
                  </a:tcPr>
                </a:tc>
              </a:tr>
            </a:tbl>
          </a:graphicData>
        </a:graphic>
      </p:graphicFrame>
      <p:sp>
        <p:nvSpPr>
          <p:cNvPr id="7" name="TextBox 6"/>
          <p:cNvSpPr txBox="1"/>
          <p:nvPr/>
        </p:nvSpPr>
        <p:spPr>
          <a:xfrm>
            <a:off x="457200" y="4288504"/>
            <a:ext cx="5943600" cy="370891"/>
          </a:xfrm>
          <a:prstGeom prst="rect">
            <a:avLst/>
          </a:prstGeom>
          <a:noFill/>
        </p:spPr>
        <p:txBody>
          <a:bodyPr wrap="square">
            <a:spAutoFit/>
          </a:bodyPr>
          <a:lstStyle/>
          <a:p>
            <a:pPr>
              <a:spcBef>
                <a:spcPts val="500"/>
              </a:spcBef>
              <a:spcAft>
                <a:spcPts val="200"/>
              </a:spcAft>
              <a:defRPr sz="1300" b="1">
                <a:solidFill>
                  <a:srgbClr val="0F5132"/>
                </a:solidFill>
                <a:latin typeface="Arial"/>
              </a:defRPr>
            </a:pPr>
            <a:r>
              <a:t>Who connects where:</a:t>
            </a:r>
          </a:p>
        </p:txBody>
      </p:sp>
      <p:graphicFrame>
        <p:nvGraphicFramePr>
          <p:cNvPr id="8" name="Table 7"/>
          <p:cNvGraphicFramePr>
            <a:graphicFrameLocks noGrp="1"/>
          </p:cNvGraphicFramePr>
          <p:nvPr/>
        </p:nvGraphicFramePr>
        <p:xfrm>
          <a:off x="457200" y="4659396"/>
          <a:ext cx="5943597" cy="1467083"/>
        </p:xfrm>
        <a:graphic>
          <a:graphicData uri="http://schemas.openxmlformats.org/drawingml/2006/table">
            <a:tbl>
              <a:tblPr firstRow="1" bandRow="1">
                <a:tableStyleId>{5C22544A-7EE6-4342-B048-85BDC9FD1C3A}</a:tableStyleId>
              </a:tblPr>
              <a:tblGrid>
                <a:gridCol w="1981199"/>
                <a:gridCol w="1981199"/>
                <a:gridCol w="1981199"/>
              </a:tblGrid>
              <a:tr h="209583">
                <a:tc>
                  <a:txBody>
                    <a:bodyPr/>
                    <a:lstStyle/>
                    <a:p>
                      <a:pPr>
                        <a:defRPr sz="800" b="1">
                          <a:solidFill>
                            <a:srgbClr val="FFFFFF"/>
                          </a:solidFill>
                          <a:latin typeface="Arial"/>
                        </a:defRPr>
                      </a:pPr>
                      <a:r>
                        <a:t>Team member</a:t>
                      </a:r>
                    </a:p>
                  </a:txBody>
                  <a:tcPr marL="36576" marR="36576" marT="27432" marB="27432">
                    <a:solidFill>
                      <a:srgbClr val="0F5132"/>
                    </a:solidFill>
                  </a:tcPr>
                </a:tc>
                <a:tc>
                  <a:txBody>
                    <a:bodyPr/>
                    <a:lstStyle/>
                    <a:p>
                      <a:pPr>
                        <a:defRPr sz="800" b="1">
                          <a:solidFill>
                            <a:srgbClr val="FFFFFF"/>
                          </a:solidFill>
                          <a:latin typeface="Arial"/>
                        </a:defRPr>
                      </a:pPr>
                      <a:r>
                        <a:t>What they built</a:t>
                      </a:r>
                    </a:p>
                  </a:txBody>
                  <a:tcPr marL="36576" marR="36576" marT="27432" marB="27432">
                    <a:solidFill>
                      <a:srgbClr val="0F5132"/>
                    </a:solidFill>
                  </a:tcPr>
                </a:tc>
                <a:tc>
                  <a:txBody>
                    <a:bodyPr/>
                    <a:lstStyle/>
                    <a:p>
                      <a:pPr>
                        <a:defRPr sz="800" b="1">
                          <a:solidFill>
                            <a:srgbClr val="FFFFFF"/>
                          </a:solidFill>
                          <a:latin typeface="Arial"/>
                        </a:defRPr>
                      </a:pPr>
                      <a:r>
                        <a:t>Where it connects</a:t>
                      </a:r>
                    </a:p>
                  </a:txBody>
                  <a:tcPr marL="36576" marR="36576" marT="27432" marB="27432">
                    <a:solidFill>
                      <a:srgbClr val="0F5132"/>
                    </a:solidFill>
                  </a:tcPr>
                </a:tc>
              </a:tr>
              <a:tr h="209583">
                <a:tc>
                  <a:txBody>
                    <a:bodyPr/>
                    <a:lstStyle/>
                    <a:p>
                      <a:pPr>
                        <a:defRPr sz="800" b="1">
                          <a:solidFill>
                            <a:srgbClr val="212529"/>
                          </a:solidFill>
                          <a:latin typeface="Arial"/>
                        </a:defRPr>
                      </a:pPr>
                      <a:r>
                        <a:t>Naomi</a:t>
                      </a:r>
                    </a:p>
                  </a:txBody>
                  <a:tcPr marL="36576" marR="36576" marT="27432" marB="27432">
                    <a:solidFill>
                      <a:srgbClr val="F5F5F5"/>
                    </a:solidFill>
                  </a:tcPr>
                </a:tc>
                <a:tc>
                  <a:txBody>
                    <a:bodyPr/>
                    <a:lstStyle/>
                    <a:p>
                      <a:pPr>
                        <a:defRPr sz="800" b="0">
                          <a:solidFill>
                            <a:srgbClr val="212529"/>
                          </a:solidFill>
                          <a:latin typeface="Arial"/>
                        </a:defRPr>
                      </a:pPr>
                      <a:r>
                        <a:t>Training data</a:t>
                      </a:r>
                    </a:p>
                  </a:txBody>
                  <a:tcPr marL="36576" marR="36576" marT="27432" marB="27432">
                    <a:solidFill>
                      <a:srgbClr val="F5F5F5"/>
                    </a:solidFill>
                  </a:tcPr>
                </a:tc>
                <a:tc>
                  <a:txBody>
                    <a:bodyPr/>
                    <a:lstStyle/>
                    <a:p>
                      <a:pPr>
                        <a:defRPr sz="800" b="0">
                          <a:solidFill>
                            <a:srgbClr val="212529"/>
                          </a:solidFill>
                          <a:latin typeface="Arial"/>
                        </a:defRPr>
                      </a:pPr>
                      <a:r>
                        <a:t>Feeds into Talvin's AI model</a:t>
                      </a:r>
                    </a:p>
                  </a:txBody>
                  <a:tcPr marL="36576" marR="36576" marT="27432" marB="27432">
                    <a:solidFill>
                      <a:srgbClr val="F5F5F5"/>
                    </a:solidFill>
                  </a:tcPr>
                </a:tc>
              </a:tr>
              <a:tr h="209583">
                <a:tc>
                  <a:txBody>
                    <a:bodyPr/>
                    <a:lstStyle/>
                    <a:p>
                      <a:pPr>
                        <a:defRPr sz="800" b="1">
                          <a:solidFill>
                            <a:srgbClr val="212529"/>
                          </a:solidFill>
                          <a:latin typeface="Arial"/>
                        </a:defRPr>
                      </a:pPr>
                      <a:r>
                        <a:t>Talvin</a:t>
                      </a:r>
                    </a:p>
                  </a:txBody>
                  <a:tcPr marL="36576" marR="36576" marT="27432" marB="27432">
                    <a:solidFill>
                      <a:srgbClr val="F5F5F5"/>
                    </a:solidFill>
                  </a:tcPr>
                </a:tc>
                <a:tc>
                  <a:txBody>
                    <a:bodyPr/>
                    <a:lstStyle/>
                    <a:p>
                      <a:pPr>
                        <a:defRPr sz="800" b="0">
                          <a:solidFill>
                            <a:srgbClr val="212529"/>
                          </a:solidFill>
                          <a:latin typeface="Arial"/>
                        </a:defRPr>
                      </a:pPr>
                      <a:r>
                        <a:t>AI model</a:t>
                      </a:r>
                    </a:p>
                  </a:txBody>
                  <a:tcPr marL="36576" marR="36576" marT="27432" marB="27432">
                    <a:solidFill>
                      <a:srgbClr val="F5F5F5"/>
                    </a:solidFill>
                  </a:tcPr>
                </a:tc>
                <a:tc>
                  <a:txBody>
                    <a:bodyPr/>
                    <a:lstStyle/>
                    <a:p>
                      <a:pPr>
                        <a:defRPr sz="800" b="0">
                          <a:solidFill>
                            <a:srgbClr val="212529"/>
                          </a:solidFill>
                          <a:latin typeface="Arial"/>
                        </a:defRPr>
                      </a:pPr>
                      <a:r>
                        <a:t>Feeds results into Kong's pipeline</a:t>
                      </a:r>
                    </a:p>
                  </a:txBody>
                  <a:tcPr marL="36576" marR="36576" marT="27432" marB="27432">
                    <a:solidFill>
                      <a:srgbClr val="F5F5F5"/>
                    </a:solidFill>
                  </a:tcPr>
                </a:tc>
              </a:tr>
              <a:tr h="209583">
                <a:tc>
                  <a:txBody>
                    <a:bodyPr/>
                    <a:lstStyle/>
                    <a:p>
                      <a:pPr>
                        <a:defRPr sz="800" b="1">
                          <a:solidFill>
                            <a:srgbClr val="212529"/>
                          </a:solidFill>
                          <a:latin typeface="Arial"/>
                        </a:defRPr>
                      </a:pPr>
                      <a:r>
                        <a:t>Kong</a:t>
                      </a:r>
                    </a:p>
                  </a:txBody>
                  <a:tcPr marL="36576" marR="36576" marT="27432" marB="27432">
                    <a:solidFill>
                      <a:srgbClr val="F5F5F5"/>
                    </a:solidFill>
                  </a:tcPr>
                </a:tc>
                <a:tc>
                  <a:txBody>
                    <a:bodyPr/>
                    <a:lstStyle/>
                    <a:p>
                      <a:pPr>
                        <a:defRPr sz="800" b="0">
                          <a:solidFill>
                            <a:srgbClr val="212529"/>
                          </a:solidFill>
                          <a:latin typeface="Arial"/>
                        </a:defRPr>
                      </a:pPr>
                      <a:r>
                        <a:t>File monitor + pipeline</a:t>
                      </a:r>
                    </a:p>
                  </a:txBody>
                  <a:tcPr marL="36576" marR="36576" marT="27432" marB="27432">
                    <a:solidFill>
                      <a:srgbClr val="F5F5F5"/>
                    </a:solidFill>
                  </a:tcPr>
                </a:tc>
                <a:tc>
                  <a:txBody>
                    <a:bodyPr/>
                    <a:lstStyle/>
                    <a:p>
                      <a:pPr>
                        <a:defRPr sz="800" b="0">
                          <a:solidFill>
                            <a:srgbClr val="212529"/>
                          </a:solidFill>
                          <a:latin typeface="Arial"/>
                        </a:defRPr>
                      </a:pPr>
                      <a:r>
                        <a:t>Feeds results into the digital logbook</a:t>
                      </a:r>
                    </a:p>
                  </a:txBody>
                  <a:tcPr marL="36576" marR="36576" marT="27432" marB="27432">
                    <a:solidFill>
                      <a:srgbClr val="F5F5F5"/>
                    </a:solidFill>
                  </a:tcPr>
                </a:tc>
              </a:tr>
              <a:tr h="209583">
                <a:tc>
                  <a:txBody>
                    <a:bodyPr/>
                    <a:lstStyle/>
                    <a:p>
                      <a:pPr>
                        <a:defRPr sz="800" b="1">
                          <a:solidFill>
                            <a:srgbClr val="212529"/>
                          </a:solidFill>
                          <a:latin typeface="Arial"/>
                        </a:defRPr>
                      </a:pPr>
                      <a:r>
                        <a:t>Georgene</a:t>
                      </a:r>
                    </a:p>
                  </a:txBody>
                  <a:tcPr marL="36576" marR="36576" marT="27432" marB="27432">
                    <a:solidFill>
                      <a:srgbClr val="F5F5F5"/>
                    </a:solidFill>
                  </a:tcPr>
                </a:tc>
                <a:tc>
                  <a:txBody>
                    <a:bodyPr/>
                    <a:lstStyle/>
                    <a:p>
                      <a:pPr>
                        <a:defRPr sz="800" b="0">
                          <a:solidFill>
                            <a:srgbClr val="212529"/>
                          </a:solidFill>
                          <a:latin typeface="Arial"/>
                        </a:defRPr>
                      </a:pPr>
                      <a:r>
                        <a:t>Screens</a:t>
                      </a:r>
                    </a:p>
                  </a:txBody>
                  <a:tcPr marL="36576" marR="36576" marT="27432" marB="27432">
                    <a:solidFill>
                      <a:srgbClr val="F5F5F5"/>
                    </a:solidFill>
                  </a:tcPr>
                </a:tc>
                <a:tc>
                  <a:txBody>
                    <a:bodyPr/>
                    <a:lstStyle/>
                    <a:p>
                      <a:pPr>
                        <a:defRPr sz="800" b="0">
                          <a:solidFill>
                            <a:srgbClr val="212529"/>
                          </a:solidFill>
                          <a:latin typeface="Arial"/>
                        </a:defRPr>
                      </a:pPr>
                      <a:r>
                        <a:t>Reads from the digital logbook</a:t>
                      </a:r>
                    </a:p>
                  </a:txBody>
                  <a:tcPr marL="36576" marR="36576" marT="27432" marB="27432">
                    <a:solidFill>
                      <a:srgbClr val="F5F5F5"/>
                    </a:solidFill>
                  </a:tcPr>
                </a:tc>
              </a:tr>
              <a:tr h="209583">
                <a:tc>
                  <a:txBody>
                    <a:bodyPr/>
                    <a:lstStyle/>
                    <a:p>
                      <a:pPr>
                        <a:defRPr sz="800" b="1">
                          <a:solidFill>
                            <a:srgbClr val="212529"/>
                          </a:solidFill>
                          <a:latin typeface="Arial"/>
                        </a:defRPr>
                      </a:pPr>
                      <a:r>
                        <a:t>Feng</a:t>
                      </a:r>
                    </a:p>
                  </a:txBody>
                  <a:tcPr marL="36576" marR="36576" marT="27432" marB="27432">
                    <a:solidFill>
                      <a:srgbClr val="F5F5F5"/>
                    </a:solidFill>
                  </a:tcPr>
                </a:tc>
                <a:tc>
                  <a:txBody>
                    <a:bodyPr/>
                    <a:lstStyle/>
                    <a:p>
                      <a:pPr>
                        <a:defRPr sz="800" b="0">
                          <a:solidFill>
                            <a:srgbClr val="212529"/>
                          </a:solidFill>
                          <a:latin typeface="Arial"/>
                        </a:defRPr>
                      </a:pPr>
                      <a:r>
                        <a:t>Analytics dashboard</a:t>
                      </a:r>
                    </a:p>
                  </a:txBody>
                  <a:tcPr marL="36576" marR="36576" marT="27432" marB="27432">
                    <a:solidFill>
                      <a:srgbClr val="F5F5F5"/>
                    </a:solidFill>
                  </a:tcPr>
                </a:tc>
                <a:tc>
                  <a:txBody>
                    <a:bodyPr/>
                    <a:lstStyle/>
                    <a:p>
                      <a:pPr>
                        <a:defRPr sz="800" b="0">
                          <a:solidFill>
                            <a:srgbClr val="212529"/>
                          </a:solidFill>
                          <a:latin typeface="Arial"/>
                        </a:defRPr>
                      </a:pPr>
                      <a:r>
                        <a:t>Reads from the digital logbook</a:t>
                      </a:r>
                    </a:p>
                  </a:txBody>
                  <a:tcPr marL="36576" marR="36576" marT="27432" marB="27432">
                    <a:solidFill>
                      <a:srgbClr val="F5F5F5"/>
                    </a:solidFill>
                  </a:tcPr>
                </a:tc>
              </a:tr>
              <a:tr h="209585">
                <a:tc>
                  <a:txBody>
                    <a:bodyPr/>
                    <a:lstStyle/>
                    <a:p>
                      <a:pPr>
                        <a:defRPr sz="800" b="1">
                          <a:solidFill>
                            <a:srgbClr val="212529"/>
                          </a:solidFill>
                          <a:latin typeface="Arial"/>
                        </a:defRPr>
                      </a:pPr>
                      <a:r>
                        <a:t>Chris</a:t>
                      </a:r>
                    </a:p>
                  </a:txBody>
                  <a:tcPr marL="36576" marR="36576" marT="27432" marB="27432">
                    <a:solidFill>
                      <a:srgbClr val="F5F5F5"/>
                    </a:solidFill>
                  </a:tcPr>
                </a:tc>
                <a:tc>
                  <a:txBody>
                    <a:bodyPr/>
                    <a:lstStyle/>
                    <a:p>
                      <a:pPr>
                        <a:defRPr sz="800" b="0">
                          <a:solidFill>
                            <a:srgbClr val="212529"/>
                          </a:solidFill>
                          <a:latin typeface="Arial"/>
                        </a:defRPr>
                      </a:pPr>
                      <a:r>
                        <a:t>ESG report</a:t>
                      </a:r>
                    </a:p>
                  </a:txBody>
                  <a:tcPr marL="36576" marR="36576" marT="27432" marB="27432">
                    <a:solidFill>
                      <a:srgbClr val="F5F5F5"/>
                    </a:solidFill>
                  </a:tcPr>
                </a:tc>
                <a:tc>
                  <a:txBody>
                    <a:bodyPr/>
                    <a:lstStyle/>
                    <a:p>
                      <a:pPr>
                        <a:defRPr sz="800" b="0">
                          <a:solidFill>
                            <a:srgbClr val="212529"/>
                          </a:solidFill>
                          <a:latin typeface="Arial"/>
                        </a:defRPr>
                      </a:pPr>
                      <a:r>
                        <a:t>Pulls from Feng's dashboard</a:t>
                      </a:r>
                    </a:p>
                  </a:txBody>
                  <a:tcPr marL="36576" marR="36576" marT="27432" marB="27432">
                    <a:solidFill>
                      <a:srgbClr val="F5F5F5"/>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18: Deep Learning Framework: YOLOv8m-seg</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18 in Appendix A to generate the visual image.</a:t>
            </a:r>
          </a:p>
        </p:txBody>
      </p:sp>
      <p:sp>
        <p:nvSpPr>
          <p:cNvPr id="5" name="TextBox 4"/>
          <p:cNvSpPr txBox="1"/>
          <p:nvPr/>
        </p:nvSpPr>
        <p:spPr>
          <a:xfrm>
            <a:off x="457200" y="1188720"/>
            <a:ext cx="5943600" cy="1856232"/>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YOLOv8m-seg Architecture:</a:t>
            </a:r>
          </a:p>
          <a:p>
            <a:pPr lvl="1">
              <a:spcAft>
                <a:spcPts val="200"/>
              </a:spcAft>
              <a:defRPr sz="1100">
                <a:solidFill>
                  <a:srgbClr val="212529"/>
                </a:solidFill>
                <a:latin typeface="Arial"/>
              </a:defRPr>
            </a:pPr>
            <a:r>
              <a:t>Backbone (CSP-DarkNet): Hierarchical feature extraction of irregular shapes (Terven et al., 2023).</a:t>
            </a:r>
          </a:p>
          <a:p>
            <a:pPr lvl="1">
              <a:spcAft>
                <a:spcPts val="200"/>
              </a:spcAft>
              <a:defRPr sz="1100">
                <a:solidFill>
                  <a:srgbClr val="212529"/>
                </a:solidFill>
                <a:latin typeface="Arial"/>
              </a:defRPr>
            </a:pPr>
            <a:r>
              <a:t>Neck (FPN + PAN): Multi-scale feature aggregation for small object detection (Lu et al., 2023).</a:t>
            </a:r>
          </a:p>
          <a:p>
            <a:pPr lvl="1">
              <a:spcAft>
                <a:spcPts val="200"/>
              </a:spcAft>
              <a:defRPr sz="1100">
                <a:solidFill>
                  <a:srgbClr val="212529"/>
                </a:solidFill>
                <a:latin typeface="Arial"/>
              </a:defRPr>
            </a:pPr>
            <a:r>
              <a:t>Head (Decoupled Anchor-Free): Separate classification and localisation branches.</a:t>
            </a:r>
          </a:p>
          <a:p>
            <a:pPr lvl="1">
              <a:spcAft>
                <a:spcPts val="200"/>
              </a:spcAft>
              <a:defRPr sz="1100">
                <a:solidFill>
                  <a:srgbClr val="212529"/>
                </a:solidFill>
                <a:latin typeface="Arial"/>
              </a:defRPr>
            </a:pPr>
            <a:r>
              <a:t>Segmentation Layer: Bounding box + class label + confidence score + pixel-level mask.</a:t>
            </a:r>
          </a:p>
          <a:p>
            <a:pPr>
              <a:spcBef>
                <a:spcPts val="600"/>
              </a:spcBef>
              <a:spcAft>
                <a:spcPts val="300"/>
              </a:spcAft>
              <a:defRPr sz="1500" b="1">
                <a:solidFill>
                  <a:srgbClr val="0F5132"/>
                </a:solidFill>
                <a:latin typeface="Arial"/>
              </a:defRPr>
            </a:pPr>
            <a:r>
              <a:t>Training Specifications &amp; Hyperparameters:</a:t>
            </a:r>
          </a:p>
        </p:txBody>
      </p:sp>
      <p:graphicFrame>
        <p:nvGraphicFramePr>
          <p:cNvPr id="6" name="Table 5"/>
          <p:cNvGraphicFramePr>
            <a:graphicFrameLocks noGrp="1"/>
          </p:cNvGraphicFramePr>
          <p:nvPr/>
        </p:nvGraphicFramePr>
        <p:xfrm>
          <a:off x="457200" y="3044952"/>
          <a:ext cx="5943597" cy="1554480"/>
        </p:xfrm>
        <a:graphic>
          <a:graphicData uri="http://schemas.openxmlformats.org/drawingml/2006/table">
            <a:tbl>
              <a:tblPr firstRow="1" bandRow="1">
                <a:tableStyleId>{5C22544A-7EE6-4342-B048-85BDC9FD1C3A}</a:tableStyleId>
              </a:tblPr>
              <a:tblGrid>
                <a:gridCol w="1981199"/>
                <a:gridCol w="1981199"/>
                <a:gridCol w="1981199"/>
              </a:tblGrid>
              <a:tr h="310896">
                <a:tc>
                  <a:txBody>
                    <a:bodyPr/>
                    <a:lstStyle/>
                    <a:p>
                      <a:pPr>
                        <a:defRPr sz="900" b="1">
                          <a:solidFill>
                            <a:srgbClr val="FFFFFF"/>
                          </a:solidFill>
                          <a:latin typeface="Arial"/>
                        </a:defRPr>
                      </a:pPr>
                      <a:r>
                        <a:t>Parameter</a:t>
                      </a:r>
                    </a:p>
                  </a:txBody>
                  <a:tcPr marL="36576" marR="36576" marT="27432" marB="27432">
                    <a:solidFill>
                      <a:srgbClr val="0F5132"/>
                    </a:solidFill>
                  </a:tcPr>
                </a:tc>
                <a:tc>
                  <a:txBody>
                    <a:bodyPr/>
                    <a:lstStyle/>
                    <a:p>
                      <a:pPr>
                        <a:defRPr sz="900" b="1">
                          <a:solidFill>
                            <a:srgbClr val="FFFFFF"/>
                          </a:solidFill>
                          <a:latin typeface="Arial"/>
                        </a:defRPr>
                      </a:pPr>
                      <a:r>
                        <a:t>Value</a:t>
                      </a:r>
                    </a:p>
                  </a:txBody>
                  <a:tcPr marL="36576" marR="36576" marT="27432" marB="27432">
                    <a:solidFill>
                      <a:srgbClr val="0F5132"/>
                    </a:solidFill>
                  </a:tcPr>
                </a:tc>
                <a:tc>
                  <a:txBody>
                    <a:bodyPr/>
                    <a:lstStyle/>
                    <a:p>
                      <a:pPr>
                        <a:defRPr sz="900" b="1">
                          <a:solidFill>
                            <a:srgbClr val="FFFFFF"/>
                          </a:solidFill>
                          <a:latin typeface="Arial"/>
                        </a:defRPr>
                      </a:pPr>
                      <a:r>
                        <a:t>Justification</a:t>
                      </a:r>
                    </a:p>
                  </a:txBody>
                  <a:tcPr marL="36576" marR="36576" marT="27432" marB="27432">
                    <a:solidFill>
                      <a:srgbClr val="0F5132"/>
                    </a:solidFill>
                  </a:tcPr>
                </a:tc>
              </a:tr>
              <a:tr h="310896">
                <a:tc>
                  <a:txBody>
                    <a:bodyPr/>
                    <a:lstStyle/>
                    <a:p>
                      <a:pPr>
                        <a:defRPr sz="900" b="1">
                          <a:solidFill>
                            <a:srgbClr val="212529"/>
                          </a:solidFill>
                          <a:latin typeface="Arial"/>
                        </a:defRPr>
                      </a:pPr>
                      <a:r>
                        <a:t>Image Size</a:t>
                      </a:r>
                    </a:p>
                  </a:txBody>
                  <a:tcPr marL="36576" marR="36576" marT="27432" marB="27432">
                    <a:solidFill>
                      <a:srgbClr val="F5F5F5"/>
                    </a:solidFill>
                  </a:tcPr>
                </a:tc>
                <a:tc>
                  <a:txBody>
                    <a:bodyPr/>
                    <a:lstStyle/>
                    <a:p>
                      <a:pPr>
                        <a:defRPr sz="900" b="0">
                          <a:solidFill>
                            <a:srgbClr val="212529"/>
                          </a:solidFill>
                          <a:latin typeface="Arial"/>
                        </a:defRPr>
                      </a:pPr>
                      <a:r>
                        <a:t>640×640 px</a:t>
                      </a:r>
                    </a:p>
                  </a:txBody>
                  <a:tcPr marL="36576" marR="36576" marT="27432" marB="27432">
                    <a:solidFill>
                      <a:srgbClr val="F5F5F5"/>
                    </a:solidFill>
                  </a:tcPr>
                </a:tc>
                <a:tc>
                  <a:txBody>
                    <a:bodyPr/>
                    <a:lstStyle/>
                    <a:p>
                      <a:pPr>
                        <a:defRPr sz="900" b="0">
                          <a:solidFill>
                            <a:srgbClr val="212529"/>
                          </a:solidFill>
                          <a:latin typeface="Arial"/>
                        </a:defRPr>
                      </a:pPr>
                      <a:r>
                        <a:t>Native resolution; prevents out-of-memory on T4 GPU</a:t>
                      </a:r>
                    </a:p>
                  </a:txBody>
                  <a:tcPr marL="36576" marR="36576" marT="27432" marB="27432">
                    <a:solidFill>
                      <a:srgbClr val="F5F5F5"/>
                    </a:solidFill>
                  </a:tcPr>
                </a:tc>
              </a:tr>
              <a:tr h="310896">
                <a:tc>
                  <a:txBody>
                    <a:bodyPr/>
                    <a:lstStyle/>
                    <a:p>
                      <a:pPr>
                        <a:defRPr sz="900" b="1">
                          <a:solidFill>
                            <a:srgbClr val="212529"/>
                          </a:solidFill>
                          <a:latin typeface="Arial"/>
                        </a:defRPr>
                      </a:pPr>
                      <a:r>
                        <a:t>Batch Size</a:t>
                      </a:r>
                    </a:p>
                  </a:txBody>
                  <a:tcPr marL="36576" marR="36576" marT="27432" marB="27432">
                    <a:solidFill>
                      <a:srgbClr val="F5F5F5"/>
                    </a:solidFill>
                  </a:tcPr>
                </a:tc>
                <a:tc>
                  <a:txBody>
                    <a:bodyPr/>
                    <a:lstStyle/>
                    <a:p>
                      <a:pPr>
                        <a:defRPr sz="900" b="0">
                          <a:solidFill>
                            <a:srgbClr val="212529"/>
                          </a:solidFill>
                          <a:latin typeface="Arial"/>
                        </a:defRPr>
                      </a:pPr>
                      <a:r>
                        <a:t>16</a:t>
                      </a:r>
                    </a:p>
                  </a:txBody>
                  <a:tcPr marL="36576" marR="36576" marT="27432" marB="27432">
                    <a:solidFill>
                      <a:srgbClr val="F5F5F5"/>
                    </a:solidFill>
                  </a:tcPr>
                </a:tc>
                <a:tc>
                  <a:txBody>
                    <a:bodyPr/>
                    <a:lstStyle/>
                    <a:p>
                      <a:pPr>
                        <a:defRPr sz="900" b="0">
                          <a:solidFill>
                            <a:srgbClr val="212529"/>
                          </a:solidFill>
                          <a:latin typeface="Arial"/>
                        </a:defRPr>
                      </a:pPr>
                      <a:r>
                        <a:t>Hardware limit for T4 16GB VRAM</a:t>
                      </a:r>
                    </a:p>
                  </a:txBody>
                  <a:tcPr marL="36576" marR="36576" marT="27432" marB="27432">
                    <a:solidFill>
                      <a:srgbClr val="F5F5F5"/>
                    </a:solidFill>
                  </a:tcPr>
                </a:tc>
              </a:tr>
              <a:tr h="310896">
                <a:tc>
                  <a:txBody>
                    <a:bodyPr/>
                    <a:lstStyle/>
                    <a:p>
                      <a:pPr>
                        <a:defRPr sz="900" b="1">
                          <a:solidFill>
                            <a:srgbClr val="212529"/>
                          </a:solidFill>
                          <a:latin typeface="Arial"/>
                        </a:defRPr>
                      </a:pPr>
                      <a:r>
                        <a:t>Optimizer</a:t>
                      </a:r>
                    </a:p>
                  </a:txBody>
                  <a:tcPr marL="36576" marR="36576" marT="27432" marB="27432">
                    <a:solidFill>
                      <a:srgbClr val="F5F5F5"/>
                    </a:solidFill>
                  </a:tcPr>
                </a:tc>
                <a:tc>
                  <a:txBody>
                    <a:bodyPr/>
                    <a:lstStyle/>
                    <a:p>
                      <a:pPr>
                        <a:defRPr sz="900" b="0">
                          <a:solidFill>
                            <a:srgbClr val="212529"/>
                          </a:solidFill>
                          <a:latin typeface="Arial"/>
                        </a:defRPr>
                      </a:pPr>
                      <a:r>
                        <a:t>AdamW</a:t>
                      </a:r>
                    </a:p>
                  </a:txBody>
                  <a:tcPr marL="36576" marR="36576" marT="27432" marB="27432">
                    <a:solidFill>
                      <a:srgbClr val="F5F5F5"/>
                    </a:solidFill>
                  </a:tcPr>
                </a:tc>
                <a:tc>
                  <a:txBody>
                    <a:bodyPr/>
                    <a:lstStyle/>
                    <a:p>
                      <a:pPr>
                        <a:defRPr sz="900" b="0">
                          <a:solidFill>
                            <a:srgbClr val="212529"/>
                          </a:solidFill>
                          <a:latin typeface="Arial"/>
                        </a:defRPr>
                      </a:pPr>
                      <a:r>
                        <a:t>Decoupled weight decay; optimized convergence (Ajayi et al., 2024)</a:t>
                      </a:r>
                    </a:p>
                  </a:txBody>
                  <a:tcPr marL="36576" marR="36576" marT="27432" marB="27432">
                    <a:solidFill>
                      <a:srgbClr val="F5F5F5"/>
                    </a:solidFill>
                  </a:tcPr>
                </a:tc>
              </a:tr>
              <a:tr h="310896">
                <a:tc>
                  <a:txBody>
                    <a:bodyPr/>
                    <a:lstStyle/>
                    <a:p>
                      <a:pPr>
                        <a:defRPr sz="900" b="1">
                          <a:solidFill>
                            <a:srgbClr val="212529"/>
                          </a:solidFill>
                          <a:latin typeface="Arial"/>
                        </a:defRPr>
                      </a:pPr>
                      <a:r>
                        <a:t>Focal Loss</a:t>
                      </a:r>
                    </a:p>
                  </a:txBody>
                  <a:tcPr marL="36576" marR="36576" marT="27432" marB="27432">
                    <a:solidFill>
                      <a:srgbClr val="F5F5F5"/>
                    </a:solidFill>
                  </a:tcPr>
                </a:tc>
                <a:tc>
                  <a:txBody>
                    <a:bodyPr/>
                    <a:lstStyle/>
                    <a:p>
                      <a:pPr>
                        <a:defRPr sz="900" b="0">
                          <a:solidFill>
                            <a:srgbClr val="212529"/>
                          </a:solidFill>
                          <a:latin typeface="Arial"/>
                        </a:defRPr>
                      </a:pPr>
                      <a:r>
                        <a:t>Weighted</a:t>
                      </a:r>
                    </a:p>
                  </a:txBody>
                  <a:tcPr marL="36576" marR="36576" marT="27432" marB="27432">
                    <a:solidFill>
                      <a:srgbClr val="F5F5F5"/>
                    </a:solidFill>
                  </a:tcPr>
                </a:tc>
                <a:tc>
                  <a:txBody>
                    <a:bodyPr/>
                    <a:lstStyle/>
                    <a:p>
                      <a:pPr>
                        <a:defRPr sz="900" b="0">
                          <a:solidFill>
                            <a:srgbClr val="212529"/>
                          </a:solidFill>
                          <a:latin typeface="Arial"/>
                        </a:defRPr>
                      </a:pPr>
                      <a:r>
                        <a:t>Dynamically weights rare class (Battery) (Mahmoodi et al., 2025)</a:t>
                      </a:r>
                    </a:p>
                  </a:txBody>
                  <a:tcPr marL="36576" marR="36576" marT="27432" marB="27432">
                    <a:solidFill>
                      <a:srgbClr val="F5F5F5"/>
                    </a:solidFill>
                  </a:tcPr>
                </a:tc>
              </a:tr>
            </a:tbl>
          </a:graphicData>
        </a:graphic>
      </p:graphicFrame>
      <p:sp>
        <p:nvSpPr>
          <p:cNvPr id="7" name="TextBox 6"/>
          <p:cNvSpPr txBox="1"/>
          <p:nvPr/>
        </p:nvSpPr>
        <p:spPr>
          <a:xfrm>
            <a:off x="457200" y="4690872"/>
            <a:ext cx="5943600" cy="658368"/>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Transfer Learning:</a:t>
            </a:r>
          </a:p>
          <a:p>
            <a:pPr lvl="1">
              <a:spcAft>
                <a:spcPts val="200"/>
              </a:spcAft>
              <a:defRPr sz="1100">
                <a:solidFill>
                  <a:srgbClr val="212529"/>
                </a:solidFill>
                <a:latin typeface="Arial"/>
              </a:defRPr>
            </a:pPr>
            <a:r>
              <a:t>Fine-tuned on ~30k images using COCO-pretrained weights (Zhang et al., 2021).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19: Enhanced Machine Learning Framework</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19 in Appendix A to generate the visual image.</a:t>
            </a:r>
          </a:p>
        </p:txBody>
      </p:sp>
      <p:sp>
        <p:nvSpPr>
          <p:cNvPr id="5" name="TextBox 4"/>
          <p:cNvSpPr txBox="1"/>
          <p:nvPr/>
        </p:nvSpPr>
        <p:spPr>
          <a:xfrm>
            <a:off x="457200" y="1188720"/>
            <a:ext cx="5943600" cy="2350008"/>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The Enhancement Pipeline:</a:t>
            </a:r>
          </a:p>
          <a:p>
            <a:pPr lvl="1">
              <a:spcAft>
                <a:spcPts val="200"/>
              </a:spcAft>
              <a:defRPr sz="1100">
                <a:solidFill>
                  <a:srgbClr val="212529"/>
                </a:solidFill>
                <a:latin typeface="Arial"/>
              </a:defRPr>
            </a:pPr>
            <a:r>
              <a:t>Baseline Model: YOLOv8m-seg pre-trained on COCO dataset (no waste-specific labels).</a:t>
            </a:r>
          </a:p>
          <a:p>
            <a:pPr lvl="1">
              <a:spcAft>
                <a:spcPts val="200"/>
              </a:spcAft>
              <a:defRPr sz="1100">
                <a:solidFill>
                  <a:srgbClr val="212529"/>
                </a:solidFill>
                <a:latin typeface="Arial"/>
              </a:defRPr>
            </a:pPr>
            <a:r>
              <a:t>Enhanced PurityLoop Model: Tuned specifically for heterogeneous industrial waste sorting.</a:t>
            </a:r>
          </a:p>
          <a:p>
            <a:pPr>
              <a:spcBef>
                <a:spcPts val="600"/>
              </a:spcBef>
              <a:spcAft>
                <a:spcPts val="300"/>
              </a:spcAft>
              <a:defRPr sz="1500" b="1">
                <a:solidFill>
                  <a:srgbClr val="0F5132"/>
                </a:solidFill>
                <a:latin typeface="Arial"/>
              </a:defRPr>
            </a:pPr>
            <a:r>
              <a:t>Key Technical Enhancements:</a:t>
            </a:r>
          </a:p>
          <a:p>
            <a:pPr lvl="1">
              <a:spcAft>
                <a:spcPts val="200"/>
              </a:spcAft>
              <a:defRPr sz="1100">
                <a:solidFill>
                  <a:srgbClr val="212529"/>
                </a:solidFill>
                <a:latin typeface="Arial"/>
              </a:defRPr>
            </a:pPr>
            <a:r>
              <a:t>Focal Loss Adjustment: Dynamically weights class loss to prioritize the rare Battery class.</a:t>
            </a:r>
          </a:p>
          <a:p>
            <a:pPr lvl="1">
              <a:spcAft>
                <a:spcPts val="200"/>
              </a:spcAft>
              <a:defRPr sz="1100">
                <a:solidFill>
                  <a:srgbClr val="212529"/>
                </a:solidFill>
                <a:latin typeface="Arial"/>
              </a:defRPr>
            </a:pPr>
            <a:r>
              <a:t>Anchor-Free Decoupled Head: Optimises object bounding boxes and masks independently.</a:t>
            </a:r>
          </a:p>
          <a:p>
            <a:pPr lvl="1">
              <a:spcAft>
                <a:spcPts val="200"/>
              </a:spcAft>
              <a:defRPr sz="1100">
                <a:solidFill>
                  <a:srgbClr val="212529"/>
                </a:solidFill>
                <a:latin typeface="Arial"/>
              </a:defRPr>
            </a:pPr>
            <a:r>
              <a:t>Conveyor Augmentations: Mosaic augmentation and Copy-Paste overlays model overlapping waste.</a:t>
            </a:r>
          </a:p>
          <a:p>
            <a:pPr lvl="1">
              <a:spcAft>
                <a:spcPts val="200"/>
              </a:spcAft>
              <a:defRPr sz="1100">
                <a:solidFill>
                  <a:srgbClr val="212529"/>
                </a:solidFill>
                <a:latin typeface="Arial"/>
              </a:defRPr>
            </a:pPr>
            <a:r>
              <a:t>Stricter Bounding Box NMS: Non-Maximum Suppression tuned to 0.35 to prevent duplicate detections.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20: Methodology: Extended CRISP-DM Framework</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20 in Appendix A to generate the visual image.</a:t>
            </a:r>
          </a:p>
        </p:txBody>
      </p:sp>
      <p:sp>
        <p:nvSpPr>
          <p:cNvPr id="5" name="TextBox 4"/>
          <p:cNvSpPr txBox="1"/>
          <p:nvPr/>
        </p:nvSpPr>
        <p:spPr>
          <a:xfrm>
            <a:off x="457200" y="1188720"/>
            <a:ext cx="5943600" cy="2798064"/>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CRISP-DM Phases for PurityLoop:</a:t>
            </a:r>
          </a:p>
          <a:p>
            <a:pPr lvl="1">
              <a:spcAft>
                <a:spcPts val="200"/>
              </a:spcAft>
              <a:defRPr sz="1100">
                <a:solidFill>
                  <a:srgbClr val="212529"/>
                </a:solidFill>
                <a:latin typeface="Arial"/>
              </a:defRPr>
            </a:pPr>
            <a:r>
              <a:t>1. Business Understanding: Problem defined (30% contamination, RM loss).</a:t>
            </a:r>
          </a:p>
          <a:p>
            <a:pPr lvl="1">
              <a:spcAft>
                <a:spcPts val="200"/>
              </a:spcAft>
              <a:defRPr sz="1100">
                <a:solidFill>
                  <a:srgbClr val="212529"/>
                </a:solidFill>
                <a:latin typeface="Arial"/>
              </a:defRPr>
            </a:pPr>
            <a:r>
              <a:t>2. Data Understanding: Ingesting ~227k images from 6 datasets.</a:t>
            </a:r>
          </a:p>
          <a:p>
            <a:pPr lvl="1">
              <a:spcAft>
                <a:spcPts val="200"/>
              </a:spcAft>
              <a:defRPr sz="1100">
                <a:solidFill>
                  <a:srgbClr val="212529"/>
                </a:solidFill>
                <a:latin typeface="Arial"/>
              </a:defRPr>
            </a:pPr>
            <a:r>
              <a:t>3. Data Preparation: Perceptual hash deduplication, blur filtering, 5,000 per class balancing.</a:t>
            </a:r>
          </a:p>
          <a:p>
            <a:pPr lvl="1">
              <a:spcAft>
                <a:spcPts val="200"/>
              </a:spcAft>
              <a:defRPr sz="1100">
                <a:solidFill>
                  <a:srgbClr val="212529"/>
                </a:solidFill>
                <a:latin typeface="Arial"/>
              </a:defRPr>
            </a:pPr>
            <a:r>
              <a:t>4. Modelling: Fine-tuning YOLOv8m-seg for instance segmentation.</a:t>
            </a:r>
          </a:p>
          <a:p>
            <a:pPr lvl="1">
              <a:spcAft>
                <a:spcPts val="200"/>
              </a:spcAft>
              <a:defRPr sz="1100">
                <a:solidFill>
                  <a:srgbClr val="212529"/>
                </a:solidFill>
                <a:latin typeface="Arial"/>
              </a:defRPr>
            </a:pPr>
            <a:r>
              <a:t>5. Evaluation: Generalisation test on 100 quarantine images; checkpoints verification.</a:t>
            </a:r>
          </a:p>
          <a:p>
            <a:pPr lvl="1">
              <a:spcAft>
                <a:spcPts val="200"/>
              </a:spcAft>
              <a:defRPr sz="1100">
                <a:solidFill>
                  <a:srgbClr val="212529"/>
                </a:solidFill>
                <a:latin typeface="Arial"/>
              </a:defRPr>
            </a:pPr>
            <a:r>
              <a:t>6. Deployment: Integration with SQLite, Streamlit frontend, and watchdog pipeline.</a:t>
            </a:r>
          </a:p>
          <a:p>
            <a:pPr>
              <a:spcBef>
                <a:spcPts val="600"/>
              </a:spcBef>
              <a:spcAft>
                <a:spcPts val="300"/>
              </a:spcAft>
              <a:defRPr sz="1500" b="1">
                <a:solidFill>
                  <a:srgbClr val="0F5132"/>
                </a:solidFill>
                <a:latin typeface="Arial"/>
              </a:defRPr>
            </a:pPr>
            <a:r>
              <a:t>The PurityLoop Extension:</a:t>
            </a:r>
          </a:p>
          <a:p>
            <a:pPr lvl="1">
              <a:spcAft>
                <a:spcPts val="200"/>
              </a:spcAft>
              <a:defRPr sz="1100">
                <a:solidFill>
                  <a:srgbClr val="212529"/>
                </a:solidFill>
                <a:latin typeface="Arial"/>
              </a:defRPr>
            </a:pPr>
            <a:r>
              <a:t>Active Learning Feedback Loop: Deployed model logs low-confidence items to SQLite, which are reviewed and re-fed into Data Preparation.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21: The Project Life Cycle — How We Built the AI</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21 in Appendix A to generate the visual image.</a:t>
            </a:r>
          </a:p>
        </p:txBody>
      </p:sp>
      <p:sp>
        <p:nvSpPr>
          <p:cNvPr id="5" name="TextBox 4"/>
          <p:cNvSpPr txBox="1"/>
          <p:nvPr/>
        </p:nvSpPr>
        <p:spPr>
          <a:xfrm>
            <a:off x="457200" y="1188720"/>
            <a:ext cx="5943600" cy="696206"/>
          </a:xfrm>
          <a:prstGeom prst="rect">
            <a:avLst/>
          </a:prstGeom>
          <a:noFill/>
        </p:spPr>
        <p:txBody>
          <a:bodyPr wrap="square">
            <a:spAutoFit/>
          </a:bodyPr>
          <a:lstStyle/>
          <a:p>
            <a:pPr>
              <a:spcBef>
                <a:spcPts val="500"/>
              </a:spcBef>
              <a:spcAft>
                <a:spcPts val="200"/>
              </a:spcAft>
              <a:defRPr sz="1400" b="1">
                <a:solidFill>
                  <a:srgbClr val="0F5132"/>
                </a:solidFill>
                <a:latin typeface="Arial"/>
              </a:defRPr>
            </a:pPr>
            <a:r>
              <a:t>3 Stages, 10 Steps:</a:t>
            </a:r>
          </a:p>
          <a:p>
            <a:pPr lvl="1">
              <a:spcAft>
                <a:spcPts val="100"/>
              </a:spcAft>
              <a:defRPr sz="1000">
                <a:solidFill>
                  <a:srgbClr val="212529"/>
                </a:solidFill>
                <a:latin typeface="Arial"/>
              </a:defRPr>
            </a:pPr>
            <a:r>
              <a:t>Stage 1 — Prepare the Teaching Materials (Steps 1–5)</a:t>
            </a:r>
          </a:p>
        </p:txBody>
      </p:sp>
      <p:graphicFrame>
        <p:nvGraphicFramePr>
          <p:cNvPr id="6" name="Table 5"/>
          <p:cNvGraphicFramePr>
            <a:graphicFrameLocks noGrp="1"/>
          </p:cNvGraphicFramePr>
          <p:nvPr/>
        </p:nvGraphicFramePr>
        <p:xfrm>
          <a:off x="457200" y="1884926"/>
          <a:ext cx="5943600" cy="1392412"/>
        </p:xfrm>
        <a:graphic>
          <a:graphicData uri="http://schemas.openxmlformats.org/drawingml/2006/table">
            <a:tbl>
              <a:tblPr firstRow="1" bandRow="1">
                <a:tableStyleId>{5C22544A-7EE6-4342-B048-85BDC9FD1C3A}</a:tableStyleId>
              </a:tblPr>
              <a:tblGrid>
                <a:gridCol w="2971800"/>
                <a:gridCol w="2971800"/>
              </a:tblGrid>
              <a:tr h="232068">
                <a:tc>
                  <a:txBody>
                    <a:bodyPr/>
                    <a:lstStyle/>
                    <a:p>
                      <a:pPr>
                        <a:defRPr sz="900" b="1">
                          <a:solidFill>
                            <a:srgbClr val="FFFFFF"/>
                          </a:solidFill>
                          <a:latin typeface="Arial"/>
                        </a:defRPr>
                      </a:pPr>
                      <a:r>
                        <a:t>Step</a:t>
                      </a:r>
                    </a:p>
                  </a:txBody>
                  <a:tcPr marL="36576" marR="36576" marT="27432" marB="27432">
                    <a:solidFill>
                      <a:srgbClr val="0F5132"/>
                    </a:solidFill>
                  </a:tcPr>
                </a:tc>
                <a:tc>
                  <a:txBody>
                    <a:bodyPr/>
                    <a:lstStyle/>
                    <a:p>
                      <a:pPr>
                        <a:defRPr sz="900" b="1">
                          <a:solidFill>
                            <a:srgbClr val="FFFFFF"/>
                          </a:solidFill>
                          <a:latin typeface="Arial"/>
                        </a:defRPr>
                      </a:pPr>
                      <a:r>
                        <a:t>What we do</a:t>
                      </a:r>
                    </a:p>
                  </a:txBody>
                  <a:tcPr marL="36576" marR="36576" marT="27432" marB="27432">
                    <a:solidFill>
                      <a:srgbClr val="0F5132"/>
                    </a:solidFill>
                  </a:tcPr>
                </a:tc>
              </a:tr>
              <a:tr h="232068">
                <a:tc>
                  <a:txBody>
                    <a:bodyPr/>
                    <a:lstStyle/>
                    <a:p>
                      <a:pPr>
                        <a:defRPr sz="900" b="1">
                          <a:solidFill>
                            <a:srgbClr val="212529"/>
                          </a:solidFill>
                          <a:latin typeface="Arial"/>
                        </a:defRPr>
                      </a:pPr>
                      <a:r>
                        <a:t>1. Clean Photos</a:t>
                      </a:r>
                    </a:p>
                  </a:txBody>
                  <a:tcPr marL="36576" marR="36576" marT="27432" marB="27432">
                    <a:solidFill>
                      <a:srgbClr val="F5F5F5"/>
                    </a:solidFill>
                  </a:tcPr>
                </a:tc>
                <a:tc>
                  <a:txBody>
                    <a:bodyPr/>
                    <a:lstStyle/>
                    <a:p>
                      <a:pPr>
                        <a:defRPr sz="900" b="0">
                          <a:solidFill>
                            <a:srgbClr val="212529"/>
                          </a:solidFill>
                          <a:latin typeface="Arial"/>
                        </a:defRPr>
                      </a:pPr>
                      <a:r>
                        <a:t>Remove blurry and duplicate images</a:t>
                      </a:r>
                    </a:p>
                  </a:txBody>
                  <a:tcPr marL="36576" marR="36576" marT="27432" marB="27432">
                    <a:solidFill>
                      <a:srgbClr val="F5F5F5"/>
                    </a:solidFill>
                  </a:tcPr>
                </a:tc>
              </a:tr>
              <a:tr h="232068">
                <a:tc>
                  <a:txBody>
                    <a:bodyPr/>
                    <a:lstStyle/>
                    <a:p>
                      <a:pPr>
                        <a:defRPr sz="900" b="1">
                          <a:solidFill>
                            <a:srgbClr val="212529"/>
                          </a:solidFill>
                          <a:latin typeface="Arial"/>
                        </a:defRPr>
                      </a:pPr>
                      <a:r>
                        <a:t>2. Label Items</a:t>
                      </a:r>
                    </a:p>
                  </a:txBody>
                  <a:tcPr marL="36576" marR="36576" marT="27432" marB="27432">
                    <a:solidFill>
                      <a:srgbClr val="F5F5F5"/>
                    </a:solidFill>
                  </a:tcPr>
                </a:tc>
                <a:tc>
                  <a:txBody>
                    <a:bodyPr/>
                    <a:lstStyle/>
                    <a:p>
                      <a:pPr>
                        <a:defRPr sz="900" b="0">
                          <a:solidFill>
                            <a:srgbClr val="212529"/>
                          </a:solidFill>
                          <a:latin typeface="Arial"/>
                        </a:defRPr>
                      </a:pPr>
                      <a:r>
                        <a:t>Draw outlines around every item and name the category</a:t>
                      </a:r>
                    </a:p>
                  </a:txBody>
                  <a:tcPr marL="36576" marR="36576" marT="27432" marB="27432">
                    <a:solidFill>
                      <a:srgbClr val="F5F5F5"/>
                    </a:solidFill>
                  </a:tcPr>
                </a:tc>
              </a:tr>
              <a:tr h="232068">
                <a:tc>
                  <a:txBody>
                    <a:bodyPr/>
                    <a:lstStyle/>
                    <a:p>
                      <a:pPr>
                        <a:defRPr sz="900" b="1">
                          <a:solidFill>
                            <a:srgbClr val="212529"/>
                          </a:solidFill>
                          <a:latin typeface="Arial"/>
                        </a:defRPr>
                      </a:pPr>
                      <a:r>
                        <a:t>3. Solo Training Test</a:t>
                      </a:r>
                    </a:p>
                  </a:txBody>
                  <a:tcPr marL="36576" marR="36576" marT="27432" marB="27432">
                    <a:solidFill>
                      <a:srgbClr val="F5F5F5"/>
                    </a:solidFill>
                  </a:tcPr>
                </a:tc>
                <a:tc>
                  <a:txBody>
                    <a:bodyPr/>
                    <a:lstStyle/>
                    <a:p>
                      <a:pPr>
                        <a:defRPr sz="900" b="0">
                          <a:solidFill>
                            <a:srgbClr val="212529"/>
                          </a:solidFill>
                          <a:latin typeface="Arial"/>
                        </a:defRPr>
                      </a:pPr>
                      <a:r>
                        <a:t>Each person trains a mini-AI on their own photos to find labelling mistakes</a:t>
                      </a:r>
                    </a:p>
                  </a:txBody>
                  <a:tcPr marL="36576" marR="36576" marT="27432" marB="27432">
                    <a:solidFill>
                      <a:srgbClr val="F5F5F5"/>
                    </a:solidFill>
                  </a:tcPr>
                </a:tc>
              </a:tr>
              <a:tr h="232068">
                <a:tc>
                  <a:txBody>
                    <a:bodyPr/>
                    <a:lstStyle/>
                    <a:p>
                      <a:pPr>
                        <a:defRPr sz="900" b="1">
                          <a:solidFill>
                            <a:srgbClr val="212529"/>
                          </a:solidFill>
                          <a:latin typeface="Arial"/>
                        </a:defRPr>
                      </a:pPr>
                      <a:r>
                        <a:t>4. Cross-Check Labels</a:t>
                      </a:r>
                    </a:p>
                  </a:txBody>
                  <a:tcPr marL="36576" marR="36576" marT="27432" marB="27432">
                    <a:solidFill>
                      <a:srgbClr val="F5F5F5"/>
                    </a:solidFill>
                  </a:tcPr>
                </a:tc>
                <a:tc>
                  <a:txBody>
                    <a:bodyPr/>
                    <a:lstStyle/>
                    <a:p>
                      <a:pPr>
                        <a:defRPr sz="900" b="0">
                          <a:solidFill>
                            <a:srgbClr val="212529"/>
                          </a:solidFill>
                          <a:latin typeface="Arial"/>
                        </a:defRPr>
                      </a:pPr>
                      <a:r>
                        <a:t>Team compares labels — must agree ≥85% of the time</a:t>
                      </a:r>
                    </a:p>
                  </a:txBody>
                  <a:tcPr marL="36576" marR="36576" marT="27432" marB="27432">
                    <a:solidFill>
                      <a:srgbClr val="F5F5F5"/>
                    </a:solidFill>
                  </a:tcPr>
                </a:tc>
              </a:tr>
              <a:tr h="232072">
                <a:tc>
                  <a:txBody>
                    <a:bodyPr/>
                    <a:lstStyle/>
                    <a:p>
                      <a:pPr>
                        <a:defRPr sz="900" b="1">
                          <a:solidFill>
                            <a:srgbClr val="212529"/>
                          </a:solidFill>
                          <a:latin typeface="Arial"/>
                        </a:defRPr>
                      </a:pPr>
                      <a:r>
                        <a:t>5. Remove Bad Labels</a:t>
                      </a:r>
                    </a:p>
                  </a:txBody>
                  <a:tcPr marL="36576" marR="36576" marT="27432" marB="27432">
                    <a:solidFill>
                      <a:srgbClr val="F5F5F5"/>
                    </a:solidFill>
                  </a:tcPr>
                </a:tc>
                <a:tc>
                  <a:txBody>
                    <a:bodyPr/>
                    <a:lstStyle/>
                    <a:p>
                      <a:pPr>
                        <a:defRPr sz="900" b="0">
                          <a:solidFill>
                            <a:srgbClr val="212529"/>
                          </a:solidFill>
                          <a:latin typeface="Arial"/>
                        </a:defRPr>
                      </a:pPr>
                      <a:r>
                        <a:t>Automated tool flags and removes incorrect labels</a:t>
                      </a:r>
                    </a:p>
                  </a:txBody>
                  <a:tcPr marL="36576" marR="36576" marT="27432" marB="27432">
                    <a:solidFill>
                      <a:srgbClr val="F5F5F5"/>
                    </a:solidFill>
                  </a:tcPr>
                </a:tc>
              </a:tr>
            </a:tbl>
          </a:graphicData>
        </a:graphic>
      </p:graphicFrame>
      <p:sp>
        <p:nvSpPr>
          <p:cNvPr id="7" name="TextBox 6"/>
          <p:cNvSpPr txBox="1"/>
          <p:nvPr/>
        </p:nvSpPr>
        <p:spPr>
          <a:xfrm>
            <a:off x="457200" y="3368779"/>
            <a:ext cx="5943600" cy="406873"/>
          </a:xfrm>
          <a:prstGeom prst="rect">
            <a:avLst/>
          </a:prstGeom>
          <a:noFill/>
        </p:spPr>
        <p:txBody>
          <a:bodyPr wrap="square">
            <a:spAutoFit/>
          </a:bodyPr>
          <a:lstStyle/>
          <a:p>
            <a:pPr>
              <a:spcBef>
                <a:spcPts val="500"/>
              </a:spcBef>
              <a:spcAft>
                <a:spcPts val="200"/>
              </a:spcAft>
              <a:defRPr sz="1400" b="1">
                <a:solidFill>
                  <a:srgbClr val="0F5132"/>
                </a:solidFill>
                <a:latin typeface="Arial"/>
              </a:defRPr>
            </a:pPr>
            <a:r>
              <a:t>Stage 2 — Train &amp; Improve (Steps 6–8)</a:t>
            </a:r>
          </a:p>
        </p:txBody>
      </p:sp>
      <p:graphicFrame>
        <p:nvGraphicFramePr>
          <p:cNvPr id="8" name="Table 7"/>
          <p:cNvGraphicFramePr>
            <a:graphicFrameLocks noGrp="1"/>
          </p:cNvGraphicFramePr>
          <p:nvPr/>
        </p:nvGraphicFramePr>
        <p:xfrm>
          <a:off x="457200" y="3775653"/>
          <a:ext cx="5943600" cy="958414"/>
        </p:xfrm>
        <a:graphic>
          <a:graphicData uri="http://schemas.openxmlformats.org/drawingml/2006/table">
            <a:tbl>
              <a:tblPr firstRow="1" bandRow="1">
                <a:tableStyleId>{5C22544A-7EE6-4342-B048-85BDC9FD1C3A}</a:tableStyleId>
              </a:tblPr>
              <a:tblGrid>
                <a:gridCol w="2971800"/>
                <a:gridCol w="2971800"/>
              </a:tblGrid>
              <a:tr h="239603">
                <a:tc>
                  <a:txBody>
                    <a:bodyPr/>
                    <a:lstStyle/>
                    <a:p>
                      <a:pPr>
                        <a:defRPr sz="900" b="1">
                          <a:solidFill>
                            <a:srgbClr val="FFFFFF"/>
                          </a:solidFill>
                          <a:latin typeface="Arial"/>
                        </a:defRPr>
                      </a:pPr>
                      <a:r>
                        <a:t>Step</a:t>
                      </a:r>
                    </a:p>
                  </a:txBody>
                  <a:tcPr marL="36576" marR="36576" marT="27432" marB="27432">
                    <a:solidFill>
                      <a:srgbClr val="0F5132"/>
                    </a:solidFill>
                  </a:tcPr>
                </a:tc>
                <a:tc>
                  <a:txBody>
                    <a:bodyPr/>
                    <a:lstStyle/>
                    <a:p>
                      <a:pPr>
                        <a:defRPr sz="900" b="1">
                          <a:solidFill>
                            <a:srgbClr val="FFFFFF"/>
                          </a:solidFill>
                          <a:latin typeface="Arial"/>
                        </a:defRPr>
                      </a:pPr>
                      <a:r>
                        <a:t>What we do</a:t>
                      </a:r>
                    </a:p>
                  </a:txBody>
                  <a:tcPr marL="36576" marR="36576" marT="27432" marB="27432">
                    <a:solidFill>
                      <a:srgbClr val="0F5132"/>
                    </a:solidFill>
                  </a:tcPr>
                </a:tc>
              </a:tr>
              <a:tr h="239603">
                <a:tc>
                  <a:txBody>
                    <a:bodyPr/>
                    <a:lstStyle/>
                    <a:p>
                      <a:pPr>
                        <a:defRPr sz="900" b="1">
                          <a:solidFill>
                            <a:srgbClr val="212529"/>
                          </a:solidFill>
                          <a:latin typeface="Arial"/>
                        </a:defRPr>
                      </a:pPr>
                      <a:r>
                        <a:t>6. Merge &amp; Count</a:t>
                      </a:r>
                    </a:p>
                  </a:txBody>
                  <a:tcPr marL="36576" marR="36576" marT="27432" marB="27432">
                    <a:solidFill>
                      <a:srgbClr val="F5F5F5"/>
                    </a:solidFill>
                  </a:tcPr>
                </a:tc>
                <a:tc>
                  <a:txBody>
                    <a:bodyPr/>
                    <a:lstStyle/>
                    <a:p>
                      <a:pPr>
                        <a:defRPr sz="900" b="0">
                          <a:solidFill>
                            <a:srgbClr val="212529"/>
                          </a:solidFill>
                          <a:latin typeface="Arial"/>
                        </a:defRPr>
                      </a:pPr>
                      <a:r>
                        <a:t>Combine all cleaned photos into one pool</a:t>
                      </a:r>
                    </a:p>
                  </a:txBody>
                  <a:tcPr marL="36576" marR="36576" marT="27432" marB="27432">
                    <a:solidFill>
                      <a:srgbClr val="F5F5F5"/>
                    </a:solidFill>
                  </a:tcPr>
                </a:tc>
              </a:tr>
              <a:tr h="239603">
                <a:tc>
                  <a:txBody>
                    <a:bodyPr/>
                    <a:lstStyle/>
                    <a:p>
                      <a:pPr>
                        <a:defRPr sz="900" b="1">
                          <a:solidFill>
                            <a:srgbClr val="212529"/>
                          </a:solidFill>
                          <a:latin typeface="Arial"/>
                        </a:defRPr>
                      </a:pPr>
                      <a:r>
                        <a:t>7. First Training Run</a:t>
                      </a:r>
                    </a:p>
                  </a:txBody>
                  <a:tcPr marL="36576" marR="36576" marT="27432" marB="27432">
                    <a:solidFill>
                      <a:srgbClr val="F5F5F5"/>
                    </a:solidFill>
                  </a:tcPr>
                </a:tc>
                <a:tc>
                  <a:txBody>
                    <a:bodyPr/>
                    <a:lstStyle/>
                    <a:p>
                      <a:pPr>
                        <a:defRPr sz="900" b="0">
                          <a:solidFill>
                            <a:srgbClr val="212529"/>
                          </a:solidFill>
                          <a:latin typeface="Arial"/>
                        </a:defRPr>
                      </a:pPr>
                      <a:r>
                        <a:t>Train AI with zero settings changed — record accuracy as the benchmark</a:t>
                      </a:r>
                    </a:p>
                  </a:txBody>
                  <a:tcPr marL="36576" marR="36576" marT="27432" marB="27432">
                    <a:solidFill>
                      <a:srgbClr val="F5F5F5"/>
                    </a:solidFill>
                  </a:tcPr>
                </a:tc>
              </a:tr>
              <a:tr h="239605">
                <a:tc>
                  <a:txBody>
                    <a:bodyPr/>
                    <a:lstStyle/>
                    <a:p>
                      <a:pPr>
                        <a:defRPr sz="900" b="1">
                          <a:solidFill>
                            <a:srgbClr val="212529"/>
                          </a:solidFill>
                          <a:latin typeface="Arial"/>
                        </a:defRPr>
                      </a:pPr>
                      <a:r>
                        <a:t>8. Fine-Tune Settings</a:t>
                      </a:r>
                    </a:p>
                  </a:txBody>
                  <a:tcPr marL="36576" marR="36576" marT="27432" marB="27432">
                    <a:solidFill>
                      <a:srgbClr val="F5F5F5"/>
                    </a:solidFill>
                  </a:tcPr>
                </a:tc>
                <a:tc>
                  <a:txBody>
                    <a:bodyPr/>
                    <a:lstStyle/>
                    <a:p>
                      <a:pPr>
                        <a:defRPr sz="900" b="0">
                          <a:solidFill>
                            <a:srgbClr val="212529"/>
                          </a:solidFill>
                          <a:latin typeface="Arial"/>
                        </a:defRPr>
                      </a:pPr>
                      <a:r>
                        <a:t>Change one setting at a time; keep only changes that improve accuracy</a:t>
                      </a:r>
                    </a:p>
                  </a:txBody>
                  <a:tcPr marL="36576" marR="36576" marT="27432" marB="27432">
                    <a:solidFill>
                      <a:srgbClr val="F5F5F5"/>
                    </a:solidFill>
                  </a:tcPr>
                </a:tc>
              </a:tr>
            </a:tbl>
          </a:graphicData>
        </a:graphic>
      </p:graphicFrame>
      <p:sp>
        <p:nvSpPr>
          <p:cNvPr id="9" name="TextBox 8"/>
          <p:cNvSpPr txBox="1"/>
          <p:nvPr/>
        </p:nvSpPr>
        <p:spPr>
          <a:xfrm>
            <a:off x="457200" y="4825507"/>
            <a:ext cx="5943600" cy="406873"/>
          </a:xfrm>
          <a:prstGeom prst="rect">
            <a:avLst/>
          </a:prstGeom>
          <a:noFill/>
        </p:spPr>
        <p:txBody>
          <a:bodyPr wrap="square">
            <a:spAutoFit/>
          </a:bodyPr>
          <a:lstStyle/>
          <a:p>
            <a:pPr>
              <a:spcBef>
                <a:spcPts val="500"/>
              </a:spcBef>
              <a:spcAft>
                <a:spcPts val="200"/>
              </a:spcAft>
              <a:defRPr sz="1400" b="1">
                <a:solidFill>
                  <a:srgbClr val="0F5132"/>
                </a:solidFill>
                <a:latin typeface="Arial"/>
              </a:defRPr>
            </a:pPr>
            <a:r>
              <a:t>Stage 3 — Test &amp; Protect (Steps 9–10)</a:t>
            </a:r>
          </a:p>
        </p:txBody>
      </p:sp>
      <p:graphicFrame>
        <p:nvGraphicFramePr>
          <p:cNvPr id="10" name="Table 9"/>
          <p:cNvGraphicFramePr>
            <a:graphicFrameLocks noGrp="1"/>
          </p:cNvGraphicFramePr>
          <p:nvPr/>
        </p:nvGraphicFramePr>
        <p:xfrm>
          <a:off x="457200" y="5232381"/>
          <a:ext cx="5943600" cy="741414"/>
        </p:xfrm>
        <a:graphic>
          <a:graphicData uri="http://schemas.openxmlformats.org/drawingml/2006/table">
            <a:tbl>
              <a:tblPr firstRow="1" bandRow="1">
                <a:tableStyleId>{5C22544A-7EE6-4342-B048-85BDC9FD1C3A}</a:tableStyleId>
              </a:tblPr>
              <a:tblGrid>
                <a:gridCol w="2971800"/>
                <a:gridCol w="2971800"/>
              </a:tblGrid>
              <a:tr h="247138">
                <a:tc>
                  <a:txBody>
                    <a:bodyPr/>
                    <a:lstStyle/>
                    <a:p>
                      <a:pPr>
                        <a:defRPr sz="900" b="1">
                          <a:solidFill>
                            <a:srgbClr val="FFFFFF"/>
                          </a:solidFill>
                          <a:latin typeface="Arial"/>
                        </a:defRPr>
                      </a:pPr>
                      <a:r>
                        <a:t>Step</a:t>
                      </a:r>
                    </a:p>
                  </a:txBody>
                  <a:tcPr marL="36576" marR="36576" marT="27432" marB="27432">
                    <a:solidFill>
                      <a:srgbClr val="0F5132"/>
                    </a:solidFill>
                  </a:tcPr>
                </a:tc>
                <a:tc>
                  <a:txBody>
                    <a:bodyPr/>
                    <a:lstStyle/>
                    <a:p>
                      <a:pPr>
                        <a:defRPr sz="900" b="1">
                          <a:solidFill>
                            <a:srgbClr val="FFFFFF"/>
                          </a:solidFill>
                          <a:latin typeface="Arial"/>
                        </a:defRPr>
                      </a:pPr>
                      <a:r>
                        <a:t>What we do</a:t>
                      </a:r>
                    </a:p>
                  </a:txBody>
                  <a:tcPr marL="36576" marR="36576" marT="27432" marB="27432">
                    <a:solidFill>
                      <a:srgbClr val="0F5132"/>
                    </a:solidFill>
                  </a:tcPr>
                </a:tc>
              </a:tr>
              <a:tr h="247138">
                <a:tc>
                  <a:txBody>
                    <a:bodyPr/>
                    <a:lstStyle/>
                    <a:p>
                      <a:pPr>
                        <a:defRPr sz="900" b="1">
                          <a:solidFill>
                            <a:srgbClr val="212529"/>
                          </a:solidFill>
                          <a:latin typeface="Arial"/>
                        </a:defRPr>
                      </a:pPr>
                      <a:r>
                        <a:t>9. Blind Test</a:t>
                      </a:r>
                    </a:p>
                  </a:txBody>
                  <a:tcPr marL="36576" marR="36576" marT="27432" marB="27432">
                    <a:solidFill>
                      <a:srgbClr val="F5F5F5"/>
                    </a:solidFill>
                  </a:tcPr>
                </a:tc>
                <a:tc>
                  <a:txBody>
                    <a:bodyPr/>
                    <a:lstStyle/>
                    <a:p>
                      <a:pPr>
                        <a:defRPr sz="900" b="0">
                          <a:solidFill>
                            <a:srgbClr val="212529"/>
                          </a:solidFill>
                          <a:latin typeface="Arial"/>
                        </a:defRPr>
                      </a:pPr>
                      <a:r>
                        <a:t>Run AI on 100 photos it has never seen before — test if it can generalise</a:t>
                      </a:r>
                    </a:p>
                  </a:txBody>
                  <a:tcPr marL="36576" marR="36576" marT="27432" marB="27432">
                    <a:solidFill>
                      <a:srgbClr val="F5F5F5"/>
                    </a:solidFill>
                  </a:tcPr>
                </a:tc>
              </a:tr>
              <a:tr h="247138">
                <a:tc>
                  <a:txBody>
                    <a:bodyPr/>
                    <a:lstStyle/>
                    <a:p>
                      <a:pPr>
                        <a:defRPr sz="900" b="1">
                          <a:solidFill>
                            <a:srgbClr val="212529"/>
                          </a:solidFill>
                          <a:latin typeface="Arial"/>
                        </a:defRPr>
                      </a:pPr>
                      <a:r>
                        <a:t>10. Learn from Failures</a:t>
                      </a:r>
                    </a:p>
                  </a:txBody>
                  <a:tcPr marL="36576" marR="36576" marT="27432" marB="27432">
                    <a:solidFill>
                      <a:srgbClr val="F5F5F5"/>
                    </a:solidFill>
                  </a:tcPr>
                </a:tc>
                <a:tc>
                  <a:txBody>
                    <a:bodyPr/>
                    <a:lstStyle/>
                    <a:p>
                      <a:pPr>
                        <a:defRPr sz="900" b="0">
                          <a:solidFill>
                            <a:srgbClr val="212529"/>
                          </a:solidFill>
                          <a:latin typeface="Arial"/>
                        </a:defRPr>
                      </a:pPr>
                      <a:r>
                        <a:t>If blind test fails, AI retrains on the photos it got wrong, then re-tested</a:t>
                      </a:r>
                    </a:p>
                  </a:txBody>
                  <a:tcPr marL="36576" marR="36576" marT="27432" marB="27432">
                    <a:solidFill>
                      <a:srgbClr val="F5F5F5"/>
                    </a:solidFill>
                  </a:tcPr>
                </a:tc>
              </a:tr>
            </a:tbl>
          </a:graphicData>
        </a:graphic>
      </p:graphicFrame>
      <p:sp>
        <p:nvSpPr>
          <p:cNvPr id="11" name="TextBox 10"/>
          <p:cNvSpPr txBox="1"/>
          <p:nvPr/>
        </p:nvSpPr>
        <p:spPr>
          <a:xfrm>
            <a:off x="457200" y="6065235"/>
            <a:ext cx="5943600" cy="244124"/>
          </a:xfrm>
          <a:prstGeom prst="rect">
            <a:avLst/>
          </a:prstGeom>
          <a:noFill/>
        </p:spPr>
        <p:txBody>
          <a:bodyPr wrap="square">
            <a:spAutoFit/>
          </a:bodyPr>
          <a:lstStyle/>
          <a:p>
            <a:pPr lvl="1">
              <a:spcAft>
                <a:spcPts val="100"/>
              </a:spcAft>
              <a:defRPr sz="1000">
                <a:solidFill>
                  <a:srgbClr val="212529"/>
                </a:solidFill>
                <a:latin typeface="Arial"/>
              </a:defRPr>
            </a:pPr>
            <a:r>
              <a:t>The key rule: every step has a pass/fail gate. Fail = go back and fix. Do not move forward with bad data.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22: What the AI Needs to Solve — The Problem &amp; Gap</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22 in Appendix A to generate the visual image.</a:t>
            </a:r>
          </a:p>
        </p:txBody>
      </p:sp>
      <p:sp>
        <p:nvSpPr>
          <p:cNvPr id="5" name="TextBox 4"/>
          <p:cNvSpPr txBox="1"/>
          <p:nvPr/>
        </p:nvSpPr>
        <p:spPr>
          <a:xfrm>
            <a:off x="457200" y="1188720"/>
            <a:ext cx="5943600" cy="2103120"/>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The problem on a conveyor belt:</a:t>
            </a:r>
          </a:p>
          <a:p>
            <a:pPr lvl="1">
              <a:spcAft>
                <a:spcPts val="200"/>
              </a:spcAft>
              <a:defRPr sz="1100">
                <a:solidFill>
                  <a:srgbClr val="212529"/>
                </a:solidFill>
                <a:latin typeface="Arial"/>
              </a:defRPr>
            </a:pPr>
            <a:r>
              <a:t>Items are squashed, torn, and piled on top of each other</a:t>
            </a:r>
          </a:p>
          <a:p>
            <a:pPr lvl="1">
              <a:spcAft>
                <a:spcPts val="200"/>
              </a:spcAft>
              <a:defRPr sz="1100">
                <a:solidFill>
                  <a:srgbClr val="212529"/>
                </a:solidFill>
                <a:latin typeface="Arial"/>
              </a:defRPr>
            </a:pPr>
            <a:r>
              <a:t>Simple photo classification (what is in this photo?) fails when multiple items overlap</a:t>
            </a:r>
          </a:p>
          <a:p>
            <a:pPr lvl="1">
              <a:spcAft>
                <a:spcPts val="200"/>
              </a:spcAft>
              <a:defRPr sz="1100">
                <a:solidFill>
                  <a:srgbClr val="212529"/>
                </a:solidFill>
                <a:latin typeface="Arial"/>
              </a:defRPr>
            </a:pPr>
            <a:r>
              <a:t>One battery hidden under cardboard = entire bale rejected = revenue lost</a:t>
            </a:r>
          </a:p>
          <a:p>
            <a:pPr lvl="1">
              <a:spcAft>
                <a:spcPts val="200"/>
              </a:spcAft>
              <a:defRPr sz="1100">
                <a:solidFill>
                  <a:srgbClr val="212529"/>
                </a:solidFill>
                <a:latin typeface="Arial"/>
              </a:defRPr>
            </a:pPr>
            <a:r>
              <a:t>What we use instead: the AI draws a precise outline around each individual item — even when they overlap. This lets it count, classify, and calculate separately for each object.</a:t>
            </a:r>
          </a:p>
          <a:p>
            <a:pPr>
              <a:spcBef>
                <a:spcPts val="600"/>
              </a:spcBef>
              <a:spcAft>
                <a:spcPts val="300"/>
              </a:spcAft>
              <a:defRPr sz="1500" b="1">
                <a:solidFill>
                  <a:srgbClr val="0F5132"/>
                </a:solidFill>
                <a:latin typeface="Arial"/>
              </a:defRPr>
            </a:pPr>
            <a:r>
              <a:t>The gap in existing systems:</a:t>
            </a:r>
          </a:p>
        </p:txBody>
      </p:sp>
      <p:graphicFrame>
        <p:nvGraphicFramePr>
          <p:cNvPr id="6" name="Table 5"/>
          <p:cNvGraphicFramePr>
            <a:graphicFrameLocks noGrp="1"/>
          </p:cNvGraphicFramePr>
          <p:nvPr/>
        </p:nvGraphicFramePr>
        <p:xfrm>
          <a:off x="457200" y="3291839"/>
          <a:ext cx="5943600" cy="1188720"/>
        </p:xfrm>
        <a:graphic>
          <a:graphicData uri="http://schemas.openxmlformats.org/drawingml/2006/table">
            <a:tbl>
              <a:tblPr firstRow="1" bandRow="1">
                <a:tableStyleId>{5C22544A-7EE6-4342-B048-85BDC9FD1C3A}</a:tableStyleId>
              </a:tblPr>
              <a:tblGrid>
                <a:gridCol w="2971800"/>
                <a:gridCol w="2971800"/>
              </a:tblGrid>
              <a:tr h="237744">
                <a:tc>
                  <a:txBody>
                    <a:bodyPr/>
                    <a:lstStyle/>
                    <a:p>
                      <a:pPr>
                        <a:defRPr sz="900" b="1">
                          <a:solidFill>
                            <a:srgbClr val="FFFFFF"/>
                          </a:solidFill>
                          <a:latin typeface="Arial"/>
                        </a:defRPr>
                      </a:pPr>
                      <a:r>
                        <a:t>What existing systems do</a:t>
                      </a:r>
                    </a:p>
                  </a:txBody>
                  <a:tcPr marL="36576" marR="36576" marT="27432" marB="27432">
                    <a:solidFill>
                      <a:srgbClr val="0F5132"/>
                    </a:solidFill>
                  </a:tcPr>
                </a:tc>
                <a:tc>
                  <a:txBody>
                    <a:bodyPr/>
                    <a:lstStyle/>
                    <a:p>
                      <a:pPr>
                        <a:defRPr sz="900" b="1">
                          <a:solidFill>
                            <a:srgbClr val="FFFFFF"/>
                          </a:solidFill>
                          <a:latin typeface="Arial"/>
                        </a:defRPr>
                      </a:pPr>
                      <a:r>
                        <a:t>What PurityLoop adds</a:t>
                      </a:r>
                    </a:p>
                  </a:txBody>
                  <a:tcPr marL="36576" marR="36576" marT="27432" marB="27432">
                    <a:solidFill>
                      <a:srgbClr val="0F5132"/>
                    </a:solidFill>
                  </a:tcPr>
                </a:tc>
              </a:tr>
              <a:tr h="237744">
                <a:tc>
                  <a:txBody>
                    <a:bodyPr/>
                    <a:lstStyle/>
                    <a:p>
                      <a:pPr>
                        <a:defRPr sz="900" b="1">
                          <a:solidFill>
                            <a:srgbClr val="212529"/>
                          </a:solidFill>
                          <a:latin typeface="Arial"/>
                        </a:defRPr>
                      </a:pPr>
                      <a:r>
                        <a:t>Detect items — yes or no</a:t>
                      </a:r>
                    </a:p>
                  </a:txBody>
                  <a:tcPr marL="36576" marR="36576" marT="27432" marB="27432">
                    <a:solidFill>
                      <a:srgbClr val="F5F5F5"/>
                    </a:solidFill>
                  </a:tcPr>
                </a:tc>
                <a:tc>
                  <a:txBody>
                    <a:bodyPr/>
                    <a:lstStyle/>
                    <a:p>
                      <a:pPr>
                        <a:defRPr sz="900" b="0">
                          <a:solidFill>
                            <a:srgbClr val="212529"/>
                          </a:solidFill>
                          <a:latin typeface="Arial"/>
                        </a:defRPr>
                      </a:pPr>
                      <a:r>
                        <a:t>Detect + outline each item precisely</a:t>
                      </a:r>
                    </a:p>
                  </a:txBody>
                  <a:tcPr marL="36576" marR="36576" marT="27432" marB="27432">
                    <a:solidFill>
                      <a:srgbClr val="F5F5F5"/>
                    </a:solidFill>
                  </a:tcPr>
                </a:tc>
              </a:tr>
              <a:tr h="237744">
                <a:tc>
                  <a:txBody>
                    <a:bodyPr/>
                    <a:lstStyle/>
                    <a:p>
                      <a:pPr>
                        <a:defRPr sz="900" b="1">
                          <a:solidFill>
                            <a:srgbClr val="212529"/>
                          </a:solidFill>
                          <a:latin typeface="Arial"/>
                        </a:defRPr>
                      </a:pPr>
                      <a:r>
                        <a:t>No "uncertain" category</a:t>
                      </a:r>
                    </a:p>
                  </a:txBody>
                  <a:tcPr marL="36576" marR="36576" marT="27432" marB="27432">
                    <a:solidFill>
                      <a:srgbClr val="F5F5F5"/>
                    </a:solidFill>
                  </a:tcPr>
                </a:tc>
                <a:tc>
                  <a:txBody>
                    <a:bodyPr/>
                    <a:lstStyle/>
                    <a:p>
                      <a:pPr>
                        <a:defRPr sz="900" b="0">
                          <a:solidFill>
                            <a:srgbClr val="212529"/>
                          </a:solidFill>
                          <a:latin typeface="Arial"/>
                        </a:defRPr>
                      </a:pPr>
                      <a:r>
                        <a:t>A holding zone for items the AI is unsure about</a:t>
                      </a:r>
                    </a:p>
                  </a:txBody>
                  <a:tcPr marL="36576" marR="36576" marT="27432" marB="27432">
                    <a:solidFill>
                      <a:srgbClr val="F5F5F5"/>
                    </a:solidFill>
                  </a:tcPr>
                </a:tc>
              </a:tr>
              <a:tr h="237744">
                <a:tc>
                  <a:txBody>
                    <a:bodyPr/>
                    <a:lstStyle/>
                    <a:p>
                      <a:pPr>
                        <a:defRPr sz="900" b="1">
                          <a:solidFill>
                            <a:srgbClr val="212529"/>
                          </a:solidFill>
                          <a:latin typeface="Arial"/>
                        </a:defRPr>
                      </a:pPr>
                      <a:r>
                        <a:t>Binary: recyclable or trash</a:t>
                      </a:r>
                    </a:p>
                  </a:txBody>
                  <a:tcPr marL="36576" marR="36576" marT="27432" marB="27432">
                    <a:solidFill>
                      <a:srgbClr val="F5F5F5"/>
                    </a:solidFill>
                  </a:tcPr>
                </a:tc>
                <a:tc>
                  <a:txBody>
                    <a:bodyPr/>
                    <a:lstStyle/>
                    <a:p>
                      <a:pPr>
                        <a:defRPr sz="900" b="0">
                          <a:solidFill>
                            <a:srgbClr val="212529"/>
                          </a:solidFill>
                          <a:latin typeface="Arial"/>
                        </a:defRPr>
                      </a:pPr>
                      <a:r>
                        <a:t>9 categories including hazardous (battery)</a:t>
                      </a:r>
                    </a:p>
                  </a:txBody>
                  <a:tcPr marL="36576" marR="36576" marT="27432" marB="27432">
                    <a:solidFill>
                      <a:srgbClr val="F5F5F5"/>
                    </a:solidFill>
                  </a:tcPr>
                </a:tc>
              </a:tr>
              <a:tr h="237744">
                <a:tc>
                  <a:txBody>
                    <a:bodyPr/>
                    <a:lstStyle/>
                    <a:p>
                      <a:pPr>
                        <a:defRPr sz="900" b="1">
                          <a:solidFill>
                            <a:srgbClr val="212529"/>
                          </a:solidFill>
                          <a:latin typeface="Arial"/>
                        </a:defRPr>
                      </a:pPr>
                      <a:r>
                        <a:t>No carbon data</a:t>
                      </a:r>
                    </a:p>
                  </a:txBody>
                  <a:tcPr marL="36576" marR="36576" marT="27432" marB="27432">
                    <a:solidFill>
                      <a:srgbClr val="F5F5F5"/>
                    </a:solidFill>
                  </a:tcPr>
                </a:tc>
                <a:tc>
                  <a:txBody>
                    <a:bodyPr/>
                    <a:lstStyle/>
                    <a:p>
                      <a:pPr>
                        <a:defRPr sz="900" b="0">
                          <a:solidFill>
                            <a:srgbClr val="212529"/>
                          </a:solidFill>
                          <a:latin typeface="Arial"/>
                        </a:defRPr>
                      </a:pPr>
                      <a:r>
                        <a:t>Item-level carbon calculation per session</a:t>
                      </a:r>
                    </a:p>
                  </a:txBody>
                  <a:tcPr marL="36576" marR="36576" marT="27432" marB="27432">
                    <a:solidFill>
                      <a:srgbClr val="F5F5F5"/>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23: Cleaning the Data Before Training</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23 in Appendix A to generate the visual image.</a:t>
            </a:r>
          </a:p>
        </p:txBody>
      </p:sp>
      <p:sp>
        <p:nvSpPr>
          <p:cNvPr id="5" name="TextBox 4"/>
          <p:cNvSpPr txBox="1"/>
          <p:nvPr/>
        </p:nvSpPr>
        <p:spPr>
          <a:xfrm>
            <a:off x="457200" y="1188720"/>
            <a:ext cx="5943600" cy="411479"/>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Raw data → clean training data in 4 steps:</a:t>
            </a:r>
          </a:p>
        </p:txBody>
      </p:sp>
      <p:graphicFrame>
        <p:nvGraphicFramePr>
          <p:cNvPr id="6" name="Table 5"/>
          <p:cNvGraphicFramePr>
            <a:graphicFrameLocks noGrp="1"/>
          </p:cNvGraphicFramePr>
          <p:nvPr/>
        </p:nvGraphicFramePr>
        <p:xfrm>
          <a:off x="457200" y="1600200"/>
          <a:ext cx="5943597" cy="2834640"/>
        </p:xfrm>
        <a:graphic>
          <a:graphicData uri="http://schemas.openxmlformats.org/drawingml/2006/table">
            <a:tbl>
              <a:tblPr firstRow="1" bandRow="1">
                <a:tableStyleId>{5C22544A-7EE6-4342-B048-85BDC9FD1C3A}</a:tableStyleId>
              </a:tblPr>
              <a:tblGrid>
                <a:gridCol w="1981199"/>
                <a:gridCol w="1981199"/>
                <a:gridCol w="1981199"/>
              </a:tblGrid>
              <a:tr h="566928">
                <a:tc>
                  <a:txBody>
                    <a:bodyPr/>
                    <a:lstStyle/>
                    <a:p>
                      <a:pPr>
                        <a:defRPr sz="900" b="1">
                          <a:solidFill>
                            <a:srgbClr val="FFFFFF"/>
                          </a:solidFill>
                          <a:latin typeface="Arial"/>
                        </a:defRPr>
                      </a:pPr>
                      <a:r>
                        <a:t>Step</a:t>
                      </a:r>
                    </a:p>
                  </a:txBody>
                  <a:tcPr marL="36576" marR="36576" marT="27432" marB="27432">
                    <a:solidFill>
                      <a:srgbClr val="0F5132"/>
                    </a:solidFill>
                  </a:tcPr>
                </a:tc>
                <a:tc>
                  <a:txBody>
                    <a:bodyPr/>
                    <a:lstStyle/>
                    <a:p>
                      <a:pPr>
                        <a:defRPr sz="900" b="1">
                          <a:solidFill>
                            <a:srgbClr val="FFFFFF"/>
                          </a:solidFill>
                          <a:latin typeface="Arial"/>
                        </a:defRPr>
                      </a:pPr>
                      <a:r>
                        <a:t>What we did</a:t>
                      </a:r>
                    </a:p>
                  </a:txBody>
                  <a:tcPr marL="36576" marR="36576" marT="27432" marB="27432">
                    <a:solidFill>
                      <a:srgbClr val="0F5132"/>
                    </a:solidFill>
                  </a:tcPr>
                </a:tc>
                <a:tc>
                  <a:txBody>
                    <a:bodyPr/>
                    <a:lstStyle/>
                    <a:p>
                      <a:pPr>
                        <a:defRPr sz="900" b="1">
                          <a:solidFill>
                            <a:srgbClr val="FFFFFF"/>
                          </a:solidFill>
                          <a:latin typeface="Arial"/>
                        </a:defRPr>
                      </a:pPr>
                      <a:r>
                        <a:t>Why</a:t>
                      </a:r>
                    </a:p>
                  </a:txBody>
                  <a:tcPr marL="36576" marR="36576" marT="27432" marB="27432">
                    <a:solidFill>
                      <a:srgbClr val="0F5132"/>
                    </a:solidFill>
                  </a:tcPr>
                </a:tc>
              </a:tr>
              <a:tr h="566928">
                <a:tc>
                  <a:txBody>
                    <a:bodyPr/>
                    <a:lstStyle/>
                    <a:p>
                      <a:pPr>
                        <a:defRPr sz="900" b="1">
                          <a:solidFill>
                            <a:srgbClr val="212529"/>
                          </a:solidFill>
                          <a:latin typeface="Arial"/>
                        </a:defRPr>
                      </a:pPr>
                      <a:r>
                        <a:t>**1. Collect**</a:t>
                      </a:r>
                    </a:p>
                  </a:txBody>
                  <a:tcPr marL="36576" marR="36576" marT="27432" marB="27432">
                    <a:solidFill>
                      <a:srgbClr val="F5F5F5"/>
                    </a:solidFill>
                  </a:tcPr>
                </a:tc>
                <a:tc>
                  <a:txBody>
                    <a:bodyPr/>
                    <a:lstStyle/>
                    <a:p>
                      <a:pPr>
                        <a:defRPr sz="900" b="0">
                          <a:solidFill>
                            <a:srgbClr val="212529"/>
                          </a:solidFill>
                          <a:latin typeface="Arial"/>
                        </a:defRPr>
                      </a:pPr>
                      <a:r>
                        <a:t>Merged 6 public datasets across 9 categories</a:t>
                      </a:r>
                    </a:p>
                  </a:txBody>
                  <a:tcPr marL="36576" marR="36576" marT="27432" marB="27432">
                    <a:solidFill>
                      <a:srgbClr val="F5F5F5"/>
                    </a:solidFill>
                  </a:tcPr>
                </a:tc>
                <a:tc>
                  <a:txBody>
                    <a:bodyPr/>
                    <a:lstStyle/>
                    <a:p>
                      <a:pPr>
                        <a:defRPr sz="900" b="0">
                          <a:solidFill>
                            <a:srgbClr val="212529"/>
                          </a:solidFill>
                          <a:latin typeface="Arial"/>
                        </a:defRPr>
                      </a:pPr>
                      <a:r>
                        <a:t>No single dataset had all 9 categories including battery</a:t>
                      </a:r>
                    </a:p>
                  </a:txBody>
                  <a:tcPr marL="36576" marR="36576" marT="27432" marB="27432">
                    <a:solidFill>
                      <a:srgbClr val="F5F5F5"/>
                    </a:solidFill>
                  </a:tcPr>
                </a:tc>
              </a:tr>
              <a:tr h="566928">
                <a:tc>
                  <a:txBody>
                    <a:bodyPr/>
                    <a:lstStyle/>
                    <a:p>
                      <a:pPr>
                        <a:defRPr sz="900" b="1">
                          <a:solidFill>
                            <a:srgbClr val="212529"/>
                          </a:solidFill>
                          <a:latin typeface="Arial"/>
                        </a:defRPr>
                      </a:pPr>
                      <a:r>
                        <a:t>**2. Remove duplicates**</a:t>
                      </a:r>
                    </a:p>
                  </a:txBody>
                  <a:tcPr marL="36576" marR="36576" marT="27432" marB="27432">
                    <a:solidFill>
                      <a:srgbClr val="F5F5F5"/>
                    </a:solidFill>
                  </a:tcPr>
                </a:tc>
                <a:tc>
                  <a:txBody>
                    <a:bodyPr/>
                    <a:lstStyle/>
                    <a:p>
                      <a:pPr>
                        <a:defRPr sz="900" b="0">
                          <a:solidFill>
                            <a:srgbClr val="212529"/>
                          </a:solidFill>
                          <a:latin typeface="Arial"/>
                        </a:defRPr>
                      </a:pPr>
                      <a:r>
                        <a:t>Used a photo similarity check (comparing compressed image fingerprints)</a:t>
                      </a:r>
                    </a:p>
                  </a:txBody>
                  <a:tcPr marL="36576" marR="36576" marT="27432" marB="27432">
                    <a:solidFill>
                      <a:srgbClr val="F5F5F5"/>
                    </a:solidFill>
                  </a:tcPr>
                </a:tc>
                <a:tc>
                  <a:txBody>
                    <a:bodyPr/>
                    <a:lstStyle/>
                    <a:p>
                      <a:pPr>
                        <a:defRPr sz="900" b="0">
                          <a:solidFill>
                            <a:srgbClr val="212529"/>
                          </a:solidFill>
                          <a:latin typeface="Arial"/>
                        </a:defRPr>
                      </a:pPr>
                      <a:r>
                        <a:t>Duplicate photos in training inflate accuracy scores — the model looks good because it memorised, not learned</a:t>
                      </a:r>
                    </a:p>
                  </a:txBody>
                  <a:tcPr marL="36576" marR="36576" marT="27432" marB="27432">
                    <a:solidFill>
                      <a:srgbClr val="F5F5F5"/>
                    </a:solidFill>
                  </a:tcPr>
                </a:tc>
              </a:tr>
              <a:tr h="566928">
                <a:tc>
                  <a:txBody>
                    <a:bodyPr/>
                    <a:lstStyle/>
                    <a:p>
                      <a:pPr>
                        <a:defRPr sz="900" b="1">
                          <a:solidFill>
                            <a:srgbClr val="212529"/>
                          </a:solidFill>
                          <a:latin typeface="Arial"/>
                        </a:defRPr>
                      </a:pPr>
                      <a:r>
                        <a:t>**3. Remove blurry images**</a:t>
                      </a:r>
                    </a:p>
                  </a:txBody>
                  <a:tcPr marL="36576" marR="36576" marT="27432" marB="27432">
                    <a:solidFill>
                      <a:srgbClr val="F5F5F5"/>
                    </a:solidFill>
                  </a:tcPr>
                </a:tc>
                <a:tc>
                  <a:txBody>
                    <a:bodyPr/>
                    <a:lstStyle/>
                    <a:p>
                      <a:pPr>
                        <a:defRPr sz="900" b="0">
                          <a:solidFill>
                            <a:srgbClr val="212529"/>
                          </a:solidFill>
                          <a:latin typeface="Arial"/>
                        </a:defRPr>
                      </a:pPr>
                      <a:r>
                        <a:t>Applied a sharpness score filter; images scoring below the threshold were removed</a:t>
                      </a:r>
                    </a:p>
                  </a:txBody>
                  <a:tcPr marL="36576" marR="36576" marT="27432" marB="27432">
                    <a:solidFill>
                      <a:srgbClr val="F5F5F5"/>
                    </a:solidFill>
                  </a:tcPr>
                </a:tc>
                <a:tc>
                  <a:txBody>
                    <a:bodyPr/>
                    <a:lstStyle/>
                    <a:p>
                      <a:pPr>
                        <a:defRPr sz="900" b="0">
                          <a:solidFill>
                            <a:srgbClr val="212529"/>
                          </a:solidFill>
                          <a:latin typeface="Arial"/>
                        </a:defRPr>
                      </a:pPr>
                      <a:r>
                        <a:t>Blurry training images teach the AI to be uncertain on clear images</a:t>
                      </a:r>
                    </a:p>
                  </a:txBody>
                  <a:tcPr marL="36576" marR="36576" marT="27432" marB="27432">
                    <a:solidFill>
                      <a:srgbClr val="F5F5F5"/>
                    </a:solidFill>
                  </a:tcPr>
                </a:tc>
              </a:tr>
              <a:tr h="566928">
                <a:tc>
                  <a:txBody>
                    <a:bodyPr/>
                    <a:lstStyle/>
                    <a:p>
                      <a:pPr>
                        <a:defRPr sz="900" b="1">
                          <a:solidFill>
                            <a:srgbClr val="212529"/>
                          </a:solidFill>
                          <a:latin typeface="Arial"/>
                        </a:defRPr>
                      </a:pPr>
                      <a:r>
                        <a:t>**4. Balance categories**</a:t>
                      </a:r>
                    </a:p>
                  </a:txBody>
                  <a:tcPr marL="36576" marR="36576" marT="27432" marB="27432">
                    <a:solidFill>
                      <a:srgbClr val="F5F5F5"/>
                    </a:solidFill>
                  </a:tcPr>
                </a:tc>
                <a:tc>
                  <a:txBody>
                    <a:bodyPr/>
                    <a:lstStyle/>
                    <a:p>
                      <a:pPr>
                        <a:defRPr sz="900" b="0">
                          <a:solidFill>
                            <a:srgbClr val="212529"/>
                          </a:solidFill>
                          <a:latin typeface="Arial"/>
                        </a:defRPr>
                      </a:pPr>
                      <a:r>
                        <a:t>Hard cap: 5,000 images per category maximum</a:t>
                      </a:r>
                    </a:p>
                  </a:txBody>
                  <a:tcPr marL="36576" marR="36576" marT="27432" marB="27432">
                    <a:solidFill>
                      <a:srgbClr val="F5F5F5"/>
                    </a:solidFill>
                  </a:tcPr>
                </a:tc>
                <a:tc>
                  <a:txBody>
                    <a:bodyPr/>
                    <a:lstStyle/>
                    <a:p>
                      <a:pPr>
                        <a:defRPr sz="900" b="0">
                          <a:solidFill>
                            <a:srgbClr val="212529"/>
                          </a:solidFill>
                          <a:latin typeface="Arial"/>
                        </a:defRPr>
                      </a:pPr>
                      <a:r>
                        <a:t>Prevents the AI from becoming biased toward the most common category (food waste, which had 139,909 images)</a:t>
                      </a:r>
                    </a:p>
                  </a:txBody>
                  <a:tcPr marL="36576" marR="36576" marT="27432" marB="27432">
                    <a:solidFill>
                      <a:srgbClr val="F5F5F5"/>
                    </a:solidFill>
                  </a:tcPr>
                </a:tc>
              </a:tr>
            </a:tbl>
          </a:graphicData>
        </a:graphic>
      </p:graphicFrame>
      <p:sp>
        <p:nvSpPr>
          <p:cNvPr id="7" name="TextBox 6"/>
          <p:cNvSpPr txBox="1"/>
          <p:nvPr/>
        </p:nvSpPr>
        <p:spPr>
          <a:xfrm>
            <a:off x="457200" y="4526280"/>
            <a:ext cx="5943600" cy="246888"/>
          </a:xfrm>
          <a:prstGeom prst="rect">
            <a:avLst/>
          </a:prstGeom>
          <a:noFill/>
        </p:spPr>
        <p:txBody>
          <a:bodyPr wrap="square">
            <a:spAutoFit/>
          </a:bodyPr>
          <a:lstStyle/>
          <a:p>
            <a:pPr lvl="1">
              <a:spcAft>
                <a:spcPts val="200"/>
              </a:spcAft>
              <a:defRPr sz="1100">
                <a:solidFill>
                  <a:srgbClr val="212529"/>
                </a:solidFill>
                <a:latin typeface="Arial"/>
              </a:defRPr>
            </a:pPr>
            <a:r>
              <a:t>Final dataset: ~45,000 images · 9 categories · 5,000 per category · 80% training / 20% testing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24: How We Split the Data &amp; The Accuracy Floor</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24 in Appendix A to generate the visual image.</a:t>
            </a:r>
          </a:p>
        </p:txBody>
      </p:sp>
      <p:sp>
        <p:nvSpPr>
          <p:cNvPr id="5" name="TextBox 4"/>
          <p:cNvSpPr txBox="1"/>
          <p:nvPr/>
        </p:nvSpPr>
        <p:spPr>
          <a:xfrm>
            <a:off x="457200" y="1188720"/>
            <a:ext cx="5943600" cy="411479"/>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How the data is split:</a:t>
            </a:r>
          </a:p>
        </p:txBody>
      </p:sp>
      <p:graphicFrame>
        <p:nvGraphicFramePr>
          <p:cNvPr id="6" name="Table 5"/>
          <p:cNvGraphicFramePr>
            <a:graphicFrameLocks noGrp="1"/>
          </p:cNvGraphicFramePr>
          <p:nvPr/>
        </p:nvGraphicFramePr>
        <p:xfrm>
          <a:off x="457200" y="1600200"/>
          <a:ext cx="5943597" cy="1152144"/>
        </p:xfrm>
        <a:graphic>
          <a:graphicData uri="http://schemas.openxmlformats.org/drawingml/2006/table">
            <a:tbl>
              <a:tblPr firstRow="1" bandRow="1">
                <a:tableStyleId>{5C22544A-7EE6-4342-B048-85BDC9FD1C3A}</a:tableStyleId>
              </a:tblPr>
              <a:tblGrid>
                <a:gridCol w="1981199"/>
                <a:gridCol w="1981199"/>
                <a:gridCol w="1981199"/>
              </a:tblGrid>
              <a:tr h="288036">
                <a:tc>
                  <a:txBody>
                    <a:bodyPr/>
                    <a:lstStyle/>
                    <a:p>
                      <a:pPr>
                        <a:defRPr sz="900" b="1">
                          <a:solidFill>
                            <a:srgbClr val="FFFFFF"/>
                          </a:solidFill>
                          <a:latin typeface="Arial"/>
                        </a:defRPr>
                      </a:pPr>
                      <a:r>
                        <a:t>Set</a:t>
                      </a:r>
                    </a:p>
                  </a:txBody>
                  <a:tcPr marL="36576" marR="36576" marT="27432" marB="27432">
                    <a:solidFill>
                      <a:srgbClr val="0F5132"/>
                    </a:solidFill>
                  </a:tcPr>
                </a:tc>
                <a:tc>
                  <a:txBody>
                    <a:bodyPr/>
                    <a:lstStyle/>
                    <a:p>
                      <a:pPr>
                        <a:defRPr sz="900" b="1">
                          <a:solidFill>
                            <a:srgbClr val="FFFFFF"/>
                          </a:solidFill>
                          <a:latin typeface="Arial"/>
                        </a:defRPr>
                      </a:pPr>
                      <a:r>
                        <a:t>Purpose</a:t>
                      </a:r>
                    </a:p>
                  </a:txBody>
                  <a:tcPr marL="36576" marR="36576" marT="27432" marB="27432">
                    <a:solidFill>
                      <a:srgbClr val="0F5132"/>
                    </a:solidFill>
                  </a:tcPr>
                </a:tc>
                <a:tc>
                  <a:txBody>
                    <a:bodyPr/>
                    <a:lstStyle/>
                    <a:p>
                      <a:pPr>
                        <a:defRPr sz="900" b="1">
                          <a:solidFill>
                            <a:srgbClr val="FFFFFF"/>
                          </a:solidFill>
                          <a:latin typeface="Arial"/>
                        </a:defRPr>
                      </a:pPr>
                      <a:r>
                        <a:t>Size</a:t>
                      </a:r>
                    </a:p>
                  </a:txBody>
                  <a:tcPr marL="36576" marR="36576" marT="27432" marB="27432">
                    <a:solidFill>
                      <a:srgbClr val="0F5132"/>
                    </a:solidFill>
                  </a:tcPr>
                </a:tc>
              </a:tr>
              <a:tr h="288036">
                <a:tc>
                  <a:txBody>
                    <a:bodyPr/>
                    <a:lstStyle/>
                    <a:p>
                      <a:pPr>
                        <a:defRPr sz="900" b="1">
                          <a:solidFill>
                            <a:srgbClr val="212529"/>
                          </a:solidFill>
                          <a:latin typeface="Arial"/>
                        </a:defRPr>
                      </a:pPr>
                      <a:r>
                        <a:t>**Training set** (80%)</a:t>
                      </a:r>
                    </a:p>
                  </a:txBody>
                  <a:tcPr marL="36576" marR="36576" marT="27432" marB="27432">
                    <a:solidFill>
                      <a:srgbClr val="F5F5F5"/>
                    </a:solidFill>
                  </a:tcPr>
                </a:tc>
                <a:tc>
                  <a:txBody>
                    <a:bodyPr/>
                    <a:lstStyle/>
                    <a:p>
                      <a:pPr>
                        <a:defRPr sz="900" b="0">
                          <a:solidFill>
                            <a:srgbClr val="212529"/>
                          </a:solidFill>
                          <a:latin typeface="Arial"/>
                        </a:defRPr>
                      </a:pPr>
                      <a:r>
                        <a:t>AI learns from these photos</a:t>
                      </a:r>
                    </a:p>
                  </a:txBody>
                  <a:tcPr marL="36576" marR="36576" marT="27432" marB="27432">
                    <a:solidFill>
                      <a:srgbClr val="F5F5F5"/>
                    </a:solidFill>
                  </a:tcPr>
                </a:tc>
                <a:tc>
                  <a:txBody>
                    <a:bodyPr/>
                    <a:lstStyle/>
                    <a:p>
                      <a:pPr>
                        <a:defRPr sz="900" b="0">
                          <a:solidFill>
                            <a:srgbClr val="212529"/>
                          </a:solidFill>
                          <a:latin typeface="Arial"/>
                        </a:defRPr>
                      </a:pPr>
                      <a:r>
                        <a:t>~36,000 images (4,000 per category)</a:t>
                      </a:r>
                    </a:p>
                  </a:txBody>
                  <a:tcPr marL="36576" marR="36576" marT="27432" marB="27432">
                    <a:solidFill>
                      <a:srgbClr val="F5F5F5"/>
                    </a:solidFill>
                  </a:tcPr>
                </a:tc>
              </a:tr>
              <a:tr h="288036">
                <a:tc>
                  <a:txBody>
                    <a:bodyPr/>
                    <a:lstStyle/>
                    <a:p>
                      <a:pPr>
                        <a:defRPr sz="900" b="1">
                          <a:solidFill>
                            <a:srgbClr val="212529"/>
                          </a:solidFill>
                          <a:latin typeface="Arial"/>
                        </a:defRPr>
                      </a:pPr>
                      <a:r>
                        <a:t>**Testing set** (20%)</a:t>
                      </a:r>
                    </a:p>
                  </a:txBody>
                  <a:tcPr marL="36576" marR="36576" marT="27432" marB="27432">
                    <a:solidFill>
                      <a:srgbClr val="F5F5F5"/>
                    </a:solidFill>
                  </a:tcPr>
                </a:tc>
                <a:tc>
                  <a:txBody>
                    <a:bodyPr/>
                    <a:lstStyle/>
                    <a:p>
                      <a:pPr>
                        <a:defRPr sz="900" b="0">
                          <a:solidFill>
                            <a:srgbClr val="212529"/>
                          </a:solidFill>
                          <a:latin typeface="Arial"/>
                        </a:defRPr>
                      </a:pPr>
                      <a:r>
                        <a:t>AI is tested on photos it has never seen</a:t>
                      </a:r>
                    </a:p>
                  </a:txBody>
                  <a:tcPr marL="36576" marR="36576" marT="27432" marB="27432">
                    <a:solidFill>
                      <a:srgbClr val="F5F5F5"/>
                    </a:solidFill>
                  </a:tcPr>
                </a:tc>
                <a:tc>
                  <a:txBody>
                    <a:bodyPr/>
                    <a:lstStyle/>
                    <a:p>
                      <a:pPr>
                        <a:defRPr sz="900" b="0">
                          <a:solidFill>
                            <a:srgbClr val="212529"/>
                          </a:solidFill>
                          <a:latin typeface="Arial"/>
                        </a:defRPr>
                      </a:pPr>
                      <a:r>
                        <a:t>~9,000 images (1,000 per category)</a:t>
                      </a:r>
                    </a:p>
                  </a:txBody>
                  <a:tcPr marL="36576" marR="36576" marT="27432" marB="27432">
                    <a:solidFill>
                      <a:srgbClr val="F5F5F5"/>
                    </a:solidFill>
                  </a:tcPr>
                </a:tc>
              </a:tr>
              <a:tr h="288036">
                <a:tc>
                  <a:txBody>
                    <a:bodyPr/>
                    <a:lstStyle/>
                    <a:p>
                      <a:pPr>
                        <a:defRPr sz="900" b="1">
                          <a:solidFill>
                            <a:srgbClr val="212529"/>
                          </a:solidFill>
                          <a:latin typeface="Arial"/>
                        </a:defRPr>
                      </a:pPr>
                      <a:r>
                        <a:t>**Quarantine set** (100 photos)</a:t>
                      </a:r>
                    </a:p>
                  </a:txBody>
                  <a:tcPr marL="36576" marR="36576" marT="27432" marB="27432">
                    <a:solidFill>
                      <a:srgbClr val="F5F5F5"/>
                    </a:solidFill>
                  </a:tcPr>
                </a:tc>
                <a:tc>
                  <a:txBody>
                    <a:bodyPr/>
                    <a:lstStyle/>
                    <a:p>
                      <a:pPr>
                        <a:defRPr sz="900" b="0">
                          <a:solidFill>
                            <a:srgbClr val="212529"/>
                          </a:solidFill>
                          <a:latin typeface="Arial"/>
                        </a:defRPr>
                      </a:pPr>
                      <a:r>
                        <a:t>Locked away until the very end — final real-world test</a:t>
                      </a:r>
                    </a:p>
                  </a:txBody>
                  <a:tcPr marL="36576" marR="36576" marT="27432" marB="27432">
                    <a:solidFill>
                      <a:srgbClr val="F5F5F5"/>
                    </a:solidFill>
                  </a:tcPr>
                </a:tc>
                <a:tc>
                  <a:txBody>
                    <a:bodyPr/>
                    <a:lstStyle/>
                    <a:p>
                      <a:pPr>
                        <a:defRPr sz="900" b="0">
                          <a:solidFill>
                            <a:srgbClr val="212529"/>
                          </a:solidFill>
                          <a:latin typeface="Arial"/>
                        </a:defRPr>
                      </a:pPr>
                      <a:r>
                        <a:t>100 real-world photos, never touched during training</a:t>
                      </a:r>
                    </a:p>
                  </a:txBody>
                  <a:tcPr marL="36576" marR="36576" marT="27432" marB="27432">
                    <a:solidFill>
                      <a:srgbClr val="F5F5F5"/>
                    </a:solidFill>
                  </a:tcPr>
                </a:tc>
              </a:tr>
            </a:tbl>
          </a:graphicData>
        </a:graphic>
      </p:graphicFrame>
      <p:sp>
        <p:nvSpPr>
          <p:cNvPr id="7" name="TextBox 6"/>
          <p:cNvSpPr txBox="1"/>
          <p:nvPr/>
        </p:nvSpPr>
        <p:spPr>
          <a:xfrm>
            <a:off x="457200" y="2843784"/>
            <a:ext cx="5943600" cy="704088"/>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Baseline 1 — The Accuracy Floor:</a:t>
            </a:r>
          </a:p>
          <a:p>
            <a:pPr>
              <a:spcAft>
                <a:spcPts val="400"/>
              </a:spcAft>
              <a:defRPr sz="1100" i="1">
                <a:solidFill>
                  <a:srgbClr val="212529"/>
                </a:solidFill>
                <a:latin typeface="Arial"/>
              </a:defRPr>
            </a:pPr>
            <a:r>
              <a:t>If the AI ignores every photo and always guesses the most common category, how often would it be right?</a:t>
            </a:r>
          </a:p>
        </p:txBody>
      </p:sp>
      <p:graphicFrame>
        <p:nvGraphicFramePr>
          <p:cNvPr id="8" name="Table 7"/>
          <p:cNvGraphicFramePr>
            <a:graphicFrameLocks noGrp="1"/>
          </p:cNvGraphicFramePr>
          <p:nvPr/>
        </p:nvGraphicFramePr>
        <p:xfrm>
          <a:off x="457200" y="3547872"/>
          <a:ext cx="5943600" cy="969264"/>
        </p:xfrm>
        <a:graphic>
          <a:graphicData uri="http://schemas.openxmlformats.org/drawingml/2006/table">
            <a:tbl>
              <a:tblPr firstRow="1" bandRow="1">
                <a:tableStyleId>{5C22544A-7EE6-4342-B048-85BDC9FD1C3A}</a:tableStyleId>
              </a:tblPr>
              <a:tblGrid>
                <a:gridCol w="2971800"/>
                <a:gridCol w="2971800"/>
              </a:tblGrid>
              <a:tr h="242316">
                <a:tc>
                  <a:txBody>
                    <a:bodyPr/>
                    <a:lstStyle/>
                    <a:p>
                      <a:pPr>
                        <a:defRPr sz="900" b="1">
                          <a:solidFill>
                            <a:srgbClr val="FFFFFF"/>
                          </a:solidFill>
                          <a:latin typeface="Arial"/>
                        </a:defRPr>
                      </a:pPr>
                    </a:p>
                  </a:txBody>
                  <a:tcPr marL="36576" marR="36576" marT="27432" marB="27432">
                    <a:solidFill>
                      <a:srgbClr val="0F5132"/>
                    </a:solidFill>
                  </a:tcPr>
                </a:tc>
                <a:tc>
                  <a:txBody>
                    <a:bodyPr/>
                    <a:lstStyle/>
                    <a:p>
                      <a:pPr>
                        <a:defRPr sz="900" b="1">
                          <a:solidFill>
                            <a:srgbClr val="FFFFFF"/>
                          </a:solidFill>
                          <a:latin typeface="Arial"/>
                        </a:defRPr>
                      </a:pPr>
                      <a:r>
                        <a:t>Value</a:t>
                      </a:r>
                    </a:p>
                  </a:txBody>
                  <a:tcPr marL="36576" marR="36576" marT="27432" marB="27432">
                    <a:solidFill>
                      <a:srgbClr val="0F5132"/>
                    </a:solidFill>
                  </a:tcPr>
                </a:tc>
              </a:tr>
              <a:tr h="242316">
                <a:tc>
                  <a:txBody>
                    <a:bodyPr/>
                    <a:lstStyle/>
                    <a:p>
                      <a:pPr>
                        <a:defRPr sz="900" b="1">
                          <a:solidFill>
                            <a:srgbClr val="212529"/>
                          </a:solidFill>
                          <a:latin typeface="Arial"/>
                        </a:defRPr>
                      </a:pPr>
                      <a:r>
                        <a:t>Categories</a:t>
                      </a:r>
                    </a:p>
                  </a:txBody>
                  <a:tcPr marL="36576" marR="36576" marT="27432" marB="27432">
                    <a:solidFill>
                      <a:srgbClr val="F5F5F5"/>
                    </a:solidFill>
                  </a:tcPr>
                </a:tc>
                <a:tc>
                  <a:txBody>
                    <a:bodyPr/>
                    <a:lstStyle/>
                    <a:p>
                      <a:pPr>
                        <a:defRPr sz="900" b="0">
                          <a:solidFill>
                            <a:srgbClr val="212529"/>
                          </a:solidFill>
                          <a:latin typeface="Arial"/>
                        </a:defRPr>
                      </a:pPr>
                      <a:r>
                        <a:t>9 (all equally balanced)</a:t>
                      </a:r>
                    </a:p>
                  </a:txBody>
                  <a:tcPr marL="36576" marR="36576" marT="27432" marB="27432">
                    <a:solidFill>
                      <a:srgbClr val="F5F5F5"/>
                    </a:solidFill>
                  </a:tcPr>
                </a:tc>
              </a:tr>
              <a:tr h="242316">
                <a:tc>
                  <a:txBody>
                    <a:bodyPr/>
                    <a:lstStyle/>
                    <a:p>
                      <a:pPr>
                        <a:defRPr sz="900" b="1">
                          <a:solidFill>
                            <a:srgbClr val="212529"/>
                          </a:solidFill>
                          <a:latin typeface="Arial"/>
                        </a:defRPr>
                      </a:pPr>
                      <a:r>
                        <a:t>Blind guess accuracy</a:t>
                      </a:r>
                    </a:p>
                  </a:txBody>
                  <a:tcPr marL="36576" marR="36576" marT="27432" marB="27432">
                    <a:solidFill>
                      <a:srgbClr val="F5F5F5"/>
                    </a:solidFill>
                  </a:tcPr>
                </a:tc>
                <a:tc>
                  <a:txBody>
                    <a:bodyPr/>
                    <a:lstStyle/>
                    <a:p>
                      <a:pPr>
                        <a:defRPr sz="900" b="0">
                          <a:solidFill>
                            <a:srgbClr val="212529"/>
                          </a:solidFill>
                          <a:latin typeface="Arial"/>
                        </a:defRPr>
                      </a:pPr>
                      <a:r>
                        <a:t>**11.1%** (1 in 9)</a:t>
                      </a:r>
                    </a:p>
                  </a:txBody>
                  <a:tcPr marL="36576" marR="36576" marT="27432" marB="27432">
                    <a:solidFill>
                      <a:srgbClr val="F5F5F5"/>
                    </a:solidFill>
                  </a:tcPr>
                </a:tc>
              </a:tr>
              <a:tr h="242316">
                <a:tc>
                  <a:txBody>
                    <a:bodyPr/>
                    <a:lstStyle/>
                    <a:p>
                      <a:pPr>
                        <a:defRPr sz="900" b="1">
                          <a:solidFill>
                            <a:srgbClr val="212529"/>
                          </a:solidFill>
                          <a:latin typeface="Arial"/>
                        </a:defRPr>
                      </a:pPr>
                      <a:r>
                        <a:t>What this means</a:t>
                      </a:r>
                    </a:p>
                  </a:txBody>
                  <a:tcPr marL="36576" marR="36576" marT="27432" marB="27432">
                    <a:solidFill>
                      <a:srgbClr val="F5F5F5"/>
                    </a:solidFill>
                  </a:tcPr>
                </a:tc>
                <a:tc>
                  <a:txBody>
                    <a:bodyPr/>
                    <a:lstStyle/>
                    <a:p>
                      <a:pPr>
                        <a:defRPr sz="900" b="0">
                          <a:solidFill>
                            <a:srgbClr val="212529"/>
                          </a:solidFill>
                          <a:latin typeface="Arial"/>
                        </a:defRPr>
                      </a:pPr>
                      <a:r>
                        <a:t>Our AI must score **above 11.1%** to prove it learned anything at all</a:t>
                      </a:r>
                    </a:p>
                  </a:txBody>
                  <a:tcPr marL="36576" marR="36576" marT="27432" marB="27432">
                    <a:solidFill>
                      <a:srgbClr val="F5F5F5"/>
                    </a:solidFill>
                  </a:tcPr>
                </a:tc>
              </a:tr>
            </a:tbl>
          </a:graphicData>
        </a:graphic>
      </p:graphicFrame>
      <p:sp>
        <p:nvSpPr>
          <p:cNvPr id="9" name="TextBox 8"/>
          <p:cNvSpPr txBox="1"/>
          <p:nvPr/>
        </p:nvSpPr>
        <p:spPr>
          <a:xfrm>
            <a:off x="457200" y="4608576"/>
            <a:ext cx="5943600" cy="246888"/>
          </a:xfrm>
          <a:prstGeom prst="rect">
            <a:avLst/>
          </a:prstGeom>
          <a:noFill/>
        </p:spPr>
        <p:txBody>
          <a:bodyPr wrap="square">
            <a:spAutoFit/>
          </a:bodyPr>
          <a:lstStyle/>
          <a:p>
            <a:pPr>
              <a:spcAft>
                <a:spcPts val="400"/>
              </a:spcAft>
              <a:defRPr sz="1100" i="1">
                <a:solidFill>
                  <a:srgbClr val="212529"/>
                </a:solidFill>
                <a:latin typeface="Arial"/>
              </a:defRPr>
            </a:pPr>
            <a:r>
              <a:t>11.1% is the floor. Any model below this has not learned — it is worse than a coin flip across 9 options.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25: AI Model Structure &amp; The 3 Accuracy Checkpoints</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25 in Appendix A to generate the visual image.</a:t>
            </a:r>
          </a:p>
        </p:txBody>
      </p:sp>
      <p:sp>
        <p:nvSpPr>
          <p:cNvPr id="5" name="TextBox 4"/>
          <p:cNvSpPr txBox="1"/>
          <p:nvPr/>
        </p:nvSpPr>
        <p:spPr>
          <a:xfrm>
            <a:off x="457200" y="1188720"/>
            <a:ext cx="5943600" cy="700125"/>
          </a:xfrm>
          <a:prstGeom prst="rect">
            <a:avLst/>
          </a:prstGeom>
          <a:noFill/>
        </p:spPr>
        <p:txBody>
          <a:bodyPr wrap="square">
            <a:spAutoFit/>
          </a:bodyPr>
          <a:lstStyle/>
          <a:p>
            <a:pPr lvl="1">
              <a:spcAft>
                <a:spcPts val="100"/>
              </a:spcAft>
              <a:defRPr sz="1000">
                <a:solidFill>
                  <a:srgbClr val="212529"/>
                </a:solidFill>
                <a:latin typeface="Arial"/>
              </a:defRPr>
            </a:pPr>
            <a:r>
              <a:t>The AI model we use: YOLOv8m-seg *(a pre-taught visual recognition model, fine-tuned on our waste data)*</a:t>
            </a:r>
          </a:p>
          <a:p>
            <a:pPr>
              <a:spcBef>
                <a:spcPts val="500"/>
              </a:spcBef>
              <a:spcAft>
                <a:spcPts val="200"/>
              </a:spcAft>
              <a:defRPr sz="1400" b="1">
                <a:solidFill>
                  <a:srgbClr val="0F5132"/>
                </a:solidFill>
                <a:latin typeface="Arial"/>
              </a:defRPr>
            </a:pPr>
            <a:r>
              <a:t>It works in 3 layers:</a:t>
            </a:r>
          </a:p>
        </p:txBody>
      </p:sp>
      <p:graphicFrame>
        <p:nvGraphicFramePr>
          <p:cNvPr id="6" name="Table 5"/>
          <p:cNvGraphicFramePr>
            <a:graphicFrameLocks noGrp="1"/>
          </p:cNvGraphicFramePr>
          <p:nvPr/>
        </p:nvGraphicFramePr>
        <p:xfrm>
          <a:off x="457200" y="1888845"/>
          <a:ext cx="5943600" cy="1327509"/>
        </p:xfrm>
        <a:graphic>
          <a:graphicData uri="http://schemas.openxmlformats.org/drawingml/2006/table">
            <a:tbl>
              <a:tblPr firstRow="1" bandRow="1">
                <a:tableStyleId>{5C22544A-7EE6-4342-B048-85BDC9FD1C3A}</a:tableStyleId>
              </a:tblPr>
              <a:tblGrid>
                <a:gridCol w="2971800"/>
                <a:gridCol w="2971800"/>
              </a:tblGrid>
              <a:tr h="331877">
                <a:tc>
                  <a:txBody>
                    <a:bodyPr/>
                    <a:lstStyle/>
                    <a:p>
                      <a:pPr>
                        <a:defRPr sz="900" b="1">
                          <a:solidFill>
                            <a:srgbClr val="FFFFFF"/>
                          </a:solidFill>
                          <a:latin typeface="Arial"/>
                        </a:defRPr>
                      </a:pPr>
                      <a:r>
                        <a:t>Layer</a:t>
                      </a:r>
                    </a:p>
                  </a:txBody>
                  <a:tcPr marL="36576" marR="36576" marT="27432" marB="27432">
                    <a:solidFill>
                      <a:srgbClr val="0F5132"/>
                    </a:solidFill>
                  </a:tcPr>
                </a:tc>
                <a:tc>
                  <a:txBody>
                    <a:bodyPr/>
                    <a:lstStyle/>
                    <a:p>
                      <a:pPr>
                        <a:defRPr sz="900" b="1">
                          <a:solidFill>
                            <a:srgbClr val="FFFFFF"/>
                          </a:solidFill>
                          <a:latin typeface="Arial"/>
                        </a:defRPr>
                      </a:pPr>
                      <a:r>
                        <a:t>What it does in plain English</a:t>
                      </a:r>
                    </a:p>
                  </a:txBody>
                  <a:tcPr marL="36576" marR="36576" marT="27432" marB="27432">
                    <a:solidFill>
                      <a:srgbClr val="0F5132"/>
                    </a:solidFill>
                  </a:tcPr>
                </a:tc>
              </a:tr>
              <a:tr h="331877">
                <a:tc>
                  <a:txBody>
                    <a:bodyPr/>
                    <a:lstStyle/>
                    <a:p>
                      <a:pPr>
                        <a:defRPr sz="900" b="1">
                          <a:solidFill>
                            <a:srgbClr val="212529"/>
                          </a:solidFill>
                          <a:latin typeface="Arial"/>
                        </a:defRPr>
                      </a:pPr>
                      <a:r>
                        <a:t>**Visual Processing** (CSP-DarkNet)</a:t>
                      </a:r>
                    </a:p>
                  </a:txBody>
                  <a:tcPr marL="36576" marR="36576" marT="27432" marB="27432">
                    <a:solidFill>
                      <a:srgbClr val="F5F5F5"/>
                    </a:solidFill>
                  </a:tcPr>
                </a:tc>
                <a:tc>
                  <a:txBody>
                    <a:bodyPr/>
                    <a:lstStyle/>
                    <a:p>
                      <a:pPr>
                        <a:defRPr sz="900" b="0">
                          <a:solidFill>
                            <a:srgbClr val="212529"/>
                          </a:solidFill>
                          <a:latin typeface="Arial"/>
                        </a:defRPr>
                      </a:pPr>
                      <a:r>
                        <a:t>Reads the photo and identifies edges, textures, shapes</a:t>
                      </a:r>
                    </a:p>
                  </a:txBody>
                  <a:tcPr marL="36576" marR="36576" marT="27432" marB="27432">
                    <a:solidFill>
                      <a:srgbClr val="F5F5F5"/>
                    </a:solidFill>
                  </a:tcPr>
                </a:tc>
              </a:tr>
              <a:tr h="331877">
                <a:tc>
                  <a:txBody>
                    <a:bodyPr/>
                    <a:lstStyle/>
                    <a:p>
                      <a:pPr>
                        <a:defRPr sz="900" b="1">
                          <a:solidFill>
                            <a:srgbClr val="212529"/>
                          </a:solidFill>
                          <a:latin typeface="Arial"/>
                        </a:defRPr>
                      </a:pPr>
                      <a:r>
                        <a:t>**Scale Combiner** (PANet)</a:t>
                      </a:r>
                    </a:p>
                  </a:txBody>
                  <a:tcPr marL="36576" marR="36576" marT="27432" marB="27432">
                    <a:solidFill>
                      <a:srgbClr val="F5F5F5"/>
                    </a:solidFill>
                  </a:tcPr>
                </a:tc>
                <a:tc>
                  <a:txBody>
                    <a:bodyPr/>
                    <a:lstStyle/>
                    <a:p>
                      <a:pPr>
                        <a:defRPr sz="900" b="0">
                          <a:solidFill>
                            <a:srgbClr val="212529"/>
                          </a:solidFill>
                          <a:latin typeface="Arial"/>
                        </a:defRPr>
                      </a:pPr>
                      <a:r>
                        <a:t>Combines details seen at different zoom levels — catches both tiny batteries and large cardboard boxes</a:t>
                      </a:r>
                    </a:p>
                  </a:txBody>
                  <a:tcPr marL="36576" marR="36576" marT="27432" marB="27432">
                    <a:solidFill>
                      <a:srgbClr val="F5F5F5"/>
                    </a:solidFill>
                  </a:tcPr>
                </a:tc>
              </a:tr>
              <a:tr h="331878">
                <a:tc>
                  <a:txBody>
                    <a:bodyPr/>
                    <a:lstStyle/>
                    <a:p>
                      <a:pPr>
                        <a:defRPr sz="900" b="1">
                          <a:solidFill>
                            <a:srgbClr val="212529"/>
                          </a:solidFill>
                          <a:latin typeface="Arial"/>
                        </a:defRPr>
                      </a:pPr>
                      <a:r>
                        <a:t>**Decision Head**</a:t>
                      </a:r>
                    </a:p>
                  </a:txBody>
                  <a:tcPr marL="36576" marR="36576" marT="27432" marB="27432">
                    <a:solidFill>
                      <a:srgbClr val="F5F5F5"/>
                    </a:solidFill>
                  </a:tcPr>
                </a:tc>
                <a:tc>
                  <a:txBody>
                    <a:bodyPr/>
                    <a:lstStyle/>
                    <a:p>
                      <a:pPr>
                        <a:defRPr sz="900" b="0">
                          <a:solidFill>
                            <a:srgbClr val="212529"/>
                          </a:solidFill>
                          <a:latin typeface="Arial"/>
                        </a:defRPr>
                      </a:pPr>
                      <a:r>
                        <a:t>Two outputs: what is this item (classification) + draw its outline (segmentation)</a:t>
                      </a:r>
                    </a:p>
                  </a:txBody>
                  <a:tcPr marL="36576" marR="36576" marT="27432" marB="27432">
                    <a:solidFill>
                      <a:srgbClr val="F5F5F5"/>
                    </a:solidFill>
                  </a:tcPr>
                </a:tc>
              </a:tr>
            </a:tbl>
          </a:graphicData>
        </a:graphic>
      </p:graphicFrame>
      <p:sp>
        <p:nvSpPr>
          <p:cNvPr id="7" name="TextBox 6"/>
          <p:cNvSpPr txBox="1"/>
          <p:nvPr/>
        </p:nvSpPr>
        <p:spPr>
          <a:xfrm>
            <a:off x="457200" y="3307794"/>
            <a:ext cx="5943600" cy="245498"/>
          </a:xfrm>
          <a:prstGeom prst="rect">
            <a:avLst/>
          </a:prstGeom>
          <a:noFill/>
        </p:spPr>
        <p:txBody>
          <a:bodyPr wrap="square">
            <a:spAutoFit/>
          </a:bodyPr>
          <a:lstStyle/>
          <a:p>
            <a:pPr lvl="1">
              <a:spcAft>
                <a:spcPts val="100"/>
              </a:spcAft>
              <a:defRPr sz="1000">
                <a:solidFill>
                  <a:srgbClr val="212529"/>
                </a:solidFill>
                <a:latin typeface="Arial"/>
              </a:defRPr>
            </a:pPr>
            <a:r>
              <a:t>3 Accuracy Checkpoints — Each Must Beat the One Before:</a:t>
            </a:r>
          </a:p>
        </p:txBody>
      </p:sp>
      <p:graphicFrame>
        <p:nvGraphicFramePr>
          <p:cNvPr id="8" name="Table 7"/>
          <p:cNvGraphicFramePr>
            <a:graphicFrameLocks noGrp="1"/>
          </p:cNvGraphicFramePr>
          <p:nvPr/>
        </p:nvGraphicFramePr>
        <p:xfrm>
          <a:off x="457200" y="3553293"/>
          <a:ext cx="5943597" cy="1182029"/>
        </p:xfrm>
        <a:graphic>
          <a:graphicData uri="http://schemas.openxmlformats.org/drawingml/2006/table">
            <a:tbl>
              <a:tblPr firstRow="1" bandRow="1">
                <a:tableStyleId>{5C22544A-7EE6-4342-B048-85BDC9FD1C3A}</a:tableStyleId>
              </a:tblPr>
              <a:tblGrid>
                <a:gridCol w="1981199"/>
                <a:gridCol w="1981199"/>
                <a:gridCol w="1981199"/>
              </a:tblGrid>
              <a:tr h="236405">
                <a:tc>
                  <a:txBody>
                    <a:bodyPr/>
                    <a:lstStyle/>
                    <a:p>
                      <a:pPr>
                        <a:defRPr sz="900" b="1">
                          <a:solidFill>
                            <a:srgbClr val="FFFFFF"/>
                          </a:solidFill>
                          <a:latin typeface="Arial"/>
                        </a:defRPr>
                      </a:pPr>
                      <a:r>
                        <a:t>Checkpoint</a:t>
                      </a:r>
                    </a:p>
                  </a:txBody>
                  <a:tcPr marL="36576" marR="36576" marT="27432" marB="27432">
                    <a:solidFill>
                      <a:srgbClr val="0F5132"/>
                    </a:solidFill>
                  </a:tcPr>
                </a:tc>
                <a:tc>
                  <a:txBody>
                    <a:bodyPr/>
                    <a:lstStyle/>
                    <a:p>
                      <a:pPr>
                        <a:defRPr sz="900" b="1">
                          <a:solidFill>
                            <a:srgbClr val="FFFFFF"/>
                          </a:solidFill>
                          <a:latin typeface="Arial"/>
                        </a:defRPr>
                      </a:pPr>
                      <a:r>
                        <a:t>What it is</a:t>
                      </a:r>
                    </a:p>
                  </a:txBody>
                  <a:tcPr marL="36576" marR="36576" marT="27432" marB="27432">
                    <a:solidFill>
                      <a:srgbClr val="0F5132"/>
                    </a:solidFill>
                  </a:tcPr>
                </a:tc>
                <a:tc>
                  <a:txBody>
                    <a:bodyPr/>
                    <a:lstStyle/>
                    <a:p>
                      <a:pPr>
                        <a:defRPr sz="900" b="1">
                          <a:solidFill>
                            <a:srgbClr val="FFFFFF"/>
                          </a:solidFill>
                          <a:latin typeface="Arial"/>
                        </a:defRPr>
                      </a:pPr>
                      <a:r>
                        <a:t>Expected score `[SUGGESTED]`</a:t>
                      </a:r>
                    </a:p>
                  </a:txBody>
                  <a:tcPr marL="36576" marR="36576" marT="27432" marB="27432">
                    <a:solidFill>
                      <a:srgbClr val="0F5132"/>
                    </a:solidFill>
                  </a:tcPr>
                </a:tc>
              </a:tr>
              <a:tr h="236405">
                <a:tc>
                  <a:txBody>
                    <a:bodyPr/>
                    <a:lstStyle/>
                    <a:p>
                      <a:pPr>
                        <a:defRPr sz="900" b="1">
                          <a:solidFill>
                            <a:srgbClr val="212529"/>
                          </a:solidFill>
                          <a:latin typeface="Arial"/>
                        </a:defRPr>
                      </a:pPr>
                      <a:r>
                        <a:t>**Checkpoint 1 — Blind Guess**</a:t>
                      </a:r>
                    </a:p>
                  </a:txBody>
                  <a:tcPr marL="36576" marR="36576" marT="27432" marB="27432">
                    <a:solidFill>
                      <a:srgbClr val="F5F5F5"/>
                    </a:solidFill>
                  </a:tcPr>
                </a:tc>
                <a:tc>
                  <a:txBody>
                    <a:bodyPr/>
                    <a:lstStyle/>
                    <a:p>
                      <a:pPr>
                        <a:defRPr sz="900" b="0">
                          <a:solidFill>
                            <a:srgbClr val="212529"/>
                          </a:solidFill>
                          <a:latin typeface="Arial"/>
                        </a:defRPr>
                      </a:pPr>
                      <a:r>
                        <a:t>Always predict the most common category</a:t>
                      </a:r>
                    </a:p>
                  </a:txBody>
                  <a:tcPr marL="36576" marR="36576" marT="27432" marB="27432">
                    <a:solidFill>
                      <a:srgbClr val="F5F5F5"/>
                    </a:solidFill>
                  </a:tcPr>
                </a:tc>
                <a:tc>
                  <a:txBody>
                    <a:bodyPr/>
                    <a:lstStyle/>
                    <a:p>
                      <a:pPr>
                        <a:defRPr sz="900" b="0">
                          <a:solidFill>
                            <a:srgbClr val="212529"/>
                          </a:solidFill>
                          <a:latin typeface="Arial"/>
                        </a:defRPr>
                      </a:pPr>
                      <a:r>
                        <a:t>11.1% accuracy</a:t>
                      </a:r>
                    </a:p>
                  </a:txBody>
                  <a:tcPr marL="36576" marR="36576" marT="27432" marB="27432">
                    <a:solidFill>
                      <a:srgbClr val="F5F5F5"/>
                    </a:solidFill>
                  </a:tcPr>
                </a:tc>
              </a:tr>
              <a:tr h="236405">
                <a:tc>
                  <a:txBody>
                    <a:bodyPr/>
                    <a:lstStyle/>
                    <a:p>
                      <a:pPr>
                        <a:defRPr sz="900" b="1">
                          <a:solidFill>
                            <a:srgbClr val="212529"/>
                          </a:solidFill>
                          <a:latin typeface="Arial"/>
                        </a:defRPr>
                      </a:pPr>
                      <a:r>
                        <a:t>**Checkpoint 3 — Solo Runs** (Phase 3)</a:t>
                      </a:r>
                    </a:p>
                  </a:txBody>
                  <a:tcPr marL="36576" marR="36576" marT="27432" marB="27432">
                    <a:solidFill>
                      <a:srgbClr val="F5F5F5"/>
                    </a:solidFill>
                  </a:tcPr>
                </a:tc>
                <a:tc>
                  <a:txBody>
                    <a:bodyPr/>
                    <a:lstStyle/>
                    <a:p>
                      <a:pPr>
                        <a:defRPr sz="900" b="0">
                          <a:solidFill>
                            <a:srgbClr val="212529"/>
                          </a:solidFill>
                          <a:latin typeface="Arial"/>
                        </a:defRPr>
                      </a:pPr>
                      <a:r>
                        <a:t>Each person's mini-AI trained on their own photos</a:t>
                      </a:r>
                    </a:p>
                  </a:txBody>
                  <a:tcPr marL="36576" marR="36576" marT="27432" marB="27432">
                    <a:solidFill>
                      <a:srgbClr val="F5F5F5"/>
                    </a:solidFill>
                  </a:tcPr>
                </a:tc>
                <a:tc>
                  <a:txBody>
                    <a:bodyPr/>
                    <a:lstStyle/>
                    <a:p>
                      <a:pPr>
                        <a:defRPr sz="900" b="0">
                          <a:solidFill>
                            <a:srgbClr val="212529"/>
                          </a:solidFill>
                          <a:latin typeface="Arial"/>
                        </a:defRPr>
                      </a:pPr>
                      <a:r>
                        <a:t>mAP: 0.52–0.76</a:t>
                      </a:r>
                    </a:p>
                  </a:txBody>
                  <a:tcPr marL="36576" marR="36576" marT="27432" marB="27432">
                    <a:solidFill>
                      <a:srgbClr val="F5F5F5"/>
                    </a:solidFill>
                  </a:tcPr>
                </a:tc>
              </a:tr>
              <a:tr h="236405">
                <a:tc>
                  <a:txBody>
                    <a:bodyPr/>
                    <a:lstStyle/>
                    <a:p>
                      <a:pPr>
                        <a:defRPr sz="900" b="1">
                          <a:solidFill>
                            <a:srgbClr val="212529"/>
                          </a:solidFill>
                          <a:latin typeface="Arial"/>
                        </a:defRPr>
                      </a:pPr>
                      <a:r>
                        <a:t>**Checkpoint 2 — First Full Run** (Phase 7)</a:t>
                      </a:r>
                    </a:p>
                  </a:txBody>
                  <a:tcPr marL="36576" marR="36576" marT="27432" marB="27432">
                    <a:solidFill>
                      <a:srgbClr val="F5F5F5"/>
                    </a:solidFill>
                  </a:tcPr>
                </a:tc>
                <a:tc>
                  <a:txBody>
                    <a:bodyPr/>
                    <a:lstStyle/>
                    <a:p>
                      <a:pPr>
                        <a:defRPr sz="900" b="0">
                          <a:solidFill>
                            <a:srgbClr val="212529"/>
                          </a:solidFill>
                          <a:latin typeface="Arial"/>
                        </a:defRPr>
                      </a:pPr>
                      <a:r>
                        <a:t>Full merged dataset, no settings changed</a:t>
                      </a:r>
                    </a:p>
                  </a:txBody>
                  <a:tcPr marL="36576" marR="36576" marT="27432" marB="27432">
                    <a:solidFill>
                      <a:srgbClr val="F5F5F5"/>
                    </a:solidFill>
                  </a:tcPr>
                </a:tc>
                <a:tc>
                  <a:txBody>
                    <a:bodyPr/>
                    <a:lstStyle/>
                    <a:p>
                      <a:pPr>
                        <a:defRPr sz="900" b="0">
                          <a:solidFill>
                            <a:srgbClr val="212529"/>
                          </a:solidFill>
                          <a:latin typeface="Arial"/>
                        </a:defRPr>
                      </a:pPr>
                      <a:r>
                        <a:t>mAP: 0.58–0.70 `[SUGGESTED]`</a:t>
                      </a:r>
                    </a:p>
                  </a:txBody>
                  <a:tcPr marL="36576" marR="36576" marT="27432" marB="27432">
                    <a:solidFill>
                      <a:srgbClr val="F5F5F5"/>
                    </a:solidFill>
                  </a:tcPr>
                </a:tc>
              </a:tr>
              <a:tr h="236409">
                <a:tc>
                  <a:txBody>
                    <a:bodyPr/>
                    <a:lstStyle/>
                    <a:p>
                      <a:pPr>
                        <a:defRPr sz="900" b="1">
                          <a:solidFill>
                            <a:srgbClr val="212529"/>
                          </a:solidFill>
                          <a:latin typeface="Arial"/>
                        </a:defRPr>
                      </a:pPr>
                      <a:r>
                        <a:t>**Final Target** (Phase 8)</a:t>
                      </a:r>
                    </a:p>
                  </a:txBody>
                  <a:tcPr marL="36576" marR="36576" marT="27432" marB="27432">
                    <a:solidFill>
                      <a:srgbClr val="F5F5F5"/>
                    </a:solidFill>
                  </a:tcPr>
                </a:tc>
                <a:tc>
                  <a:txBody>
                    <a:bodyPr/>
                    <a:lstStyle/>
                    <a:p>
                      <a:pPr>
                        <a:defRPr sz="900" b="0">
                          <a:solidFill>
                            <a:srgbClr val="212529"/>
                          </a:solidFill>
                          <a:latin typeface="Arial"/>
                        </a:defRPr>
                      </a:pPr>
                      <a:r>
                        <a:t>Tuned master model</a:t>
                      </a:r>
                    </a:p>
                  </a:txBody>
                  <a:tcPr marL="36576" marR="36576" marT="27432" marB="27432">
                    <a:solidFill>
                      <a:srgbClr val="F5F5F5"/>
                    </a:solidFill>
                  </a:tcPr>
                </a:tc>
                <a:tc>
                  <a:txBody>
                    <a:bodyPr/>
                    <a:lstStyle/>
                    <a:p>
                      <a:pPr>
                        <a:defRPr sz="900" b="0">
                          <a:solidFill>
                            <a:srgbClr val="212529"/>
                          </a:solidFill>
                          <a:latin typeface="Arial"/>
                        </a:defRPr>
                      </a:pPr>
                      <a:r>
                        <a:t>mAP: **≥0.85**</a:t>
                      </a:r>
                    </a:p>
                  </a:txBody>
                  <a:tcPr marL="36576" marR="36576" marT="27432" marB="27432">
                    <a:solidFill>
                      <a:srgbClr val="F5F5F5"/>
                    </a:solidFill>
                  </a:tcPr>
                </a:tc>
              </a:tr>
            </a:tbl>
          </a:graphicData>
        </a:graphic>
      </p:graphicFrame>
      <p:sp>
        <p:nvSpPr>
          <p:cNvPr id="9" name="TextBox 8"/>
          <p:cNvSpPr txBox="1"/>
          <p:nvPr/>
        </p:nvSpPr>
        <p:spPr>
          <a:xfrm>
            <a:off x="457200" y="4826762"/>
            <a:ext cx="5943600" cy="1391157"/>
          </a:xfrm>
          <a:prstGeom prst="rect">
            <a:avLst/>
          </a:prstGeom>
          <a:noFill/>
        </p:spPr>
        <p:txBody>
          <a:bodyPr wrap="square">
            <a:spAutoFit/>
          </a:bodyPr>
          <a:lstStyle/>
          <a:p>
            <a:pPr>
              <a:spcBef>
                <a:spcPts val="500"/>
              </a:spcBef>
              <a:spcAft>
                <a:spcPts val="200"/>
              </a:spcAft>
              <a:defRPr sz="1400" b="1">
                <a:solidFill>
                  <a:srgbClr val="0F5132"/>
                </a:solidFill>
                <a:latin typeface="Arial"/>
              </a:defRPr>
            </a:pPr>
            <a:r>
              <a:t>Quality gate sequence:</a:t>
            </a:r>
          </a:p>
          <a:p>
            <a:pPr>
              <a:spcAft>
                <a:spcPts val="300"/>
              </a:spcAft>
              <a:defRPr sz="1000">
                <a:solidFill>
                  <a:srgbClr val="212529"/>
                </a:solidFill>
                <a:latin typeface="Arial"/>
              </a:defRPr>
            </a:pPr>
            <a:r>
              <a:t>1. Solo training test → any category below 60% accuracy → fix labels, re-run</a:t>
            </a:r>
          </a:p>
          <a:p>
            <a:pPr>
              <a:spcAft>
                <a:spcPts val="300"/>
              </a:spcAft>
              <a:defRPr sz="1000">
                <a:solidFill>
                  <a:srgbClr val="212529"/>
                </a:solidFill>
                <a:latin typeface="Arial"/>
              </a:defRPr>
            </a:pPr>
            <a:r>
              <a:t>2. Label cross-check → team agreement must reach ≥85%</a:t>
            </a:r>
          </a:p>
          <a:p>
            <a:pPr>
              <a:spcAft>
                <a:spcPts val="300"/>
              </a:spcAft>
              <a:defRPr sz="1000">
                <a:solidFill>
                  <a:srgbClr val="212529"/>
                </a:solidFill>
                <a:latin typeface="Arial"/>
              </a:defRPr>
            </a:pPr>
            <a:r>
              <a:t>3. Automated label error scan → remove flagged mistakes before merging</a:t>
            </a:r>
          </a:p>
          <a:p>
            <a:pPr>
              <a:spcAft>
                <a:spcPts val="300"/>
              </a:spcAft>
              <a:defRPr sz="1000">
                <a:solidFill>
                  <a:srgbClr val="212529"/>
                </a:solidFill>
                <a:latin typeface="Arial"/>
              </a:defRPr>
            </a:pPr>
            <a:r>
              <a:t>4. Duplicate check across training/testing → must find zero shared photos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26: Human-in-the-Loop (HITL) &amp; Quality Framework</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26 in Appendix A to generate the visual image.</a:t>
            </a:r>
          </a:p>
        </p:txBody>
      </p:sp>
      <p:sp>
        <p:nvSpPr>
          <p:cNvPr id="5" name="TextBox 4"/>
          <p:cNvSpPr txBox="1"/>
          <p:nvPr/>
        </p:nvSpPr>
        <p:spPr>
          <a:xfrm>
            <a:off x="457200" y="1188720"/>
            <a:ext cx="5943600" cy="1901952"/>
          </a:xfrm>
          <a:prstGeom prst="rect">
            <a:avLst/>
          </a:prstGeom>
          <a:noFill/>
        </p:spPr>
        <p:txBody>
          <a:bodyPr wrap="square">
            <a:spAutoFit/>
          </a:bodyPr>
          <a:lstStyle/>
          <a:p>
            <a:pPr lvl="1">
              <a:spcAft>
                <a:spcPts val="200"/>
              </a:spcAft>
              <a:defRPr sz="1100">
                <a:solidFill>
                  <a:srgbClr val="212529"/>
                </a:solidFill>
                <a:latin typeface="Arial"/>
              </a:defRPr>
            </a:pPr>
            <a:r>
              <a:t>The HITL Quality Framework (Mosqueira-Rey et al., 2023):</a:t>
            </a:r>
          </a:p>
          <a:p>
            <a:pPr lvl="1">
              <a:spcAft>
                <a:spcPts val="200"/>
              </a:spcAft>
              <a:defRPr sz="1100">
                <a:solidFill>
                  <a:srgbClr val="212529"/>
                </a:solidFill>
                <a:latin typeface="Arial"/>
              </a:defRPr>
            </a:pPr>
            <a:r>
              <a:t>Phase 4 Quality Gate: Cross-team label review targeting &gt;85% inter-annotator agreement.</a:t>
            </a:r>
          </a:p>
          <a:p>
            <a:pPr lvl="1">
              <a:spcAft>
                <a:spcPts val="200"/>
              </a:spcAft>
              <a:defRPr sz="1100">
                <a:solidFill>
                  <a:srgbClr val="212529"/>
                </a:solidFill>
                <a:latin typeface="Arial"/>
              </a:defRPr>
            </a:pPr>
            <a:r>
              <a:t>Phase 10 Active Learning: Ambiguous detections feed human review queue → retrain loop.</a:t>
            </a:r>
          </a:p>
          <a:p>
            <a:pPr>
              <a:spcBef>
                <a:spcPts val="600"/>
              </a:spcBef>
              <a:spcAft>
                <a:spcPts val="300"/>
              </a:spcAft>
              <a:defRPr sz="1500" b="1">
                <a:solidFill>
                  <a:srgbClr val="0F5132"/>
                </a:solidFill>
                <a:latin typeface="Arial"/>
              </a:defRPr>
            </a:pPr>
            <a:r>
              <a:t>Algorithmic Quality Check:</a:t>
            </a:r>
          </a:p>
          <a:p>
            <a:pPr lvl="1">
              <a:spcAft>
                <a:spcPts val="200"/>
              </a:spcAft>
              <a:defRPr sz="1100">
                <a:solidFill>
                  <a:srgbClr val="212529"/>
                </a:solidFill>
                <a:latin typeface="Arial"/>
              </a:defRPr>
            </a:pPr>
            <a:r>
              <a:t>Cleanlab (Confident Learning): Automatically identifies systematic annotation errors.</a:t>
            </a:r>
          </a:p>
          <a:p>
            <a:pPr>
              <a:spcBef>
                <a:spcPts val="600"/>
              </a:spcBef>
              <a:spcAft>
                <a:spcPts val="300"/>
              </a:spcAft>
              <a:defRPr sz="1500" b="1">
                <a:solidFill>
                  <a:srgbClr val="0F5132"/>
                </a:solidFill>
                <a:latin typeface="Arial"/>
              </a:defRPr>
            </a:pPr>
            <a:r>
              <a:t>Inference Routing &amp; Confidence Gates:</a:t>
            </a:r>
          </a:p>
        </p:txBody>
      </p:sp>
      <p:graphicFrame>
        <p:nvGraphicFramePr>
          <p:cNvPr id="6" name="Table 5"/>
          <p:cNvGraphicFramePr>
            <a:graphicFrameLocks noGrp="1"/>
          </p:cNvGraphicFramePr>
          <p:nvPr/>
        </p:nvGraphicFramePr>
        <p:xfrm>
          <a:off x="457200" y="3090672"/>
          <a:ext cx="5943597" cy="969264"/>
        </p:xfrm>
        <a:graphic>
          <a:graphicData uri="http://schemas.openxmlformats.org/drawingml/2006/table">
            <a:tbl>
              <a:tblPr firstRow="1" bandRow="1">
                <a:tableStyleId>{5C22544A-7EE6-4342-B048-85BDC9FD1C3A}</a:tableStyleId>
              </a:tblPr>
              <a:tblGrid>
                <a:gridCol w="1981199"/>
                <a:gridCol w="1981199"/>
                <a:gridCol w="1981199"/>
              </a:tblGrid>
              <a:tr h="242316">
                <a:tc>
                  <a:txBody>
                    <a:bodyPr/>
                    <a:lstStyle/>
                    <a:p>
                      <a:pPr>
                        <a:defRPr sz="900" b="1">
                          <a:solidFill>
                            <a:srgbClr val="FFFFFF"/>
                          </a:solidFill>
                          <a:latin typeface="Arial"/>
                        </a:defRPr>
                      </a:pPr>
                      <a:r>
                        <a:t>Zone</a:t>
                      </a:r>
                    </a:p>
                  </a:txBody>
                  <a:tcPr marL="36576" marR="36576" marT="27432" marB="27432">
                    <a:solidFill>
                      <a:srgbClr val="0F5132"/>
                    </a:solidFill>
                  </a:tcPr>
                </a:tc>
                <a:tc>
                  <a:txBody>
                    <a:bodyPr/>
                    <a:lstStyle/>
                    <a:p>
                      <a:pPr>
                        <a:defRPr sz="900" b="1">
                          <a:solidFill>
                            <a:srgbClr val="FFFFFF"/>
                          </a:solidFill>
                          <a:latin typeface="Arial"/>
                        </a:defRPr>
                      </a:pPr>
                      <a:r>
                        <a:t>Confidence</a:t>
                      </a:r>
                    </a:p>
                  </a:txBody>
                  <a:tcPr marL="36576" marR="36576" marT="27432" marB="27432">
                    <a:solidFill>
                      <a:srgbClr val="0F5132"/>
                    </a:solidFill>
                  </a:tcPr>
                </a:tc>
                <a:tc>
                  <a:txBody>
                    <a:bodyPr/>
                    <a:lstStyle/>
                    <a:p>
                      <a:pPr>
                        <a:defRPr sz="900" b="1">
                          <a:solidFill>
                            <a:srgbClr val="FFFFFF"/>
                          </a:solidFill>
                          <a:latin typeface="Arial"/>
                        </a:defRPr>
                      </a:pPr>
                      <a:r>
                        <a:t>Action</a:t>
                      </a:r>
                    </a:p>
                  </a:txBody>
                  <a:tcPr marL="36576" marR="36576" marT="27432" marB="27432">
                    <a:solidFill>
                      <a:srgbClr val="0F5132"/>
                    </a:solidFill>
                  </a:tcPr>
                </a:tc>
              </a:tr>
              <a:tr h="242316">
                <a:tc>
                  <a:txBody>
                    <a:bodyPr/>
                    <a:lstStyle/>
                    <a:p>
                      <a:pPr>
                        <a:defRPr sz="900" b="1">
                          <a:solidFill>
                            <a:srgbClr val="212529"/>
                          </a:solidFill>
                          <a:latin typeface="Arial"/>
                        </a:defRPr>
                      </a:pPr>
                      <a:r>
                        <a:t>**Green** (Recyclable)</a:t>
                      </a:r>
                    </a:p>
                  </a:txBody>
                  <a:tcPr marL="36576" marR="36576" marT="27432" marB="27432">
                    <a:solidFill>
                      <a:srgbClr val="F5F5F5"/>
                    </a:solidFill>
                  </a:tcPr>
                </a:tc>
                <a:tc>
                  <a:txBody>
                    <a:bodyPr/>
                    <a:lstStyle/>
                    <a:p>
                      <a:pPr>
                        <a:defRPr sz="900" b="0">
                          <a:solidFill>
                            <a:srgbClr val="212529"/>
                          </a:solidFill>
                          <a:latin typeface="Arial"/>
                        </a:defRPr>
                      </a:pPr>
                      <a:r>
                        <a:t>≥ 0.85</a:t>
                      </a:r>
                    </a:p>
                  </a:txBody>
                  <a:tcPr marL="36576" marR="36576" marT="27432" marB="27432">
                    <a:solidFill>
                      <a:srgbClr val="F5F5F5"/>
                    </a:solidFill>
                  </a:tcPr>
                </a:tc>
                <a:tc>
                  <a:txBody>
                    <a:bodyPr/>
                    <a:lstStyle/>
                    <a:p>
                      <a:pPr>
                        <a:defRPr sz="900" b="0">
                          <a:solidFill>
                            <a:srgbClr val="212529"/>
                          </a:solidFill>
                          <a:latin typeface="Arial"/>
                        </a:defRPr>
                      </a:pPr>
                      <a:r>
                        <a:t>Auto-pass to recycling stream</a:t>
                      </a:r>
                    </a:p>
                  </a:txBody>
                  <a:tcPr marL="36576" marR="36576" marT="27432" marB="27432">
                    <a:solidFill>
                      <a:srgbClr val="F5F5F5"/>
                    </a:solidFill>
                  </a:tcPr>
                </a:tc>
              </a:tr>
              <a:tr h="242316">
                <a:tc>
                  <a:txBody>
                    <a:bodyPr/>
                    <a:lstStyle/>
                    <a:p>
                      <a:pPr>
                        <a:defRPr sz="900" b="1">
                          <a:solidFill>
                            <a:srgbClr val="212529"/>
                          </a:solidFill>
                          <a:latin typeface="Arial"/>
                        </a:defRPr>
                      </a:pPr>
                      <a:r>
                        <a:t>**Red** (Hazard/Contaminant)</a:t>
                      </a:r>
                    </a:p>
                  </a:txBody>
                  <a:tcPr marL="36576" marR="36576" marT="27432" marB="27432">
                    <a:solidFill>
                      <a:srgbClr val="F5F5F5"/>
                    </a:solidFill>
                  </a:tcPr>
                </a:tc>
                <a:tc>
                  <a:txBody>
                    <a:bodyPr/>
                    <a:lstStyle/>
                    <a:p>
                      <a:pPr>
                        <a:defRPr sz="900" b="0">
                          <a:solidFill>
                            <a:srgbClr val="212529"/>
                          </a:solidFill>
                          <a:latin typeface="Arial"/>
                        </a:defRPr>
                      </a:pPr>
                      <a:r>
                        <a:t>≥ 0.90 (Battery) / ≥ 0.85 (Trash)</a:t>
                      </a:r>
                    </a:p>
                  </a:txBody>
                  <a:tcPr marL="36576" marR="36576" marT="27432" marB="27432">
                    <a:solidFill>
                      <a:srgbClr val="F5F5F5"/>
                    </a:solidFill>
                  </a:tcPr>
                </a:tc>
                <a:tc>
                  <a:txBody>
                    <a:bodyPr/>
                    <a:lstStyle/>
                    <a:p>
                      <a:pPr>
                        <a:defRPr sz="900" b="0">
                          <a:solidFill>
                            <a:srgbClr val="212529"/>
                          </a:solidFill>
                          <a:latin typeface="Arial"/>
                        </a:defRPr>
                      </a:pPr>
                      <a:r>
                        <a:t>Auto-reject — quarantine alert</a:t>
                      </a:r>
                    </a:p>
                  </a:txBody>
                  <a:tcPr marL="36576" marR="36576" marT="27432" marB="27432">
                    <a:solidFill>
                      <a:srgbClr val="F5F5F5"/>
                    </a:solidFill>
                  </a:tcPr>
                </a:tc>
              </a:tr>
              <a:tr h="242316">
                <a:tc>
                  <a:txBody>
                    <a:bodyPr/>
                    <a:lstStyle/>
                    <a:p>
                      <a:pPr>
                        <a:defRPr sz="900" b="1">
                          <a:solidFill>
                            <a:srgbClr val="212529"/>
                          </a:solidFill>
                          <a:latin typeface="Arial"/>
                        </a:defRPr>
                      </a:pPr>
                      <a:r>
                        <a:t>**Amber** (Uncertain)</a:t>
                      </a:r>
                    </a:p>
                  </a:txBody>
                  <a:tcPr marL="36576" marR="36576" marT="27432" marB="27432">
                    <a:solidFill>
                      <a:srgbClr val="F5F5F5"/>
                    </a:solidFill>
                  </a:tcPr>
                </a:tc>
                <a:tc>
                  <a:txBody>
                    <a:bodyPr/>
                    <a:lstStyle/>
                    <a:p>
                      <a:pPr>
                        <a:defRPr sz="900" b="0">
                          <a:solidFill>
                            <a:srgbClr val="212529"/>
                          </a:solidFill>
                          <a:latin typeface="Arial"/>
                        </a:defRPr>
                      </a:pPr>
                      <a:r>
                        <a:t>&lt; 0.85 (Recyclable) / &lt; 0.90 (Battery)</a:t>
                      </a:r>
                    </a:p>
                  </a:txBody>
                  <a:tcPr marL="36576" marR="36576" marT="27432" marB="27432">
                    <a:solidFill>
                      <a:srgbClr val="F5F5F5"/>
                    </a:solidFill>
                  </a:tcPr>
                </a:tc>
                <a:tc>
                  <a:txBody>
                    <a:bodyPr/>
                    <a:lstStyle/>
                    <a:p>
                      <a:pPr>
                        <a:defRPr sz="900" b="0">
                          <a:solidFill>
                            <a:srgbClr val="212529"/>
                          </a:solidFill>
                          <a:latin typeface="Arial"/>
                        </a:defRPr>
                      </a:pPr>
                      <a:r>
                        <a:t>Route to Amber Queue for human check</a:t>
                      </a:r>
                    </a:p>
                  </a:txBody>
                  <a:tcPr marL="36576" marR="36576" marT="27432" marB="27432">
                    <a:solidFill>
                      <a:srgbClr val="F5F5F5"/>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27: HITL Framework: Theoretical Taxonomy</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27 in Appendix A to generate the visual image.</a:t>
            </a:r>
          </a:p>
        </p:txBody>
      </p:sp>
      <p:sp>
        <p:nvSpPr>
          <p:cNvPr id="5" name="TextBox 4"/>
          <p:cNvSpPr txBox="1"/>
          <p:nvPr/>
        </p:nvSpPr>
        <p:spPr>
          <a:xfrm>
            <a:off x="457200" y="1188720"/>
            <a:ext cx="5943600" cy="246888"/>
          </a:xfrm>
          <a:prstGeom prst="rect">
            <a:avLst/>
          </a:prstGeom>
          <a:noFill/>
        </p:spPr>
        <p:txBody>
          <a:bodyPr wrap="square">
            <a:spAutoFit/>
          </a:bodyPr>
          <a:lstStyle/>
          <a:p>
            <a:pPr lvl="1">
              <a:spcAft>
                <a:spcPts val="200"/>
              </a:spcAft>
              <a:defRPr sz="1100">
                <a:solidFill>
                  <a:srgbClr val="212529"/>
                </a:solidFill>
                <a:latin typeface="Arial"/>
              </a:defRPr>
            </a:pPr>
            <a:r>
              <a:t>Four Types of Human-AI Integration (Mosqueira-Rey et al., 2023):</a:t>
            </a:r>
          </a:p>
        </p:txBody>
      </p:sp>
      <p:graphicFrame>
        <p:nvGraphicFramePr>
          <p:cNvPr id="6" name="Table 5"/>
          <p:cNvGraphicFramePr>
            <a:graphicFrameLocks noGrp="1"/>
          </p:cNvGraphicFramePr>
          <p:nvPr/>
        </p:nvGraphicFramePr>
        <p:xfrm>
          <a:off x="457200" y="1435608"/>
          <a:ext cx="5943597" cy="1920240"/>
        </p:xfrm>
        <a:graphic>
          <a:graphicData uri="http://schemas.openxmlformats.org/drawingml/2006/table">
            <a:tbl>
              <a:tblPr firstRow="1" bandRow="1">
                <a:tableStyleId>{5C22544A-7EE6-4342-B048-85BDC9FD1C3A}</a:tableStyleId>
              </a:tblPr>
              <a:tblGrid>
                <a:gridCol w="1981199"/>
                <a:gridCol w="1981199"/>
                <a:gridCol w="1981199"/>
              </a:tblGrid>
              <a:tr h="384048">
                <a:tc>
                  <a:txBody>
                    <a:bodyPr/>
                    <a:lstStyle/>
                    <a:p>
                      <a:pPr>
                        <a:defRPr sz="900" b="1">
                          <a:solidFill>
                            <a:srgbClr val="FFFFFF"/>
                          </a:solidFill>
                          <a:latin typeface="Arial"/>
                        </a:defRPr>
                      </a:pPr>
                      <a:r>
                        <a:t>HITL Type</a:t>
                      </a:r>
                    </a:p>
                  </a:txBody>
                  <a:tcPr marL="36576" marR="36576" marT="27432" marB="27432">
                    <a:solidFill>
                      <a:srgbClr val="0F5132"/>
                    </a:solidFill>
                  </a:tcPr>
                </a:tc>
                <a:tc>
                  <a:txBody>
                    <a:bodyPr/>
                    <a:lstStyle/>
                    <a:p>
                      <a:pPr>
                        <a:defRPr sz="900" b="1">
                          <a:solidFill>
                            <a:srgbClr val="FFFFFF"/>
                          </a:solidFill>
                          <a:latin typeface="Arial"/>
                        </a:defRPr>
                      </a:pPr>
                      <a:r>
                        <a:t>Description</a:t>
                      </a:r>
                    </a:p>
                  </a:txBody>
                  <a:tcPr marL="36576" marR="36576" marT="27432" marB="27432">
                    <a:solidFill>
                      <a:srgbClr val="0F5132"/>
                    </a:solidFill>
                  </a:tcPr>
                </a:tc>
                <a:tc>
                  <a:txBody>
                    <a:bodyPr/>
                    <a:lstStyle/>
                    <a:p>
                      <a:pPr>
                        <a:defRPr sz="900" b="1">
                          <a:solidFill>
                            <a:srgbClr val="FFFFFF"/>
                          </a:solidFill>
                          <a:latin typeface="Arial"/>
                        </a:defRPr>
                      </a:pPr>
                      <a:r>
                        <a:t>PurityLoop Implementation</a:t>
                      </a:r>
                    </a:p>
                  </a:txBody>
                  <a:tcPr marL="36576" marR="36576" marT="27432" marB="27432">
                    <a:solidFill>
                      <a:srgbClr val="0F5132"/>
                    </a:solidFill>
                  </a:tcPr>
                </a:tc>
              </a:tr>
              <a:tr h="384048">
                <a:tc>
                  <a:txBody>
                    <a:bodyPr/>
                    <a:lstStyle/>
                    <a:p>
                      <a:pPr>
                        <a:defRPr sz="900" b="1">
                          <a:solidFill>
                            <a:srgbClr val="212529"/>
                          </a:solidFill>
                          <a:latin typeface="Arial"/>
                        </a:defRPr>
                      </a:pPr>
                      <a:r>
                        <a:t>**Human-in-the-Loop (HITL)**</a:t>
                      </a:r>
                    </a:p>
                  </a:txBody>
                  <a:tcPr marL="36576" marR="36576" marT="27432" marB="27432">
                    <a:solidFill>
                      <a:srgbClr val="F5F5F5"/>
                    </a:solidFill>
                  </a:tcPr>
                </a:tc>
                <a:tc>
                  <a:txBody>
                    <a:bodyPr/>
                    <a:lstStyle/>
                    <a:p>
                      <a:pPr>
                        <a:defRPr sz="900" b="0">
                          <a:solidFill>
                            <a:srgbClr val="212529"/>
                          </a:solidFill>
                          <a:latin typeface="Arial"/>
                        </a:defRPr>
                      </a:pPr>
                      <a:r>
                        <a:t>Human approves or corrects AI decision before execution.</a:t>
                      </a:r>
                    </a:p>
                  </a:txBody>
                  <a:tcPr marL="36576" marR="36576" marT="27432" marB="27432">
                    <a:solidFill>
                      <a:srgbClr val="F5F5F5"/>
                    </a:solidFill>
                  </a:tcPr>
                </a:tc>
                <a:tc>
                  <a:txBody>
                    <a:bodyPr/>
                    <a:lstStyle/>
                    <a:p>
                      <a:pPr>
                        <a:defRPr sz="900" b="0">
                          <a:solidFill>
                            <a:srgbClr val="212529"/>
                          </a:solidFill>
                          <a:latin typeface="Arial"/>
                        </a:defRPr>
                      </a:pPr>
                      <a:r>
                        <a:t>**Amber Queue:** Operator labels uncertain items before database logging.</a:t>
                      </a:r>
                    </a:p>
                  </a:txBody>
                  <a:tcPr marL="36576" marR="36576" marT="27432" marB="27432">
                    <a:solidFill>
                      <a:srgbClr val="F5F5F5"/>
                    </a:solidFill>
                  </a:tcPr>
                </a:tc>
              </a:tr>
              <a:tr h="384048">
                <a:tc>
                  <a:txBody>
                    <a:bodyPr/>
                    <a:lstStyle/>
                    <a:p>
                      <a:pPr>
                        <a:defRPr sz="900" b="1">
                          <a:solidFill>
                            <a:srgbClr val="212529"/>
                          </a:solidFill>
                          <a:latin typeface="Arial"/>
                        </a:defRPr>
                      </a:pPr>
                      <a:r>
                        <a:t>**Human-on-the-Loop (HOTL)**</a:t>
                      </a:r>
                    </a:p>
                  </a:txBody>
                  <a:tcPr marL="36576" marR="36576" marT="27432" marB="27432">
                    <a:solidFill>
                      <a:srgbClr val="F5F5F5"/>
                    </a:solidFill>
                  </a:tcPr>
                </a:tc>
                <a:tc>
                  <a:txBody>
                    <a:bodyPr/>
                    <a:lstStyle/>
                    <a:p>
                      <a:pPr>
                        <a:defRPr sz="900" b="0">
                          <a:solidFill>
                            <a:srgbClr val="212529"/>
                          </a:solidFill>
                          <a:latin typeface="Arial"/>
                        </a:defRPr>
                      </a:pPr>
                      <a:r>
                        <a:t>AI processes autonomously; Human monitors and overrides exceptions.</a:t>
                      </a:r>
                    </a:p>
                  </a:txBody>
                  <a:tcPr marL="36576" marR="36576" marT="27432" marB="27432">
                    <a:solidFill>
                      <a:srgbClr val="F5F5F5"/>
                    </a:solidFill>
                  </a:tcPr>
                </a:tc>
                <a:tc>
                  <a:txBody>
                    <a:bodyPr/>
                    <a:lstStyle/>
                    <a:p>
                      <a:pPr>
                        <a:defRPr sz="900" b="0">
                          <a:solidFill>
                            <a:srgbClr val="212529"/>
                          </a:solidFill>
                          <a:latin typeface="Arial"/>
                        </a:defRPr>
                      </a:pPr>
                      <a:r>
                        <a:t>**Operator Screen:** Factory manager overrides belt speed or alerts.</a:t>
                      </a:r>
                    </a:p>
                  </a:txBody>
                  <a:tcPr marL="36576" marR="36576" marT="27432" marB="27432">
                    <a:solidFill>
                      <a:srgbClr val="F5F5F5"/>
                    </a:solidFill>
                  </a:tcPr>
                </a:tc>
              </a:tr>
              <a:tr h="384048">
                <a:tc>
                  <a:txBody>
                    <a:bodyPr/>
                    <a:lstStyle/>
                    <a:p>
                      <a:pPr>
                        <a:defRPr sz="900" b="1">
                          <a:solidFill>
                            <a:srgbClr val="212529"/>
                          </a:solidFill>
                          <a:latin typeface="Arial"/>
                        </a:defRPr>
                      </a:pPr>
                      <a:r>
                        <a:t>**Human-over-the-Loop (HOOTL)**</a:t>
                      </a:r>
                    </a:p>
                  </a:txBody>
                  <a:tcPr marL="36576" marR="36576" marT="27432" marB="27432">
                    <a:solidFill>
                      <a:srgbClr val="F5F5F5"/>
                    </a:solidFill>
                  </a:tcPr>
                </a:tc>
                <a:tc>
                  <a:txBody>
                    <a:bodyPr/>
                    <a:lstStyle/>
                    <a:p>
                      <a:pPr>
                        <a:defRPr sz="900" b="0">
                          <a:solidFill>
                            <a:srgbClr val="212529"/>
                          </a:solidFill>
                          <a:latin typeface="Arial"/>
                        </a:defRPr>
                      </a:pPr>
                      <a:r>
                        <a:t>AI executes decisions; Human audits outcomes retrospectively.</a:t>
                      </a:r>
                    </a:p>
                  </a:txBody>
                  <a:tcPr marL="36576" marR="36576" marT="27432" marB="27432">
                    <a:solidFill>
                      <a:srgbClr val="F5F5F5"/>
                    </a:solidFill>
                  </a:tcPr>
                </a:tc>
                <a:tc>
                  <a:txBody>
                    <a:bodyPr/>
                    <a:lstStyle/>
                    <a:p>
                      <a:pPr>
                        <a:defRPr sz="900" b="0">
                          <a:solidFill>
                            <a:srgbClr val="212529"/>
                          </a:solidFill>
                          <a:latin typeface="Arial"/>
                        </a:defRPr>
                      </a:pPr>
                      <a:r>
                        <a:t>**ESG Dashboard:** Sustainability auditors review monthly carbon records.</a:t>
                      </a:r>
                    </a:p>
                  </a:txBody>
                  <a:tcPr marL="36576" marR="36576" marT="27432" marB="27432">
                    <a:solidFill>
                      <a:srgbClr val="F5F5F5"/>
                    </a:solidFill>
                  </a:tcPr>
                </a:tc>
              </a:tr>
              <a:tr h="384048">
                <a:tc>
                  <a:txBody>
                    <a:bodyPr/>
                    <a:lstStyle/>
                    <a:p>
                      <a:pPr>
                        <a:defRPr sz="900" b="1">
                          <a:solidFill>
                            <a:srgbClr val="212529"/>
                          </a:solidFill>
                          <a:latin typeface="Arial"/>
                        </a:defRPr>
                      </a:pPr>
                      <a:r>
                        <a:t>**Human-as-the-Loop (HATL)**</a:t>
                      </a:r>
                    </a:p>
                  </a:txBody>
                  <a:tcPr marL="36576" marR="36576" marT="27432" marB="27432">
                    <a:solidFill>
                      <a:srgbClr val="F5F5F5"/>
                    </a:solidFill>
                  </a:tcPr>
                </a:tc>
                <a:tc>
                  <a:txBody>
                    <a:bodyPr/>
                    <a:lstStyle/>
                    <a:p>
                      <a:pPr>
                        <a:defRPr sz="900" b="0">
                          <a:solidFill>
                            <a:srgbClr val="212529"/>
                          </a:solidFill>
                          <a:latin typeface="Arial"/>
                        </a:defRPr>
                      </a:pPr>
                      <a:r>
                        <a:t>Human makes all decisions; AI serves only as passive advice.</a:t>
                      </a:r>
                    </a:p>
                  </a:txBody>
                  <a:tcPr marL="36576" marR="36576" marT="27432" marB="27432">
                    <a:solidFill>
                      <a:srgbClr val="F5F5F5"/>
                    </a:solidFill>
                  </a:tcPr>
                </a:tc>
                <a:tc>
                  <a:txBody>
                    <a:bodyPr/>
                    <a:lstStyle/>
                    <a:p>
                      <a:pPr>
                        <a:defRPr sz="900" b="0">
                          <a:solidFill>
                            <a:srgbClr val="212529"/>
                          </a:solidFill>
                          <a:latin typeface="Arial"/>
                        </a:defRPr>
                      </a:pPr>
                      <a:r>
                        <a:t>N/A (Manual sorting - baseline pre-system state).</a:t>
                      </a:r>
                    </a:p>
                  </a:txBody>
                  <a:tcPr marL="36576" marR="36576" marT="27432" marB="27432">
                    <a:solidFill>
                      <a:srgbClr val="F5F5F5"/>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28: The Data Pipeline — What Happens Behind the Scenes</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28 in Appendix A to generate the visual image.</a:t>
            </a:r>
          </a:p>
        </p:txBody>
      </p:sp>
      <p:sp>
        <p:nvSpPr>
          <p:cNvPr id="5" name="TextBox 4"/>
          <p:cNvSpPr txBox="1"/>
          <p:nvPr/>
        </p:nvSpPr>
        <p:spPr>
          <a:xfrm>
            <a:off x="457200" y="1188720"/>
            <a:ext cx="5943600" cy="3630168"/>
          </a:xfrm>
          <a:prstGeom prst="rect">
            <a:avLst/>
          </a:prstGeom>
          <a:noFill/>
        </p:spPr>
        <p:txBody>
          <a:bodyPr wrap="square">
            <a:spAutoFit/>
          </a:bodyPr>
          <a:lstStyle/>
          <a:p>
            <a:pPr>
              <a:spcBef>
                <a:spcPts val="600"/>
              </a:spcBef>
              <a:spcAft>
                <a:spcPts val="300"/>
              </a:spcAft>
              <a:defRPr sz="1500" b="1">
                <a:solidFill>
                  <a:srgbClr val="0F5132"/>
                </a:solidFill>
                <a:latin typeface="Arial"/>
              </a:defRPr>
            </a:pPr>
            <a:r>
              <a:t>4 parts that work together automatically:</a:t>
            </a:r>
          </a:p>
          <a:p>
            <a:pPr>
              <a:spcAft>
                <a:spcPts val="400"/>
              </a:spcAft>
              <a:defRPr sz="1100">
                <a:solidFill>
                  <a:srgbClr val="212529"/>
                </a:solidFill>
                <a:latin typeface="Arial"/>
              </a:defRPr>
            </a:pPr>
            <a:r>
              <a:t>```</a:t>
            </a:r>
          </a:p>
          <a:p>
            <a:pPr>
              <a:spcAft>
                <a:spcPts val="400"/>
              </a:spcAft>
              <a:defRPr sz="1100">
                <a:solidFill>
                  <a:srgbClr val="212529"/>
                </a:solidFill>
                <a:latin typeface="Arial"/>
              </a:defRPr>
            </a:pPr>
            <a:r>
              <a:t>[Camera drops photo into folder]</a:t>
            </a:r>
          </a:p>
          <a:p>
            <a:pPr>
              <a:spcAft>
                <a:spcPts val="400"/>
              </a:spcAft>
              <a:defRPr sz="1100">
                <a:solidFill>
                  <a:srgbClr val="212529"/>
                </a:solidFill>
                <a:latin typeface="Arial"/>
              </a:defRPr>
            </a:pPr>
            <a:r>
              <a:t>↓</a:t>
            </a:r>
          </a:p>
          <a:p>
            <a:pPr>
              <a:spcAft>
                <a:spcPts val="400"/>
              </a:spcAft>
              <a:defRPr sz="1100">
                <a:solidFill>
                  <a:srgbClr val="212529"/>
                </a:solidFill>
                <a:latin typeface="Arial"/>
              </a:defRPr>
            </a:pPr>
            <a:r>
              <a:t>[File Monitor detects new photo] ← checks if valid, rejects corrupt files</a:t>
            </a:r>
          </a:p>
          <a:p>
            <a:pPr>
              <a:spcAft>
                <a:spcPts val="400"/>
              </a:spcAft>
              <a:defRPr sz="1100">
                <a:solidFill>
                  <a:srgbClr val="212529"/>
                </a:solidFill>
                <a:latin typeface="Arial"/>
              </a:defRPr>
            </a:pPr>
            <a:r>
              <a:t>↓</a:t>
            </a:r>
          </a:p>
          <a:p>
            <a:pPr>
              <a:spcAft>
                <a:spcPts val="400"/>
              </a:spcAft>
              <a:defRPr sz="1100">
                <a:solidFill>
                  <a:srgbClr val="212529"/>
                </a:solidFill>
                <a:latin typeface="Arial"/>
              </a:defRPr>
            </a:pPr>
            <a:r>
              <a:t>[AI identifies every item] ← draws outlines, assigns labels and certainty scores</a:t>
            </a:r>
          </a:p>
          <a:p>
            <a:pPr>
              <a:spcAft>
                <a:spcPts val="400"/>
              </a:spcAft>
              <a:defRPr sz="1100">
                <a:solidFill>
                  <a:srgbClr val="212529"/>
                </a:solidFill>
                <a:latin typeface="Arial"/>
              </a:defRPr>
            </a:pPr>
            <a:r>
              <a:t>↓</a:t>
            </a:r>
          </a:p>
          <a:p>
            <a:pPr>
              <a:spcAft>
                <a:spcPts val="400"/>
              </a:spcAft>
              <a:defRPr sz="1100">
                <a:solidFill>
                  <a:srgbClr val="212529"/>
                </a:solidFill>
                <a:latin typeface="Arial"/>
              </a:defRPr>
            </a:pPr>
            <a:r>
              <a:t>[Decision Gate] → Green (accept) / Yellow (hold) / Red (reject)</a:t>
            </a:r>
          </a:p>
          <a:p>
            <a:pPr>
              <a:spcAft>
                <a:spcPts val="400"/>
              </a:spcAft>
              <a:defRPr sz="1100">
                <a:solidFill>
                  <a:srgbClr val="212529"/>
                </a:solidFill>
                <a:latin typeface="Arial"/>
              </a:defRPr>
            </a:pPr>
            <a:r>
              <a:t>↓</a:t>
            </a:r>
          </a:p>
          <a:p>
            <a:pPr>
              <a:spcAft>
                <a:spcPts val="400"/>
              </a:spcAft>
              <a:defRPr sz="1100">
                <a:solidFill>
                  <a:srgbClr val="212529"/>
                </a:solidFill>
                <a:latin typeface="Arial"/>
              </a:defRPr>
            </a:pPr>
            <a:r>
              <a:t>[Digital Logbook records everything] ← timestamp, label, certainty, zone</a:t>
            </a:r>
          </a:p>
          <a:p>
            <a:pPr>
              <a:spcAft>
                <a:spcPts val="400"/>
              </a:spcAft>
              <a:defRPr sz="1100">
                <a:solidFill>
                  <a:srgbClr val="212529"/>
                </a:solidFill>
                <a:latin typeface="Arial"/>
              </a:defRPr>
            </a:pPr>
            <a:r>
              <a:t>```</a:t>
            </a:r>
          </a:p>
          <a:p>
            <a:pPr>
              <a:spcBef>
                <a:spcPts val="600"/>
              </a:spcBef>
              <a:spcAft>
                <a:spcPts val="300"/>
              </a:spcAft>
              <a:defRPr sz="1500" b="1">
                <a:solidFill>
                  <a:srgbClr val="0F5132"/>
                </a:solidFill>
                <a:latin typeface="Arial"/>
              </a:defRPr>
            </a:pPr>
            <a:r>
              <a:t>File Monitor detail:</a:t>
            </a:r>
          </a:p>
        </p:txBody>
      </p:sp>
      <p:graphicFrame>
        <p:nvGraphicFramePr>
          <p:cNvPr id="6" name="Table 5"/>
          <p:cNvGraphicFramePr>
            <a:graphicFrameLocks noGrp="1"/>
          </p:cNvGraphicFramePr>
          <p:nvPr/>
        </p:nvGraphicFramePr>
        <p:xfrm>
          <a:off x="457200" y="4818888"/>
          <a:ext cx="5943600" cy="969264"/>
        </p:xfrm>
        <a:graphic>
          <a:graphicData uri="http://schemas.openxmlformats.org/drawingml/2006/table">
            <a:tbl>
              <a:tblPr firstRow="1" bandRow="1">
                <a:tableStyleId>{5C22544A-7EE6-4342-B048-85BDC9FD1C3A}</a:tableStyleId>
              </a:tblPr>
              <a:tblGrid>
                <a:gridCol w="2971800"/>
                <a:gridCol w="2971800"/>
              </a:tblGrid>
              <a:tr h="242316">
                <a:tc>
                  <a:txBody>
                    <a:bodyPr/>
                    <a:lstStyle/>
                    <a:p>
                      <a:pPr>
                        <a:defRPr sz="900" b="1">
                          <a:solidFill>
                            <a:srgbClr val="FFFFFF"/>
                          </a:solidFill>
                          <a:latin typeface="Arial"/>
                        </a:defRPr>
                      </a:pPr>
                      <a:r>
                        <a:t>Situation</a:t>
                      </a:r>
                    </a:p>
                  </a:txBody>
                  <a:tcPr marL="36576" marR="36576" marT="27432" marB="27432">
                    <a:solidFill>
                      <a:srgbClr val="0F5132"/>
                    </a:solidFill>
                  </a:tcPr>
                </a:tc>
                <a:tc>
                  <a:txBody>
                    <a:bodyPr/>
                    <a:lstStyle/>
                    <a:p>
                      <a:pPr>
                        <a:defRPr sz="900" b="1">
                          <a:solidFill>
                            <a:srgbClr val="FFFFFF"/>
                          </a:solidFill>
                          <a:latin typeface="Arial"/>
                        </a:defRPr>
                      </a:pPr>
                      <a:r>
                        <a:t>What happens</a:t>
                      </a:r>
                    </a:p>
                  </a:txBody>
                  <a:tcPr marL="36576" marR="36576" marT="27432" marB="27432">
                    <a:solidFill>
                      <a:srgbClr val="0F5132"/>
                    </a:solidFill>
                  </a:tcPr>
                </a:tc>
              </a:tr>
              <a:tr h="242316">
                <a:tc>
                  <a:txBody>
                    <a:bodyPr/>
                    <a:lstStyle/>
                    <a:p>
                      <a:pPr>
                        <a:defRPr sz="900" b="1">
                          <a:solidFill>
                            <a:srgbClr val="212529"/>
                          </a:solidFill>
                          <a:latin typeface="Arial"/>
                        </a:defRPr>
                      </a:pPr>
                      <a:r>
                        <a:t>Valid photo arrives</a:t>
                      </a:r>
                    </a:p>
                  </a:txBody>
                  <a:tcPr marL="36576" marR="36576" marT="27432" marB="27432">
                    <a:solidFill>
                      <a:srgbClr val="F5F5F5"/>
                    </a:solidFill>
                  </a:tcPr>
                </a:tc>
                <a:tc>
                  <a:txBody>
                    <a:bodyPr/>
                    <a:lstStyle/>
                    <a:p>
                      <a:pPr>
                        <a:defRPr sz="900" b="0">
                          <a:solidFill>
                            <a:srgbClr val="212529"/>
                          </a:solidFill>
                          <a:latin typeface="Arial"/>
                        </a:defRPr>
                      </a:pPr>
                      <a:r>
                        <a:t>Passed to AI within 0.5 seconds</a:t>
                      </a:r>
                    </a:p>
                  </a:txBody>
                  <a:tcPr marL="36576" marR="36576" marT="27432" marB="27432">
                    <a:solidFill>
                      <a:srgbClr val="F5F5F5"/>
                    </a:solidFill>
                  </a:tcPr>
                </a:tc>
              </a:tr>
              <a:tr h="242316">
                <a:tc>
                  <a:txBody>
                    <a:bodyPr/>
                    <a:lstStyle/>
                    <a:p>
                      <a:pPr>
                        <a:defRPr sz="900" b="1">
                          <a:solidFill>
                            <a:srgbClr val="212529"/>
                          </a:solidFill>
                          <a:latin typeface="Arial"/>
                        </a:defRPr>
                      </a:pPr>
                      <a:r>
                        <a:t>Corrupted or non-image file arrives</a:t>
                      </a:r>
                    </a:p>
                  </a:txBody>
                  <a:tcPr marL="36576" marR="36576" marT="27432" marB="27432">
                    <a:solidFill>
                      <a:srgbClr val="F5F5F5"/>
                    </a:solidFill>
                  </a:tcPr>
                </a:tc>
                <a:tc>
                  <a:txBody>
                    <a:bodyPr/>
                    <a:lstStyle/>
                    <a:p>
                      <a:pPr>
                        <a:defRPr sz="900" b="0">
                          <a:solidFill>
                            <a:srgbClr val="212529"/>
                          </a:solidFill>
                          <a:latin typeface="Arial"/>
                        </a:defRPr>
                      </a:pPr>
                      <a:r>
                        <a:t>Moved to a separate error folder, logged — pipeline never crashes</a:t>
                      </a:r>
                    </a:p>
                  </a:txBody>
                  <a:tcPr marL="36576" marR="36576" marT="27432" marB="27432">
                    <a:solidFill>
                      <a:srgbClr val="F5F5F5"/>
                    </a:solidFill>
                  </a:tcPr>
                </a:tc>
              </a:tr>
              <a:tr h="242316">
                <a:tc>
                  <a:txBody>
                    <a:bodyPr/>
                    <a:lstStyle/>
                    <a:p>
                      <a:pPr>
                        <a:defRPr sz="900" b="1">
                          <a:solidFill>
                            <a:srgbClr val="212529"/>
                          </a:solidFill>
                          <a:latin typeface="Arial"/>
                        </a:defRPr>
                      </a:pPr>
                      <a:r>
                        <a:t>Folder is empty</a:t>
                      </a:r>
                    </a:p>
                  </a:txBody>
                  <a:tcPr marL="36576" marR="36576" marT="27432" marB="27432">
                    <a:solidFill>
                      <a:srgbClr val="F5F5F5"/>
                    </a:solidFill>
                  </a:tcPr>
                </a:tc>
                <a:tc>
                  <a:txBody>
                    <a:bodyPr/>
                    <a:lstStyle/>
                    <a:p>
                      <a:pPr>
                        <a:defRPr sz="900" b="0">
                          <a:solidFill>
                            <a:srgbClr val="212529"/>
                          </a:solidFill>
                          <a:latin typeface="Arial"/>
                        </a:defRPr>
                      </a:pPr>
                      <a:r>
                        <a:t>System waits silently — no error, no crash</a:t>
                      </a:r>
                    </a:p>
                  </a:txBody>
                  <a:tcPr marL="36576" marR="36576" marT="27432" marB="27432">
                    <a:solidFill>
                      <a:srgbClr val="F5F5F5"/>
                    </a:solidFill>
                  </a:tcPr>
                </a:tc>
              </a:tr>
            </a:tbl>
          </a:graphicData>
        </a:graphic>
      </p:graphicFrame>
      <p:sp>
        <p:nvSpPr>
          <p:cNvPr id="7" name="TextBox 6"/>
          <p:cNvSpPr txBox="1"/>
          <p:nvPr/>
        </p:nvSpPr>
        <p:spPr>
          <a:xfrm>
            <a:off x="457200" y="5879592"/>
            <a:ext cx="5943600" cy="246888"/>
          </a:xfrm>
          <a:prstGeom prst="rect">
            <a:avLst/>
          </a:prstGeom>
          <a:noFill/>
        </p:spPr>
        <p:txBody>
          <a:bodyPr wrap="square">
            <a:spAutoFit/>
          </a:bodyPr>
          <a:lstStyle/>
          <a:p>
            <a:pPr lvl="1">
              <a:spcAft>
                <a:spcPts val="200"/>
              </a:spcAft>
              <a:defRPr sz="1100">
                <a:solidFill>
                  <a:srgbClr val="212529"/>
                </a:solidFill>
                <a:latin typeface="Arial"/>
              </a:defRPr>
            </a:pPr>
            <a:r>
              <a:t>Digital logbook saves within 100ms of each detection.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29: The Digital Record Book — What Gets Saved</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29 in Appendix A to generate the visual image.</a:t>
            </a:r>
          </a:p>
        </p:txBody>
      </p:sp>
      <p:sp>
        <p:nvSpPr>
          <p:cNvPr id="5" name="TextBox 4"/>
          <p:cNvSpPr txBox="1"/>
          <p:nvPr/>
        </p:nvSpPr>
        <p:spPr>
          <a:xfrm>
            <a:off x="457200" y="1188720"/>
            <a:ext cx="5943600" cy="1029235"/>
          </a:xfrm>
          <a:prstGeom prst="rect">
            <a:avLst/>
          </a:prstGeom>
          <a:noFill/>
        </p:spPr>
        <p:txBody>
          <a:bodyPr wrap="square">
            <a:spAutoFit/>
          </a:bodyPr>
          <a:lstStyle/>
          <a:p>
            <a:pPr>
              <a:spcAft>
                <a:spcPts val="300"/>
              </a:spcAft>
              <a:defRPr sz="900">
                <a:solidFill>
                  <a:srgbClr val="212529"/>
                </a:solidFill>
                <a:latin typeface="Arial"/>
              </a:defRPr>
            </a:pPr>
            <a:r>
              <a:t>Every item that passes through the system is recorded in a digital database — like a structured spreadsheet that never gets deleted.</a:t>
            </a:r>
          </a:p>
          <a:p>
            <a:pPr>
              <a:spcBef>
                <a:spcPts val="500"/>
              </a:spcBef>
              <a:spcAft>
                <a:spcPts val="200"/>
              </a:spcAft>
              <a:defRPr sz="1300" b="1">
                <a:solidFill>
                  <a:srgbClr val="0F5132"/>
                </a:solidFill>
                <a:latin typeface="Arial"/>
              </a:defRPr>
            </a:pPr>
            <a:r>
              <a:t>3 tables:</a:t>
            </a:r>
          </a:p>
          <a:p>
            <a:pPr>
              <a:spcBef>
                <a:spcPts val="500"/>
              </a:spcBef>
              <a:spcAft>
                <a:spcPts val="200"/>
              </a:spcAft>
              <a:defRPr sz="1300" b="1">
                <a:solidFill>
                  <a:srgbClr val="0F5132"/>
                </a:solidFill>
                <a:latin typeface="Arial"/>
              </a:defRPr>
            </a:pPr>
            <a:r>
              <a:t>Table 1 — People (User)</a:t>
            </a:r>
          </a:p>
        </p:txBody>
      </p:sp>
      <p:graphicFrame>
        <p:nvGraphicFramePr>
          <p:cNvPr id="6" name="Table 5"/>
          <p:cNvGraphicFramePr>
            <a:graphicFrameLocks noGrp="1"/>
          </p:cNvGraphicFramePr>
          <p:nvPr/>
        </p:nvGraphicFramePr>
        <p:xfrm>
          <a:off x="457200" y="2217955"/>
          <a:ext cx="5943600" cy="859046"/>
        </p:xfrm>
        <a:graphic>
          <a:graphicData uri="http://schemas.openxmlformats.org/drawingml/2006/table">
            <a:tbl>
              <a:tblPr firstRow="1" bandRow="1">
                <a:tableStyleId>{5C22544A-7EE6-4342-B048-85BDC9FD1C3A}</a:tableStyleId>
              </a:tblPr>
              <a:tblGrid>
                <a:gridCol w="2971800"/>
                <a:gridCol w="2971800"/>
              </a:tblGrid>
              <a:tr h="214761">
                <a:tc>
                  <a:txBody>
                    <a:bodyPr/>
                    <a:lstStyle/>
                    <a:p>
                      <a:pPr>
                        <a:defRPr sz="800" b="1">
                          <a:solidFill>
                            <a:srgbClr val="FFFFFF"/>
                          </a:solidFill>
                          <a:latin typeface="Arial"/>
                        </a:defRPr>
                      </a:pPr>
                      <a:r>
                        <a:t>What is saved</a:t>
                      </a:r>
                    </a:p>
                  </a:txBody>
                  <a:tcPr marL="36576" marR="36576" marT="27432" marB="27432">
                    <a:solidFill>
                      <a:srgbClr val="0F5132"/>
                    </a:solidFill>
                  </a:tcPr>
                </a:tc>
                <a:tc>
                  <a:txBody>
                    <a:bodyPr/>
                    <a:lstStyle/>
                    <a:p>
                      <a:pPr>
                        <a:defRPr sz="800" b="1">
                          <a:solidFill>
                            <a:srgbClr val="FFFFFF"/>
                          </a:solidFill>
                          <a:latin typeface="Arial"/>
                        </a:defRPr>
                      </a:pPr>
                      <a:r>
                        <a:t>Example</a:t>
                      </a:r>
                    </a:p>
                  </a:txBody>
                  <a:tcPr marL="36576" marR="36576" marT="27432" marB="27432">
                    <a:solidFill>
                      <a:srgbClr val="0F5132"/>
                    </a:solidFill>
                  </a:tcPr>
                </a:tc>
              </a:tr>
              <a:tr h="214761">
                <a:tc>
                  <a:txBody>
                    <a:bodyPr/>
                    <a:lstStyle/>
                    <a:p>
                      <a:pPr>
                        <a:defRPr sz="800" b="1">
                          <a:solidFill>
                            <a:srgbClr val="212529"/>
                          </a:solidFill>
                          <a:latin typeface="Arial"/>
                        </a:defRPr>
                      </a:pPr>
                      <a:r>
                        <a:t>Scrambled phone number (privacy protected)</a:t>
                      </a:r>
                    </a:p>
                  </a:txBody>
                  <a:tcPr marL="36576" marR="36576" marT="27432" marB="27432">
                    <a:solidFill>
                      <a:srgbClr val="F5F5F5"/>
                    </a:solidFill>
                  </a:tcPr>
                </a:tc>
                <a:tc>
                  <a:txBody>
                    <a:bodyPr/>
                    <a:lstStyle/>
                    <a:p>
                      <a:pPr>
                        <a:defRPr sz="800" b="0">
                          <a:solidFill>
                            <a:srgbClr val="212529"/>
                          </a:solidFill>
                          <a:latin typeface="Arial"/>
                        </a:defRPr>
                      </a:pPr>
                      <a:r>
                        <a:t>Not stored as readable text</a:t>
                      </a:r>
                    </a:p>
                  </a:txBody>
                  <a:tcPr marL="36576" marR="36576" marT="27432" marB="27432">
                    <a:solidFill>
                      <a:srgbClr val="F5F5F5"/>
                    </a:solidFill>
                  </a:tcPr>
                </a:tc>
              </a:tr>
              <a:tr h="214761">
                <a:tc>
                  <a:txBody>
                    <a:bodyPr/>
                    <a:lstStyle/>
                    <a:p>
                      <a:pPr>
                        <a:defRPr sz="800" b="1">
                          <a:solidFill>
                            <a:srgbClr val="212529"/>
                          </a:solidFill>
                          <a:latin typeface="Arial"/>
                        </a:defRPr>
                      </a:pPr>
                      <a:r>
                        <a:t>Eco-credit points total</a:t>
                      </a:r>
                    </a:p>
                  </a:txBody>
                  <a:tcPr marL="36576" marR="36576" marT="27432" marB="27432">
                    <a:solidFill>
                      <a:srgbClr val="F5F5F5"/>
                    </a:solidFill>
                  </a:tcPr>
                </a:tc>
                <a:tc>
                  <a:txBody>
                    <a:bodyPr/>
                    <a:lstStyle/>
                    <a:p>
                      <a:pPr>
                        <a:defRPr sz="800" b="0">
                          <a:solidFill>
                            <a:srgbClr val="212529"/>
                          </a:solidFill>
                          <a:latin typeface="Arial"/>
                        </a:defRPr>
                      </a:pPr>
                      <a:r>
                        <a:t>247 pts</a:t>
                      </a:r>
                    </a:p>
                  </a:txBody>
                  <a:tcPr marL="36576" marR="36576" marT="27432" marB="27432">
                    <a:solidFill>
                      <a:srgbClr val="F5F5F5"/>
                    </a:solidFill>
                  </a:tcPr>
                </a:tc>
              </a:tr>
              <a:tr h="214763">
                <a:tc>
                  <a:txBody>
                    <a:bodyPr/>
                    <a:lstStyle/>
                    <a:p>
                      <a:pPr>
                        <a:defRPr sz="800" b="1">
                          <a:solidFill>
                            <a:srgbClr val="212529"/>
                          </a:solidFill>
                          <a:latin typeface="Arial"/>
                        </a:defRPr>
                      </a:pPr>
                      <a:r>
                        <a:t>Session history</a:t>
                      </a:r>
                    </a:p>
                  </a:txBody>
                  <a:tcPr marL="36576" marR="36576" marT="27432" marB="27432">
                    <a:solidFill>
                      <a:srgbClr val="F5F5F5"/>
                    </a:solidFill>
                  </a:tcPr>
                </a:tc>
                <a:tc>
                  <a:txBody>
                    <a:bodyPr/>
                    <a:lstStyle/>
                    <a:p>
                      <a:pPr>
                        <a:defRPr sz="800" b="0">
                          <a:solidFill>
                            <a:srgbClr val="212529"/>
                          </a:solidFill>
                          <a:latin typeface="Arial"/>
                        </a:defRPr>
                      </a:pPr>
                      <a:r>
                        <a:t>12 sessions, avg. 89% clean</a:t>
                      </a:r>
                    </a:p>
                  </a:txBody>
                  <a:tcPr marL="36576" marR="36576" marT="27432" marB="27432">
                    <a:solidFill>
                      <a:srgbClr val="F5F5F5"/>
                    </a:solidFill>
                  </a:tcPr>
                </a:tc>
              </a:tr>
            </a:tbl>
          </a:graphicData>
        </a:graphic>
      </p:graphicFrame>
      <p:sp>
        <p:nvSpPr>
          <p:cNvPr id="7" name="TextBox 6"/>
          <p:cNvSpPr txBox="1"/>
          <p:nvPr/>
        </p:nvSpPr>
        <p:spPr>
          <a:xfrm>
            <a:off x="457200" y="3168441"/>
            <a:ext cx="5943600" cy="218813"/>
          </a:xfrm>
          <a:prstGeom prst="rect">
            <a:avLst/>
          </a:prstGeom>
          <a:noFill/>
        </p:spPr>
        <p:txBody>
          <a:bodyPr wrap="square">
            <a:spAutoFit/>
          </a:bodyPr>
          <a:lstStyle/>
          <a:p>
            <a:pPr lvl="1">
              <a:spcAft>
                <a:spcPts val="100"/>
              </a:spcAft>
              <a:defRPr sz="900">
                <a:solidFill>
                  <a:srgbClr val="212529"/>
                </a:solidFill>
                <a:latin typeface="Arial"/>
              </a:defRPr>
            </a:pPr>
            <a:r>
              <a:t>Table 2 — Each Sorting Session (Detection_Session)</a:t>
            </a:r>
          </a:p>
        </p:txBody>
      </p:sp>
      <p:graphicFrame>
        <p:nvGraphicFramePr>
          <p:cNvPr id="8" name="Table 7"/>
          <p:cNvGraphicFramePr>
            <a:graphicFrameLocks noGrp="1"/>
          </p:cNvGraphicFramePr>
          <p:nvPr/>
        </p:nvGraphicFramePr>
        <p:xfrm>
          <a:off x="457200" y="3387255"/>
          <a:ext cx="5943600" cy="1053547"/>
        </p:xfrm>
        <a:graphic>
          <a:graphicData uri="http://schemas.openxmlformats.org/drawingml/2006/table">
            <a:tbl>
              <a:tblPr firstRow="1" bandRow="1">
                <a:tableStyleId>{5C22544A-7EE6-4342-B048-85BDC9FD1C3A}</a:tableStyleId>
              </a:tblPr>
              <a:tblGrid>
                <a:gridCol w="2971800"/>
                <a:gridCol w="2971800"/>
              </a:tblGrid>
              <a:tr h="210709">
                <a:tc>
                  <a:txBody>
                    <a:bodyPr/>
                    <a:lstStyle/>
                    <a:p>
                      <a:pPr>
                        <a:defRPr sz="800" b="1">
                          <a:solidFill>
                            <a:srgbClr val="FFFFFF"/>
                          </a:solidFill>
                          <a:latin typeface="Arial"/>
                        </a:defRPr>
                      </a:pPr>
                      <a:r>
                        <a:t>What is saved</a:t>
                      </a:r>
                    </a:p>
                  </a:txBody>
                  <a:tcPr marL="36576" marR="36576" marT="27432" marB="27432">
                    <a:solidFill>
                      <a:srgbClr val="0F5132"/>
                    </a:solidFill>
                  </a:tcPr>
                </a:tc>
                <a:tc>
                  <a:txBody>
                    <a:bodyPr/>
                    <a:lstStyle/>
                    <a:p>
                      <a:pPr>
                        <a:defRPr sz="800" b="1">
                          <a:solidFill>
                            <a:srgbClr val="FFFFFF"/>
                          </a:solidFill>
                          <a:latin typeface="Arial"/>
                        </a:defRPr>
                      </a:pPr>
                      <a:r>
                        <a:t>Example</a:t>
                      </a:r>
                    </a:p>
                  </a:txBody>
                  <a:tcPr marL="36576" marR="36576" marT="27432" marB="27432">
                    <a:solidFill>
                      <a:srgbClr val="0F5132"/>
                    </a:solidFill>
                  </a:tcPr>
                </a:tc>
              </a:tr>
              <a:tr h="210709">
                <a:tc>
                  <a:txBody>
                    <a:bodyPr/>
                    <a:lstStyle/>
                    <a:p>
                      <a:pPr>
                        <a:defRPr sz="800" b="1">
                          <a:solidFill>
                            <a:srgbClr val="212529"/>
                          </a:solidFill>
                          <a:latin typeface="Arial"/>
                        </a:defRPr>
                      </a:pPr>
                      <a:r>
                        <a:t>Cleanliness score for this session</a:t>
                      </a:r>
                    </a:p>
                  </a:txBody>
                  <a:tcPr marL="36576" marR="36576" marT="27432" marB="27432">
                    <a:solidFill>
                      <a:srgbClr val="F5F5F5"/>
                    </a:solidFill>
                  </a:tcPr>
                </a:tc>
                <a:tc>
                  <a:txBody>
                    <a:bodyPr/>
                    <a:lstStyle/>
                    <a:p>
                      <a:pPr>
                        <a:defRPr sz="800" b="0">
                          <a:solidFill>
                            <a:srgbClr val="212529"/>
                          </a:solidFill>
                          <a:latin typeface="Arial"/>
                        </a:defRPr>
                      </a:pPr>
                      <a:r>
                        <a:t>87%</a:t>
                      </a:r>
                    </a:p>
                  </a:txBody>
                  <a:tcPr marL="36576" marR="36576" marT="27432" marB="27432">
                    <a:solidFill>
                      <a:srgbClr val="F5F5F5"/>
                    </a:solidFill>
                  </a:tcPr>
                </a:tc>
              </a:tr>
              <a:tr h="210709">
                <a:tc>
                  <a:txBody>
                    <a:bodyPr/>
                    <a:lstStyle/>
                    <a:p>
                      <a:pPr>
                        <a:defRPr sz="800" b="1">
                          <a:solidFill>
                            <a:srgbClr val="212529"/>
                          </a:solidFill>
                          <a:latin typeface="Arial"/>
                        </a:defRPr>
                      </a:pPr>
                      <a:r>
                        <a:t>Total weight of recyclable material</a:t>
                      </a:r>
                    </a:p>
                  </a:txBody>
                  <a:tcPr marL="36576" marR="36576" marT="27432" marB="27432">
                    <a:solidFill>
                      <a:srgbClr val="F5F5F5"/>
                    </a:solidFill>
                  </a:tcPr>
                </a:tc>
                <a:tc>
                  <a:txBody>
                    <a:bodyPr/>
                    <a:lstStyle/>
                    <a:p>
                      <a:pPr>
                        <a:defRPr sz="800" b="0">
                          <a:solidFill>
                            <a:srgbClr val="212529"/>
                          </a:solidFill>
                          <a:latin typeface="Arial"/>
                        </a:defRPr>
                      </a:pPr>
                      <a:r>
                        <a:t>12.4 kg</a:t>
                      </a:r>
                    </a:p>
                  </a:txBody>
                  <a:tcPr marL="36576" marR="36576" marT="27432" marB="27432">
                    <a:solidFill>
                      <a:srgbClr val="F5F5F5"/>
                    </a:solidFill>
                  </a:tcPr>
                </a:tc>
              </a:tr>
              <a:tr h="210709">
                <a:tc>
                  <a:txBody>
                    <a:bodyPr/>
                    <a:lstStyle/>
                    <a:p>
                      <a:pPr>
                        <a:defRPr sz="800" b="1">
                          <a:solidFill>
                            <a:srgbClr val="212529"/>
                          </a:solidFill>
                          <a:latin typeface="Arial"/>
                        </a:defRPr>
                      </a:pPr>
                      <a:r>
                        <a:t>Carbon saved this session</a:t>
                      </a:r>
                    </a:p>
                  </a:txBody>
                  <a:tcPr marL="36576" marR="36576" marT="27432" marB="27432">
                    <a:solidFill>
                      <a:srgbClr val="F5F5F5"/>
                    </a:solidFill>
                  </a:tcPr>
                </a:tc>
                <a:tc>
                  <a:txBody>
                    <a:bodyPr/>
                    <a:lstStyle/>
                    <a:p>
                      <a:pPr>
                        <a:defRPr sz="800" b="0">
                          <a:solidFill>
                            <a:srgbClr val="212529"/>
                          </a:solidFill>
                          <a:latin typeface="Arial"/>
                        </a:defRPr>
                      </a:pPr>
                      <a:r>
                        <a:t>9.39 kg CO₂e</a:t>
                      </a:r>
                    </a:p>
                  </a:txBody>
                  <a:tcPr marL="36576" marR="36576" marT="27432" marB="27432">
                    <a:solidFill>
                      <a:srgbClr val="F5F5F5"/>
                    </a:solidFill>
                  </a:tcPr>
                </a:tc>
              </a:tr>
              <a:tr h="210711">
                <a:tc>
                  <a:txBody>
                    <a:bodyPr/>
                    <a:lstStyle/>
                    <a:p>
                      <a:pPr>
                        <a:defRPr sz="800" b="1">
                          <a:solidFill>
                            <a:srgbClr val="212529"/>
                          </a:solidFill>
                          <a:latin typeface="Arial"/>
                        </a:defRPr>
                      </a:pPr>
                      <a:r>
                        <a:t>Total items detected</a:t>
                      </a:r>
                    </a:p>
                  </a:txBody>
                  <a:tcPr marL="36576" marR="36576" marT="27432" marB="27432">
                    <a:solidFill>
                      <a:srgbClr val="F5F5F5"/>
                    </a:solidFill>
                  </a:tcPr>
                </a:tc>
                <a:tc>
                  <a:txBody>
                    <a:bodyPr/>
                    <a:lstStyle/>
                    <a:p>
                      <a:pPr>
                        <a:defRPr sz="800" b="0">
                          <a:solidFill>
                            <a:srgbClr val="212529"/>
                          </a:solidFill>
                          <a:latin typeface="Arial"/>
                        </a:defRPr>
                      </a:pPr>
                      <a:r>
                        <a:t>342</a:t>
                      </a:r>
                    </a:p>
                  </a:txBody>
                  <a:tcPr marL="36576" marR="36576" marT="27432" marB="27432">
                    <a:solidFill>
                      <a:srgbClr val="F5F5F5"/>
                    </a:solidFill>
                  </a:tcPr>
                </a:tc>
              </a:tr>
            </a:tbl>
          </a:graphicData>
        </a:graphic>
      </p:graphicFrame>
      <p:sp>
        <p:nvSpPr>
          <p:cNvPr id="9" name="TextBox 8"/>
          <p:cNvSpPr txBox="1"/>
          <p:nvPr/>
        </p:nvSpPr>
        <p:spPr>
          <a:xfrm>
            <a:off x="457200" y="4532243"/>
            <a:ext cx="5943600" cy="218813"/>
          </a:xfrm>
          <a:prstGeom prst="rect">
            <a:avLst/>
          </a:prstGeom>
          <a:noFill/>
        </p:spPr>
        <p:txBody>
          <a:bodyPr wrap="square">
            <a:spAutoFit/>
          </a:bodyPr>
          <a:lstStyle/>
          <a:p>
            <a:pPr lvl="1">
              <a:spcAft>
                <a:spcPts val="100"/>
              </a:spcAft>
              <a:defRPr sz="900">
                <a:solidFill>
                  <a:srgbClr val="212529"/>
                </a:solidFill>
                <a:latin typeface="Arial"/>
              </a:defRPr>
            </a:pPr>
            <a:r>
              <a:t>Table 3 — Each Item Detected (Detection_Event)</a:t>
            </a:r>
          </a:p>
        </p:txBody>
      </p:sp>
      <p:graphicFrame>
        <p:nvGraphicFramePr>
          <p:cNvPr id="10" name="Table 9"/>
          <p:cNvGraphicFramePr>
            <a:graphicFrameLocks noGrp="1"/>
          </p:cNvGraphicFramePr>
          <p:nvPr/>
        </p:nvGraphicFramePr>
        <p:xfrm>
          <a:off x="457200" y="4751057"/>
          <a:ext cx="5943600" cy="1248048"/>
        </p:xfrm>
        <a:graphic>
          <a:graphicData uri="http://schemas.openxmlformats.org/drawingml/2006/table">
            <a:tbl>
              <a:tblPr firstRow="1" bandRow="1">
                <a:tableStyleId>{5C22544A-7EE6-4342-B048-85BDC9FD1C3A}</a:tableStyleId>
              </a:tblPr>
              <a:tblGrid>
                <a:gridCol w="2971800"/>
                <a:gridCol w="2971800"/>
              </a:tblGrid>
              <a:tr h="208008">
                <a:tc>
                  <a:txBody>
                    <a:bodyPr/>
                    <a:lstStyle/>
                    <a:p>
                      <a:pPr>
                        <a:defRPr sz="800" b="1">
                          <a:solidFill>
                            <a:srgbClr val="FFFFFF"/>
                          </a:solidFill>
                          <a:latin typeface="Arial"/>
                        </a:defRPr>
                      </a:pPr>
                      <a:r>
                        <a:t>What is saved</a:t>
                      </a:r>
                    </a:p>
                  </a:txBody>
                  <a:tcPr marL="36576" marR="36576" marT="27432" marB="27432">
                    <a:solidFill>
                      <a:srgbClr val="0F5132"/>
                    </a:solidFill>
                  </a:tcPr>
                </a:tc>
                <a:tc>
                  <a:txBody>
                    <a:bodyPr/>
                    <a:lstStyle/>
                    <a:p>
                      <a:pPr>
                        <a:defRPr sz="800" b="1">
                          <a:solidFill>
                            <a:srgbClr val="FFFFFF"/>
                          </a:solidFill>
                          <a:latin typeface="Arial"/>
                        </a:defRPr>
                      </a:pPr>
                      <a:r>
                        <a:t>Example</a:t>
                      </a:r>
                    </a:p>
                  </a:txBody>
                  <a:tcPr marL="36576" marR="36576" marT="27432" marB="27432">
                    <a:solidFill>
                      <a:srgbClr val="0F5132"/>
                    </a:solidFill>
                  </a:tcPr>
                </a:tc>
              </a:tr>
              <a:tr h="208008">
                <a:tc>
                  <a:txBody>
                    <a:bodyPr/>
                    <a:lstStyle/>
                    <a:p>
                      <a:pPr>
                        <a:defRPr sz="800" b="1">
                          <a:solidFill>
                            <a:srgbClr val="212529"/>
                          </a:solidFill>
                          <a:latin typeface="Arial"/>
                        </a:defRPr>
                      </a:pPr>
                      <a:r>
                        <a:t>Category</a:t>
                      </a:r>
                    </a:p>
                  </a:txBody>
                  <a:tcPr marL="36576" marR="36576" marT="27432" marB="27432">
                    <a:solidFill>
                      <a:srgbClr val="F5F5F5"/>
                    </a:solidFill>
                  </a:tcPr>
                </a:tc>
                <a:tc>
                  <a:txBody>
                    <a:bodyPr/>
                    <a:lstStyle/>
                    <a:p>
                      <a:pPr>
                        <a:defRPr sz="800" b="0">
                          <a:solidFill>
                            <a:srgbClr val="212529"/>
                          </a:solidFill>
                          <a:latin typeface="Arial"/>
                        </a:defRPr>
                      </a:pPr>
                      <a:r>
                        <a:t>plastic</a:t>
                      </a:r>
                    </a:p>
                  </a:txBody>
                  <a:tcPr marL="36576" marR="36576" marT="27432" marB="27432">
                    <a:solidFill>
                      <a:srgbClr val="F5F5F5"/>
                    </a:solidFill>
                  </a:tcPr>
                </a:tc>
              </a:tr>
              <a:tr h="208008">
                <a:tc>
                  <a:txBody>
                    <a:bodyPr/>
                    <a:lstStyle/>
                    <a:p>
                      <a:pPr>
                        <a:defRPr sz="800" b="1">
                          <a:solidFill>
                            <a:srgbClr val="212529"/>
                          </a:solidFill>
                          <a:latin typeface="Arial"/>
                        </a:defRPr>
                      </a:pPr>
                      <a:r>
                        <a:t>Certainty score</a:t>
                      </a:r>
                    </a:p>
                  </a:txBody>
                  <a:tcPr marL="36576" marR="36576" marT="27432" marB="27432">
                    <a:solidFill>
                      <a:srgbClr val="F5F5F5"/>
                    </a:solidFill>
                  </a:tcPr>
                </a:tc>
                <a:tc>
                  <a:txBody>
                    <a:bodyPr/>
                    <a:lstStyle/>
                    <a:p>
                      <a:pPr>
                        <a:defRPr sz="800" b="0">
                          <a:solidFill>
                            <a:srgbClr val="212529"/>
                          </a:solidFill>
                          <a:latin typeface="Arial"/>
                        </a:defRPr>
                      </a:pPr>
                      <a:r>
                        <a:t>91%</a:t>
                      </a:r>
                    </a:p>
                  </a:txBody>
                  <a:tcPr marL="36576" marR="36576" marT="27432" marB="27432">
                    <a:solidFill>
                      <a:srgbClr val="F5F5F5"/>
                    </a:solidFill>
                  </a:tcPr>
                </a:tc>
              </a:tr>
              <a:tr h="208008">
                <a:tc>
                  <a:txBody>
                    <a:bodyPr/>
                    <a:lstStyle/>
                    <a:p>
                      <a:pPr>
                        <a:defRPr sz="800" b="1">
                          <a:solidFill>
                            <a:srgbClr val="212529"/>
                          </a:solidFill>
                          <a:latin typeface="Arial"/>
                        </a:defRPr>
                      </a:pPr>
                      <a:r>
                        <a:t>Zone assigned</a:t>
                      </a:r>
                    </a:p>
                  </a:txBody>
                  <a:tcPr marL="36576" marR="36576" marT="27432" marB="27432">
                    <a:solidFill>
                      <a:srgbClr val="F5F5F5"/>
                    </a:solidFill>
                  </a:tcPr>
                </a:tc>
                <a:tc>
                  <a:txBody>
                    <a:bodyPr/>
                    <a:lstStyle/>
                    <a:p>
                      <a:pPr>
                        <a:defRPr sz="800" b="0">
                          <a:solidFill>
                            <a:srgbClr val="212529"/>
                          </a:solidFill>
                          <a:latin typeface="Arial"/>
                        </a:defRPr>
                      </a:pPr>
                      <a:r>
                        <a:t>Green</a:t>
                      </a:r>
                    </a:p>
                  </a:txBody>
                  <a:tcPr marL="36576" marR="36576" marT="27432" marB="27432">
                    <a:solidFill>
                      <a:srgbClr val="F5F5F5"/>
                    </a:solidFill>
                  </a:tcPr>
                </a:tc>
              </a:tr>
              <a:tr h="208008">
                <a:tc>
                  <a:txBody>
                    <a:bodyPr/>
                    <a:lstStyle/>
                    <a:p>
                      <a:pPr>
                        <a:defRPr sz="800" b="1">
                          <a:solidFill>
                            <a:srgbClr val="212529"/>
                          </a:solidFill>
                          <a:latin typeface="Arial"/>
                        </a:defRPr>
                      </a:pPr>
                      <a:r>
                        <a:t>Position outline coordinates</a:t>
                      </a:r>
                    </a:p>
                  </a:txBody>
                  <a:tcPr marL="36576" marR="36576" marT="27432" marB="27432">
                    <a:solidFill>
                      <a:srgbClr val="F5F5F5"/>
                    </a:solidFill>
                  </a:tcPr>
                </a:tc>
                <a:tc>
                  <a:txBody>
                    <a:bodyPr/>
                    <a:lstStyle/>
                    <a:p>
                      <a:pPr>
                        <a:defRPr sz="800" b="0">
                          <a:solidFill>
                            <a:srgbClr val="212529"/>
                          </a:solidFill>
                          <a:latin typeface="Arial"/>
                        </a:defRPr>
                      </a:pPr>
                      <a:r>
                        <a:t>[saved automatically]</a:t>
                      </a:r>
                    </a:p>
                  </a:txBody>
                  <a:tcPr marL="36576" marR="36576" marT="27432" marB="27432">
                    <a:solidFill>
                      <a:srgbClr val="F5F5F5"/>
                    </a:solidFill>
                  </a:tcPr>
                </a:tc>
              </a:tr>
              <a:tr h="208008">
                <a:tc>
                  <a:txBody>
                    <a:bodyPr/>
                    <a:lstStyle/>
                    <a:p>
                      <a:pPr>
                        <a:defRPr sz="800" b="1">
                          <a:solidFill>
                            <a:srgbClr val="212529"/>
                          </a:solidFill>
                          <a:latin typeface="Arial"/>
                        </a:defRPr>
                      </a:pPr>
                      <a:r>
                        <a:t>Alarm triggered</a:t>
                      </a:r>
                    </a:p>
                  </a:txBody>
                  <a:tcPr marL="36576" marR="36576" marT="27432" marB="27432">
                    <a:solidFill>
                      <a:srgbClr val="F5F5F5"/>
                    </a:solidFill>
                  </a:tcPr>
                </a:tc>
                <a:tc>
                  <a:txBody>
                    <a:bodyPr/>
                    <a:lstStyle/>
                    <a:p>
                      <a:pPr>
                        <a:defRPr sz="800" b="0">
                          <a:solidFill>
                            <a:srgbClr val="212529"/>
                          </a:solidFill>
                          <a:latin typeface="Arial"/>
                        </a:defRPr>
                      </a:pPr>
                      <a:r>
                        <a:t>No</a:t>
                      </a:r>
                    </a:p>
                  </a:txBody>
                  <a:tcPr marL="36576" marR="36576" marT="27432" marB="27432">
                    <a:solidFill>
                      <a:srgbClr val="F5F5F5"/>
                    </a:solidFill>
                  </a:tcPr>
                </a:tc>
              </a:tr>
            </a:tbl>
          </a:graphicData>
        </a:graphic>
      </p:graphicFrame>
      <p:sp>
        <p:nvSpPr>
          <p:cNvPr id="11" name="TextBox 10"/>
          <p:cNvSpPr txBox="1"/>
          <p:nvPr/>
        </p:nvSpPr>
        <p:spPr>
          <a:xfrm>
            <a:off x="457200" y="6090546"/>
            <a:ext cx="5943600" cy="218813"/>
          </a:xfrm>
          <a:prstGeom prst="rect">
            <a:avLst/>
          </a:prstGeom>
          <a:noFill/>
        </p:spPr>
        <p:txBody>
          <a:bodyPr wrap="square">
            <a:spAutoFit/>
          </a:bodyPr>
          <a:lstStyle/>
          <a:p>
            <a:pPr lvl="1">
              <a:spcAft>
                <a:spcPts val="100"/>
              </a:spcAft>
              <a:defRPr sz="900">
                <a:solidFill>
                  <a:srgbClr val="212529"/>
                </a:solidFill>
                <a:latin typeface="Arial"/>
              </a:defRPr>
            </a:pPr>
            <a:r>
              <a:t>Privacy: phone numbers are scrambled (SHA-256) before storage. The original number is never saved anywhere in the system.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5132"/>
          </a:solidFill>
          <a:ln>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640080"/>
          </a:xfrm>
          <a:prstGeom prst="rect">
            <a:avLst/>
          </a:prstGeom>
          <a:noFill/>
        </p:spPr>
        <p:txBody>
          <a:bodyPr wrap="none">
            <a:spAutoFit/>
          </a:bodyPr>
          <a:lstStyle/>
          <a:p>
            <a:pPr>
              <a:defRPr sz="2400" b="1">
                <a:solidFill>
                  <a:srgbClr val="FFFFFF"/>
                </a:solidFill>
                <a:latin typeface="Arial"/>
              </a:defRPr>
            </a:pPr>
            <a:r>
              <a:t>Slide 30: The Human Review Step — When the AI Is Unsure</a:t>
            </a:r>
          </a:p>
        </p:txBody>
      </p:sp>
      <p:sp>
        <p:nvSpPr>
          <p:cNvPr id="4" name="Rectangle 3"/>
          <p:cNvSpPr/>
          <p:nvPr/>
        </p:nvSpPr>
        <p:spPr>
          <a:xfrm>
            <a:off x="6858000" y="1371600"/>
            <a:ext cx="4846320" cy="4572000"/>
          </a:xfrm>
          <a:prstGeom prst="rect">
            <a:avLst/>
          </a:prstGeom>
          <a:solidFill>
            <a:srgbClr val="F5F5F5"/>
          </a:solidFill>
          <a:ln w="19050">
            <a:solidFill>
              <a:srgbClr val="0F5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F5132"/>
                </a:solidFill>
                <a:latin typeface="Arial"/>
              </a:defRPr>
            </a:pPr>
            <a:r>
              <a:t>[Insert Visual Image Here]</a:t>
            </a:r>
          </a:p>
          <a:p>
            <a:br/>
            <a:pPr algn="ctr">
              <a:defRPr sz="1200">
                <a:solidFill>
                  <a:srgbClr val="212529"/>
                </a:solidFill>
                <a:latin typeface="Arial"/>
              </a:defRPr>
            </a:pPr>
            <a:r>
              <a:t>Use Gemini Prompt 30 in Appendix A to generate the visual image.</a:t>
            </a:r>
          </a:p>
        </p:txBody>
      </p:sp>
      <p:sp>
        <p:nvSpPr>
          <p:cNvPr id="5" name="TextBox 4"/>
          <p:cNvSpPr txBox="1"/>
          <p:nvPr/>
        </p:nvSpPr>
        <p:spPr>
          <a:xfrm>
            <a:off x="457200" y="1188720"/>
            <a:ext cx="5943600" cy="704088"/>
          </a:xfrm>
          <a:prstGeom prst="rect">
            <a:avLst/>
          </a:prstGeom>
          <a:noFill/>
        </p:spPr>
        <p:txBody>
          <a:bodyPr wrap="square">
            <a:spAutoFit/>
          </a:bodyPr>
          <a:lstStyle/>
          <a:p>
            <a:pPr>
              <a:spcAft>
                <a:spcPts val="400"/>
              </a:spcAft>
              <a:defRPr sz="1100">
                <a:solidFill>
                  <a:srgbClr val="212529"/>
                </a:solidFill>
                <a:latin typeface="Arial"/>
              </a:defRPr>
            </a:pPr>
            <a:r>
              <a:t>The system never forces a wrong decision. When the AI is not certain enough, it holds the item and asks a human.</a:t>
            </a:r>
          </a:p>
          <a:p>
            <a:pPr>
              <a:spcBef>
                <a:spcPts val="600"/>
              </a:spcBef>
              <a:spcAft>
                <a:spcPts val="300"/>
              </a:spcAft>
              <a:defRPr sz="1500" b="1">
                <a:solidFill>
                  <a:srgbClr val="0F5132"/>
                </a:solidFill>
                <a:latin typeface="Arial"/>
              </a:defRPr>
            </a:pPr>
            <a:r>
              <a:t>3-Zone System:</a:t>
            </a:r>
          </a:p>
        </p:txBody>
      </p:sp>
      <p:graphicFrame>
        <p:nvGraphicFramePr>
          <p:cNvPr id="6" name="Table 5"/>
          <p:cNvGraphicFramePr>
            <a:graphicFrameLocks noGrp="1"/>
          </p:cNvGraphicFramePr>
          <p:nvPr/>
        </p:nvGraphicFramePr>
        <p:xfrm>
          <a:off x="457200" y="1892808"/>
          <a:ext cx="5943597" cy="1335024"/>
        </p:xfrm>
        <a:graphic>
          <a:graphicData uri="http://schemas.openxmlformats.org/drawingml/2006/table">
            <a:tbl>
              <a:tblPr firstRow="1" bandRow="1">
                <a:tableStyleId>{5C22544A-7EE6-4342-B048-85BDC9FD1C3A}</a:tableStyleId>
              </a:tblPr>
              <a:tblGrid>
                <a:gridCol w="1981199"/>
                <a:gridCol w="1981199"/>
                <a:gridCol w="1981199"/>
              </a:tblGrid>
              <a:tr h="333756">
                <a:tc>
                  <a:txBody>
                    <a:bodyPr/>
                    <a:lstStyle/>
                    <a:p>
                      <a:pPr>
                        <a:defRPr sz="900" b="1">
                          <a:solidFill>
                            <a:srgbClr val="FFFFFF"/>
                          </a:solidFill>
                          <a:latin typeface="Arial"/>
                        </a:defRPr>
                      </a:pPr>
                      <a:r>
                        <a:t>Zone</a:t>
                      </a:r>
                    </a:p>
                  </a:txBody>
                  <a:tcPr marL="36576" marR="36576" marT="27432" marB="27432">
                    <a:solidFill>
                      <a:srgbClr val="0F5132"/>
                    </a:solidFill>
                  </a:tcPr>
                </a:tc>
                <a:tc>
                  <a:txBody>
                    <a:bodyPr/>
                    <a:lstStyle/>
                    <a:p>
                      <a:pPr>
                        <a:defRPr sz="900" b="1">
                          <a:solidFill>
                            <a:srgbClr val="FFFFFF"/>
                          </a:solidFill>
                          <a:latin typeface="Arial"/>
                        </a:defRPr>
                      </a:pPr>
                      <a:r>
                        <a:t>Condition</a:t>
                      </a:r>
                    </a:p>
                  </a:txBody>
                  <a:tcPr marL="36576" marR="36576" marT="27432" marB="27432">
                    <a:solidFill>
                      <a:srgbClr val="0F5132"/>
                    </a:solidFill>
                  </a:tcPr>
                </a:tc>
                <a:tc>
                  <a:txBody>
                    <a:bodyPr/>
                    <a:lstStyle/>
                    <a:p>
                      <a:pPr>
                        <a:defRPr sz="900" b="1">
                          <a:solidFill>
                            <a:srgbClr val="FFFFFF"/>
                          </a:solidFill>
                          <a:latin typeface="Arial"/>
                        </a:defRPr>
                      </a:pPr>
                      <a:r>
                        <a:t>What happens</a:t>
                      </a:r>
                    </a:p>
                  </a:txBody>
                  <a:tcPr marL="36576" marR="36576" marT="27432" marB="27432">
                    <a:solidFill>
                      <a:srgbClr val="0F5132"/>
                    </a:solidFill>
                  </a:tcPr>
                </a:tc>
              </a:tr>
              <a:tr h="333756">
                <a:tc>
                  <a:txBody>
                    <a:bodyPr/>
                    <a:lstStyle/>
                    <a:p>
                      <a:pPr>
                        <a:defRPr sz="900" b="1">
                          <a:solidFill>
                            <a:srgbClr val="212529"/>
                          </a:solidFill>
                          <a:latin typeface="Arial"/>
                        </a:defRPr>
                      </a:pPr>
                      <a:r>
                        <a:t>🟢 **Green**</a:t>
                      </a:r>
                    </a:p>
                  </a:txBody>
                  <a:tcPr marL="36576" marR="36576" marT="27432" marB="27432">
                    <a:solidFill>
                      <a:srgbClr val="F5F5F5"/>
                    </a:solidFill>
                  </a:tcPr>
                </a:tc>
                <a:tc>
                  <a:txBody>
                    <a:bodyPr/>
                    <a:lstStyle/>
                    <a:p>
                      <a:pPr>
                        <a:defRPr sz="900" b="0">
                          <a:solidFill>
                            <a:srgbClr val="212529"/>
                          </a:solidFill>
                          <a:latin typeface="Arial"/>
                        </a:defRPr>
                      </a:pPr>
                      <a:r>
                        <a:t>AI is ≥85% certain + item is recyclable</a:t>
                      </a:r>
                    </a:p>
                  </a:txBody>
                  <a:tcPr marL="36576" marR="36576" marT="27432" marB="27432">
                    <a:solidFill>
                      <a:srgbClr val="F5F5F5"/>
                    </a:solidFill>
                  </a:tcPr>
                </a:tc>
                <a:tc>
                  <a:txBody>
                    <a:bodyPr/>
                    <a:lstStyle/>
                    <a:p>
                      <a:pPr>
                        <a:defRPr sz="900" b="0">
                          <a:solidFill>
                            <a:srgbClr val="212529"/>
                          </a:solidFill>
                          <a:latin typeface="Arial"/>
                        </a:defRPr>
                      </a:pPr>
                      <a:r>
                        <a:t>Auto-accepted to recycling stream</a:t>
                      </a:r>
                    </a:p>
                  </a:txBody>
                  <a:tcPr marL="36576" marR="36576" marT="27432" marB="27432">
                    <a:solidFill>
                      <a:srgbClr val="F5F5F5"/>
                    </a:solidFill>
                  </a:tcPr>
                </a:tc>
              </a:tr>
              <a:tr h="333756">
                <a:tc>
                  <a:txBody>
                    <a:bodyPr/>
                    <a:lstStyle/>
                    <a:p>
                      <a:pPr>
                        <a:defRPr sz="900" b="1">
                          <a:solidFill>
                            <a:srgbClr val="212529"/>
                          </a:solidFill>
                          <a:latin typeface="Arial"/>
                        </a:defRPr>
                      </a:pPr>
                      <a:r>
                        <a:t>🔴 **Red**</a:t>
                      </a:r>
                    </a:p>
                  </a:txBody>
                  <a:tcPr marL="36576" marR="36576" marT="27432" marB="27432">
                    <a:solidFill>
                      <a:srgbClr val="F5F5F5"/>
                    </a:solidFill>
                  </a:tcPr>
                </a:tc>
                <a:tc>
                  <a:txBody>
                    <a:bodyPr/>
                    <a:lstStyle/>
                    <a:p>
                      <a:pPr>
                        <a:defRPr sz="900" b="0">
                          <a:solidFill>
                            <a:srgbClr val="212529"/>
                          </a:solidFill>
                          <a:latin typeface="Arial"/>
                        </a:defRPr>
                      </a:pPr>
                      <a:r>
                        <a:t>AI is ≥85% certain + item is hazardous or non-recyclable</a:t>
                      </a:r>
                    </a:p>
                  </a:txBody>
                  <a:tcPr marL="36576" marR="36576" marT="27432" marB="27432">
                    <a:solidFill>
                      <a:srgbClr val="F5F5F5"/>
                    </a:solidFill>
                  </a:tcPr>
                </a:tc>
                <a:tc>
                  <a:txBody>
                    <a:bodyPr/>
                    <a:lstStyle/>
                    <a:p>
                      <a:pPr>
                        <a:defRPr sz="900" b="0">
                          <a:solidFill>
                            <a:srgbClr val="212529"/>
                          </a:solidFill>
                          <a:latin typeface="Arial"/>
                        </a:defRPr>
                      </a:pPr>
                      <a:r>
                        <a:t>Auto-rejected, alert sounds</a:t>
                      </a:r>
                    </a:p>
                  </a:txBody>
                  <a:tcPr marL="36576" marR="36576" marT="27432" marB="27432">
                    <a:solidFill>
                      <a:srgbClr val="F5F5F5"/>
                    </a:solidFill>
                  </a:tcPr>
                </a:tc>
              </a:tr>
              <a:tr h="333756">
                <a:tc>
                  <a:txBody>
                    <a:bodyPr/>
                    <a:lstStyle/>
                    <a:p>
                      <a:pPr>
                        <a:defRPr sz="900" b="1">
                          <a:solidFill>
                            <a:srgbClr val="212529"/>
                          </a:solidFill>
                          <a:latin typeface="Arial"/>
                        </a:defRPr>
                      </a:pPr>
                      <a:r>
                        <a:t>🟡 **Yellow**</a:t>
                      </a:r>
                    </a:p>
                  </a:txBody>
                  <a:tcPr marL="36576" marR="36576" marT="27432" marB="27432">
                    <a:solidFill>
                      <a:srgbClr val="F5F5F5"/>
                    </a:solidFill>
                  </a:tcPr>
                </a:tc>
                <a:tc>
                  <a:txBody>
                    <a:bodyPr/>
                    <a:lstStyle/>
                    <a:p>
                      <a:pPr>
                        <a:defRPr sz="900" b="0">
                          <a:solidFill>
                            <a:srgbClr val="212529"/>
                          </a:solidFill>
                          <a:latin typeface="Arial"/>
                        </a:defRPr>
                      </a:pPr>
                      <a:r>
                        <a:t>AI certainty falls below 85% for any category</a:t>
                      </a:r>
                    </a:p>
                  </a:txBody>
                  <a:tcPr marL="36576" marR="36576" marT="27432" marB="27432">
                    <a:solidFill>
                      <a:srgbClr val="F5F5F5"/>
                    </a:solidFill>
                  </a:tcPr>
                </a:tc>
                <a:tc>
                  <a:txBody>
                    <a:bodyPr/>
                    <a:lstStyle/>
                    <a:p>
                      <a:pPr>
                        <a:defRPr sz="900" b="0">
                          <a:solidFill>
                            <a:srgbClr val="212529"/>
                          </a:solidFill>
                          <a:latin typeface="Arial"/>
                        </a:defRPr>
                      </a:pPr>
                      <a:r>
                        <a:t>Item held — shown to operator on screen for manual confirmation</a:t>
                      </a:r>
                    </a:p>
                  </a:txBody>
                  <a:tcPr marL="36576" marR="36576" marT="27432" marB="27432">
                    <a:solidFill>
                      <a:srgbClr val="F5F5F5"/>
                    </a:solidFill>
                  </a:tcPr>
                </a:tc>
              </a:tr>
            </a:tbl>
          </a:graphicData>
        </a:graphic>
      </p:graphicFrame>
      <p:sp>
        <p:nvSpPr>
          <p:cNvPr id="7" name="TextBox 6"/>
          <p:cNvSpPr txBox="1"/>
          <p:nvPr/>
        </p:nvSpPr>
        <p:spPr>
          <a:xfrm>
            <a:off x="457200" y="3319272"/>
            <a:ext cx="5943600" cy="1847088"/>
          </a:xfrm>
          <a:prstGeom prst="rect">
            <a:avLst/>
          </a:prstGeom>
          <a:noFill/>
        </p:spPr>
        <p:txBody>
          <a:bodyPr wrap="square">
            <a:spAutoFit/>
          </a:bodyPr>
          <a:lstStyle/>
          <a:p>
            <a:pPr lvl="1">
              <a:spcAft>
                <a:spcPts val="200"/>
              </a:spcAft>
              <a:defRPr sz="1100">
                <a:solidFill>
                  <a:srgbClr val="212529"/>
                </a:solidFill>
                <a:latin typeface="Arial"/>
              </a:defRPr>
            </a:pPr>
            <a:r>
              <a:t>Battery exception: battery must reach ≥90% certainty before auto-rejecting. Below 90%, even a likely battery goes to Yellow for human check.</a:t>
            </a:r>
          </a:p>
          <a:p>
            <a:pPr>
              <a:spcBef>
                <a:spcPts val="600"/>
              </a:spcBef>
              <a:spcAft>
                <a:spcPts val="300"/>
              </a:spcAft>
              <a:defRPr sz="1500" b="1">
                <a:solidFill>
                  <a:srgbClr val="0F5132"/>
                </a:solidFill>
                <a:latin typeface="Arial"/>
              </a:defRPr>
            </a:pPr>
            <a:r>
              <a:t>What human confirmations do:</a:t>
            </a:r>
          </a:p>
          <a:p>
            <a:pPr>
              <a:spcAft>
                <a:spcPts val="400"/>
              </a:spcAft>
              <a:defRPr sz="1100" i="1">
                <a:solidFill>
                  <a:srgbClr val="212529"/>
                </a:solidFill>
                <a:latin typeface="Arial"/>
              </a:defRPr>
            </a:pPr>
            <a:r>
              <a:t>Every time an operator confirms or corrects an item in the Yellow zone, that correction is saved. When 100 corrections accumulate, the AI re-trains on those corrections — it learns from the exact cases it was uncertain about.</a:t>
            </a:r>
          </a:p>
          <a:p>
            <a:pPr lvl="1">
              <a:spcAft>
                <a:spcPts val="200"/>
              </a:spcAft>
              <a:defRPr sz="1100">
                <a:solidFill>
                  <a:srgbClr val="212529"/>
                </a:solidFill>
                <a:latin typeface="Arial"/>
              </a:defRPr>
            </a:pPr>
            <a:r>
              <a:t>This is why the system improves over time without team intervention.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